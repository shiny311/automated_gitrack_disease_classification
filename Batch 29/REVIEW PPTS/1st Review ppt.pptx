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7"/>
  </p:notesMasterIdLst>
  <p:sldIdLst>
    <p:sldId id="256" r:id="rId2"/>
    <p:sldId id="257" r:id="rId3"/>
    <p:sldId id="258" r:id="rId4"/>
    <p:sldId id="270" r:id="rId5"/>
    <p:sldId id="271" r:id="rId6"/>
    <p:sldId id="259" r:id="rId7"/>
    <p:sldId id="260" r:id="rId8"/>
    <p:sldId id="272" r:id="rId9"/>
    <p:sldId id="262" r:id="rId10"/>
    <p:sldId id="273" r:id="rId11"/>
    <p:sldId id="263" r:id="rId12"/>
    <p:sldId id="269" r:id="rId13"/>
    <p:sldId id="267" r:id="rId14"/>
    <p:sldId id="265"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E0ECCA-69D7-46B7-A777-3D8257C57DD7}">
          <p14:sldIdLst>
            <p14:sldId id="256"/>
            <p14:sldId id="257"/>
            <p14:sldId id="258"/>
            <p14:sldId id="270"/>
            <p14:sldId id="271"/>
          </p14:sldIdLst>
        </p14:section>
        <p14:section name="Untitled Section" id="{47F6F477-760B-47B6-9D02-3143B7E3D0CF}">
          <p14:sldIdLst>
            <p14:sldId id="259"/>
            <p14:sldId id="260"/>
            <p14:sldId id="272"/>
            <p14:sldId id="262"/>
            <p14:sldId id="273"/>
            <p14:sldId id="263"/>
            <p14:sldId id="269"/>
            <p14:sldId id="267"/>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3C9A75-7106-4915-83D7-66791E73F523}" v="23" dt="2026-08-23T15:06:53.5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p:scale>
          <a:sx n="100" d="100"/>
          <a:sy n="100" d="100"/>
        </p:scale>
        <p:origin x="978"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allika Uppalapati" userId="602891f40e2e9376" providerId="LiveId" clId="{921F5BD8-99C2-4E11-A272-B76DB65AABF9}"/>
    <pc:docChg chg="undo custSel addSld delSld modSld">
      <pc:chgData name="Pravallika Uppalapati" userId="602891f40e2e9376" providerId="LiveId" clId="{921F5BD8-99C2-4E11-A272-B76DB65AABF9}" dt="2026-08-23T15:07:39.187" v="1105" actId="2696"/>
      <pc:docMkLst>
        <pc:docMk/>
      </pc:docMkLst>
      <pc:sldChg chg="modSp mod">
        <pc:chgData name="Pravallika Uppalapati" userId="602891f40e2e9376" providerId="LiveId" clId="{921F5BD8-99C2-4E11-A272-B76DB65AABF9}" dt="2026-08-23T15:05:49.614" v="1101"/>
        <pc:sldMkLst>
          <pc:docMk/>
          <pc:sldMk cId="1490826145" sldId="256"/>
        </pc:sldMkLst>
        <pc:spChg chg="mod">
          <ac:chgData name="Pravallika Uppalapati" userId="602891f40e2e9376" providerId="LiveId" clId="{921F5BD8-99C2-4E11-A272-B76DB65AABF9}" dt="2026-08-21T15:57:02.383" v="429" actId="2711"/>
          <ac:spMkLst>
            <pc:docMk/>
            <pc:sldMk cId="1490826145" sldId="256"/>
            <ac:spMk id="2" creationId="{C6780759-5A70-07A1-A56E-0F2157218ADC}"/>
          </ac:spMkLst>
        </pc:spChg>
        <pc:spChg chg="mod">
          <ac:chgData name="Pravallika Uppalapati" userId="602891f40e2e9376" providerId="LiveId" clId="{921F5BD8-99C2-4E11-A272-B76DB65AABF9}" dt="2026-08-23T15:05:49.614" v="1101"/>
          <ac:spMkLst>
            <pc:docMk/>
            <pc:sldMk cId="1490826145" sldId="256"/>
            <ac:spMk id="3" creationId="{4FAE3544-2DA5-D16A-9460-96A471E537FA}"/>
          </ac:spMkLst>
        </pc:spChg>
      </pc:sldChg>
      <pc:sldChg chg="modSp mod">
        <pc:chgData name="Pravallika Uppalapati" userId="602891f40e2e9376" providerId="LiveId" clId="{921F5BD8-99C2-4E11-A272-B76DB65AABF9}" dt="2026-08-21T15:56:26.586" v="428" actId="255"/>
        <pc:sldMkLst>
          <pc:docMk/>
          <pc:sldMk cId="1274528692" sldId="257"/>
        </pc:sldMkLst>
        <pc:spChg chg="mod">
          <ac:chgData name="Pravallika Uppalapati" userId="602891f40e2e9376" providerId="LiveId" clId="{921F5BD8-99C2-4E11-A272-B76DB65AABF9}" dt="2026-08-21T15:56:26.586" v="428" actId="255"/>
          <ac:spMkLst>
            <pc:docMk/>
            <pc:sldMk cId="1274528692" sldId="257"/>
            <ac:spMk id="3" creationId="{9D6D330F-601C-7BD0-83AF-0F995D7D2E11}"/>
          </ac:spMkLst>
        </pc:spChg>
      </pc:sldChg>
      <pc:sldChg chg="modSp mod">
        <pc:chgData name="Pravallika Uppalapati" userId="602891f40e2e9376" providerId="LiveId" clId="{921F5BD8-99C2-4E11-A272-B76DB65AABF9}" dt="2026-08-21T15:57:19.494" v="430" actId="255"/>
        <pc:sldMkLst>
          <pc:docMk/>
          <pc:sldMk cId="4160403909" sldId="258"/>
        </pc:sldMkLst>
        <pc:spChg chg="mod">
          <ac:chgData name="Pravallika Uppalapati" userId="602891f40e2e9376" providerId="LiveId" clId="{921F5BD8-99C2-4E11-A272-B76DB65AABF9}" dt="2026-08-21T14:56:07.760" v="330" actId="2711"/>
          <ac:spMkLst>
            <pc:docMk/>
            <pc:sldMk cId="4160403909" sldId="258"/>
            <ac:spMk id="2" creationId="{9A5A5DC0-0A7B-4781-C653-DCCE0BD9D452}"/>
          </ac:spMkLst>
        </pc:spChg>
        <pc:spChg chg="mod">
          <ac:chgData name="Pravallika Uppalapati" userId="602891f40e2e9376" providerId="LiveId" clId="{921F5BD8-99C2-4E11-A272-B76DB65AABF9}" dt="2026-08-21T15:57:19.494" v="430" actId="255"/>
          <ac:spMkLst>
            <pc:docMk/>
            <pc:sldMk cId="4160403909" sldId="258"/>
            <ac:spMk id="3" creationId="{E5D30AA9-635B-635B-2C3B-35BD0301D773}"/>
          </ac:spMkLst>
        </pc:spChg>
      </pc:sldChg>
      <pc:sldChg chg="modSp mod">
        <pc:chgData name="Pravallika Uppalapati" userId="602891f40e2e9376" providerId="LiveId" clId="{921F5BD8-99C2-4E11-A272-B76DB65AABF9}" dt="2026-08-22T05:14:26.392" v="726" actId="113"/>
        <pc:sldMkLst>
          <pc:docMk/>
          <pc:sldMk cId="2571863548" sldId="259"/>
        </pc:sldMkLst>
        <pc:spChg chg="mod">
          <ac:chgData name="Pravallika Uppalapati" userId="602891f40e2e9376" providerId="LiveId" clId="{921F5BD8-99C2-4E11-A272-B76DB65AABF9}" dt="2026-08-21T14:56:43.210" v="332" actId="2711"/>
          <ac:spMkLst>
            <pc:docMk/>
            <pc:sldMk cId="2571863548" sldId="259"/>
            <ac:spMk id="2" creationId="{4E2704AF-1427-76C0-E88B-0E4785FCB928}"/>
          </ac:spMkLst>
        </pc:spChg>
        <pc:spChg chg="mod">
          <ac:chgData name="Pravallika Uppalapati" userId="602891f40e2e9376" providerId="LiveId" clId="{921F5BD8-99C2-4E11-A272-B76DB65AABF9}" dt="2026-08-22T05:14:26.392" v="726" actId="113"/>
          <ac:spMkLst>
            <pc:docMk/>
            <pc:sldMk cId="2571863548" sldId="259"/>
            <ac:spMk id="3" creationId="{BBEA7B0C-8CFD-A7CC-16EE-A170523450CA}"/>
          </ac:spMkLst>
        </pc:spChg>
      </pc:sldChg>
      <pc:sldChg chg="modSp mod">
        <pc:chgData name="Pravallika Uppalapati" userId="602891f40e2e9376" providerId="LiveId" clId="{921F5BD8-99C2-4E11-A272-B76DB65AABF9}" dt="2026-08-22T05:15:36.374" v="761" actId="20577"/>
        <pc:sldMkLst>
          <pc:docMk/>
          <pc:sldMk cId="1681032580" sldId="260"/>
        </pc:sldMkLst>
        <pc:spChg chg="mod">
          <ac:chgData name="Pravallika Uppalapati" userId="602891f40e2e9376" providerId="LiveId" clId="{921F5BD8-99C2-4E11-A272-B76DB65AABF9}" dt="2026-08-21T14:57:20.809" v="336" actId="255"/>
          <ac:spMkLst>
            <pc:docMk/>
            <pc:sldMk cId="1681032580" sldId="260"/>
            <ac:spMk id="2" creationId="{34BEB777-89E1-CDE7-78D2-09F338FEF339}"/>
          </ac:spMkLst>
        </pc:spChg>
        <pc:spChg chg="mod">
          <ac:chgData name="Pravallika Uppalapati" userId="602891f40e2e9376" providerId="LiveId" clId="{921F5BD8-99C2-4E11-A272-B76DB65AABF9}" dt="2026-08-22T05:15:36.374" v="761" actId="20577"/>
          <ac:spMkLst>
            <pc:docMk/>
            <pc:sldMk cId="1681032580" sldId="260"/>
            <ac:spMk id="3" creationId="{F5AA3154-B949-FBDF-5107-1E7615A24990}"/>
          </ac:spMkLst>
        </pc:spChg>
      </pc:sldChg>
      <pc:sldChg chg="modSp mod">
        <pc:chgData name="Pravallika Uppalapati" userId="602891f40e2e9376" providerId="LiveId" clId="{921F5BD8-99C2-4E11-A272-B76DB65AABF9}" dt="2026-08-22T05:16:53.854" v="764" actId="14100"/>
        <pc:sldMkLst>
          <pc:docMk/>
          <pc:sldMk cId="2728927238" sldId="261"/>
        </pc:sldMkLst>
        <pc:spChg chg="mod">
          <ac:chgData name="Pravallika Uppalapati" userId="602891f40e2e9376" providerId="LiveId" clId="{921F5BD8-99C2-4E11-A272-B76DB65AABF9}" dt="2026-08-22T05:16:22.101" v="763" actId="27636"/>
          <ac:spMkLst>
            <pc:docMk/>
            <pc:sldMk cId="2728927238" sldId="261"/>
            <ac:spMk id="3" creationId="{9ED5FA29-DD31-69D3-2267-2025E3935CAC}"/>
          </ac:spMkLst>
        </pc:spChg>
        <pc:picChg chg="mod">
          <ac:chgData name="Pravallika Uppalapati" userId="602891f40e2e9376" providerId="LiveId" clId="{921F5BD8-99C2-4E11-A272-B76DB65AABF9}" dt="2026-08-22T05:16:53.854" v="764" actId="14100"/>
          <ac:picMkLst>
            <pc:docMk/>
            <pc:sldMk cId="2728927238" sldId="261"/>
            <ac:picMk id="6" creationId="{2F2C654B-F6F2-E6F2-ABC7-E20EB930208A}"/>
          </ac:picMkLst>
        </pc:picChg>
      </pc:sldChg>
      <pc:sldChg chg="modSp mod">
        <pc:chgData name="Pravallika Uppalapati" userId="602891f40e2e9376" providerId="LiveId" clId="{921F5BD8-99C2-4E11-A272-B76DB65AABF9}" dt="2026-08-22T05:17:17.621" v="778" actId="20577"/>
        <pc:sldMkLst>
          <pc:docMk/>
          <pc:sldMk cId="3446621714" sldId="262"/>
        </pc:sldMkLst>
        <pc:spChg chg="mod">
          <ac:chgData name="Pravallika Uppalapati" userId="602891f40e2e9376" providerId="LiveId" clId="{921F5BD8-99C2-4E11-A272-B76DB65AABF9}" dt="2026-08-22T05:17:17.621" v="778" actId="20577"/>
          <ac:spMkLst>
            <pc:docMk/>
            <pc:sldMk cId="3446621714" sldId="262"/>
            <ac:spMk id="3" creationId="{5C3001F5-0FCD-4C1B-717B-F958E9D49971}"/>
          </ac:spMkLst>
        </pc:spChg>
      </pc:sldChg>
      <pc:sldChg chg="modSp mod">
        <pc:chgData name="Pravallika Uppalapati" userId="602891f40e2e9376" providerId="LiveId" clId="{921F5BD8-99C2-4E11-A272-B76DB65AABF9}" dt="2026-08-23T15:06:59.776" v="1104" actId="14100"/>
        <pc:sldMkLst>
          <pc:docMk/>
          <pc:sldMk cId="1227032114" sldId="263"/>
        </pc:sldMkLst>
        <pc:spChg chg="mod">
          <ac:chgData name="Pravallika Uppalapati" userId="602891f40e2e9376" providerId="LiveId" clId="{921F5BD8-99C2-4E11-A272-B76DB65AABF9}" dt="2026-08-21T15:19:47.275" v="344" actId="255"/>
          <ac:spMkLst>
            <pc:docMk/>
            <pc:sldMk cId="1227032114" sldId="263"/>
            <ac:spMk id="2" creationId="{C476398F-3032-8787-FF1B-CC617C3AE21F}"/>
          </ac:spMkLst>
        </pc:spChg>
        <pc:graphicFrameChg chg="mod modGraphic">
          <ac:chgData name="Pravallika Uppalapati" userId="602891f40e2e9376" providerId="LiveId" clId="{921F5BD8-99C2-4E11-A272-B76DB65AABF9}" dt="2026-08-23T15:06:59.776" v="1104" actId="14100"/>
          <ac:graphicFrameMkLst>
            <pc:docMk/>
            <pc:sldMk cId="1227032114" sldId="263"/>
            <ac:graphicFrameMk id="4" creationId="{14433307-8596-7608-589F-4F4CE8152043}"/>
          </ac:graphicFrameMkLst>
        </pc:graphicFrameChg>
      </pc:sldChg>
      <pc:sldChg chg="modSp del mod">
        <pc:chgData name="Pravallika Uppalapati" userId="602891f40e2e9376" providerId="LiveId" clId="{921F5BD8-99C2-4E11-A272-B76DB65AABF9}" dt="2026-08-23T15:07:39.187" v="1105" actId="2696"/>
        <pc:sldMkLst>
          <pc:docMk/>
          <pc:sldMk cId="1674177213" sldId="264"/>
        </pc:sldMkLst>
        <pc:spChg chg="mod">
          <ac:chgData name="Pravallika Uppalapati" userId="602891f40e2e9376" providerId="LiveId" clId="{921F5BD8-99C2-4E11-A272-B76DB65AABF9}" dt="2026-08-21T15:20:18.093" v="348" actId="255"/>
          <ac:spMkLst>
            <pc:docMk/>
            <pc:sldMk cId="1674177213" sldId="264"/>
            <ac:spMk id="2" creationId="{C6D4D5C5-09D6-84AF-6CD4-D0E70EE9CD8F}"/>
          </ac:spMkLst>
        </pc:spChg>
        <pc:graphicFrameChg chg="modGraphic">
          <ac:chgData name="Pravallika Uppalapati" userId="602891f40e2e9376" providerId="LiveId" clId="{921F5BD8-99C2-4E11-A272-B76DB65AABF9}" dt="2026-08-21T15:20:24.544" v="349" actId="255"/>
          <ac:graphicFrameMkLst>
            <pc:docMk/>
            <pc:sldMk cId="1674177213" sldId="264"/>
            <ac:graphicFrameMk id="3" creationId="{54C2B84E-92B1-50CF-B65D-5B96590F5609}"/>
          </ac:graphicFrameMkLst>
        </pc:graphicFrameChg>
      </pc:sldChg>
      <pc:sldChg chg="modSp mod">
        <pc:chgData name="Pravallika Uppalapati" userId="602891f40e2e9376" providerId="LiveId" clId="{921F5BD8-99C2-4E11-A272-B76DB65AABF9}" dt="2026-08-21T15:58:06.775" v="433" actId="255"/>
        <pc:sldMkLst>
          <pc:docMk/>
          <pc:sldMk cId="4195884702" sldId="265"/>
        </pc:sldMkLst>
        <pc:spChg chg="mod">
          <ac:chgData name="Pravallika Uppalapati" userId="602891f40e2e9376" providerId="LiveId" clId="{921F5BD8-99C2-4E11-A272-B76DB65AABF9}" dt="2026-08-21T15:58:06.775" v="433" actId="255"/>
          <ac:spMkLst>
            <pc:docMk/>
            <pc:sldMk cId="4195884702" sldId="265"/>
            <ac:spMk id="3" creationId="{9F22864F-B798-985B-21A2-98E4CBBF1515}"/>
          </ac:spMkLst>
        </pc:spChg>
      </pc:sldChg>
      <pc:sldChg chg="modSp mod">
        <pc:chgData name="Pravallika Uppalapati" userId="602891f40e2e9376" providerId="LiveId" clId="{921F5BD8-99C2-4E11-A272-B76DB65AABF9}" dt="2026-08-22T06:39:37.070" v="1083" actId="20577"/>
        <pc:sldMkLst>
          <pc:docMk/>
          <pc:sldMk cId="3478410414" sldId="267"/>
        </pc:sldMkLst>
        <pc:spChg chg="mod">
          <ac:chgData name="Pravallika Uppalapati" userId="602891f40e2e9376" providerId="LiveId" clId="{921F5BD8-99C2-4E11-A272-B76DB65AABF9}" dt="2026-08-21T15:20:41.165" v="351" actId="255"/>
          <ac:spMkLst>
            <pc:docMk/>
            <pc:sldMk cId="3478410414" sldId="267"/>
            <ac:spMk id="2" creationId="{544C9F40-FD45-541D-7C49-C30D20143E5E}"/>
          </ac:spMkLst>
        </pc:spChg>
        <pc:spChg chg="mod">
          <ac:chgData name="Pravallika Uppalapati" userId="602891f40e2e9376" providerId="LiveId" clId="{921F5BD8-99C2-4E11-A272-B76DB65AABF9}" dt="2026-08-22T06:39:37.070" v="1083" actId="20577"/>
          <ac:spMkLst>
            <pc:docMk/>
            <pc:sldMk cId="3478410414" sldId="267"/>
            <ac:spMk id="3" creationId="{37141C52-C2C5-1733-C4A3-EB4020F64E9F}"/>
          </ac:spMkLst>
        </pc:spChg>
      </pc:sldChg>
      <pc:sldChg chg="add">
        <pc:chgData name="Pravallika Uppalapati" userId="602891f40e2e9376" providerId="LiveId" clId="{921F5BD8-99C2-4E11-A272-B76DB65AABF9}" dt="2026-08-23T15:06:16.639" v="1102" actId="2890"/>
        <pc:sldMkLst>
          <pc:docMk/>
          <pc:sldMk cId="264715083"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5E790E9-9F1E-4521-B329-E55174182FB8}"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EB67DF-31FD-4C71-9F9B-CABEC4E8047D}" type="slidenum">
              <a:rPr lang="en-IN" smtClean="0"/>
              <a:t>‹#›</a:t>
            </a:fld>
            <a:endParaRPr lang="en-IN"/>
          </a:p>
        </p:txBody>
      </p:sp>
    </p:spTree>
    <p:extLst>
      <p:ext uri="{BB962C8B-B14F-4D97-AF65-F5344CB8AC3E}">
        <p14:creationId xmlns:p14="http://schemas.microsoft.com/office/powerpoint/2010/main" val="536928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7388" y="1143000"/>
            <a:ext cx="5484812"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1EB67DF-31FD-4C71-9F9B-CABEC4E8047D}" type="slidenum">
              <a:rPr lang="en-IN" smtClean="0"/>
              <a:t>6</a:t>
            </a:fld>
            <a:endParaRPr lang="en-IN"/>
          </a:p>
        </p:txBody>
      </p:sp>
    </p:spTree>
    <p:extLst>
      <p:ext uri="{BB962C8B-B14F-4D97-AF65-F5344CB8AC3E}">
        <p14:creationId xmlns:p14="http://schemas.microsoft.com/office/powerpoint/2010/main" val="155042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4" cy="2541431"/>
          </a:xfrm>
        </p:spPr>
        <p:txBody>
          <a:bodyPr bIns="0" anchor="b">
            <a:normAutofit/>
          </a:bodyPr>
          <a:lstStyle>
            <a:lvl1pPr algn="l">
              <a:defRPr sz="6601"/>
            </a:lvl1pPr>
          </a:lstStyle>
          <a:p>
            <a:r>
              <a:rPr lang="en-US"/>
              <a:t>Click to edit Master title style</a:t>
            </a:r>
            <a:endParaRPr lang="en-US" dirty="0"/>
          </a:p>
        </p:txBody>
      </p:sp>
      <p:sp>
        <p:nvSpPr>
          <p:cNvPr id="3" name="Subtitle 2"/>
          <p:cNvSpPr>
            <a:spLocks noGrp="1"/>
          </p:cNvSpPr>
          <p:nvPr>
            <p:ph type="subTitle" idx="1"/>
          </p:nvPr>
        </p:nvSpPr>
        <p:spPr>
          <a:xfrm>
            <a:off x="2417780" y="3531205"/>
            <a:ext cx="8637072" cy="977621"/>
          </a:xfrm>
        </p:spPr>
        <p:txBody>
          <a:bodyPr tIns="91440" bIns="91440">
            <a:normAutofit/>
          </a:bodyPr>
          <a:lstStyle>
            <a:lvl1pPr marL="0" indent="0" algn="l">
              <a:buNone/>
              <a:defRPr sz="1801" b="0" cap="all" baseline="0">
                <a:solidFill>
                  <a:schemeClr val="tx1"/>
                </a:solidFill>
              </a:defRPr>
            </a:lvl1pPr>
            <a:lvl2pPr marL="457206" indent="0" algn="ctr">
              <a:buNone/>
              <a:defRPr sz="1801"/>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405F0F-F369-4E89-ABF2-66A6C7DBB401}" type="datetimeFigureOut">
              <a:rPr lang="en-IN" smtClean="0"/>
              <a:t>29-09-2026</a:t>
            </a:fld>
            <a:endParaRPr lang="en-IN"/>
          </a:p>
        </p:txBody>
      </p:sp>
      <p:sp>
        <p:nvSpPr>
          <p:cNvPr id="5" name="Footer Placeholder 4"/>
          <p:cNvSpPr>
            <a:spLocks noGrp="1"/>
          </p:cNvSpPr>
          <p:nvPr>
            <p:ph type="ftr" sz="quarter" idx="11"/>
          </p:nvPr>
        </p:nvSpPr>
        <p:spPr>
          <a:xfrm>
            <a:off x="2416502" y="329308"/>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02D4316F-2A0F-4D91-8E31-E52A6799ECB9}"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45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405F0F-F369-4E89-ABF2-66A6C7DBB401}"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4316F-2A0F-4D91-8E31-E52A6799ECB9}" type="slidenum">
              <a:rPr lang="en-IN" smtClean="0"/>
              <a:t>‹#›</a:t>
            </a:fld>
            <a:endParaRPr lang="en-IN"/>
          </a:p>
        </p:txBody>
      </p:sp>
      <p:cxnSp>
        <p:nvCxnSpPr>
          <p:cNvPr id="33" name="Straight Connector 32"/>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8855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40"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8" y="3806196"/>
            <a:ext cx="8630446" cy="1012929"/>
          </a:xfrm>
        </p:spPr>
        <p:txBody>
          <a:bodyPr tIns="91440">
            <a:normAutofit/>
          </a:bodyPr>
          <a:lstStyle>
            <a:lvl1pPr marL="0" indent="0" algn="l">
              <a:buNone/>
              <a:defRPr sz="1801">
                <a:solidFill>
                  <a:schemeClr val="tx1"/>
                </a:solidFill>
              </a:defRPr>
            </a:lvl1pPr>
            <a:lvl2pPr marL="457206" indent="0">
              <a:buNone/>
              <a:defRPr sz="1801">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405F0F-F369-4E89-ABF2-66A6C7DBB401}"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4316F-2A0F-4D91-8E31-E52A6799ECB9}" type="slidenum">
              <a:rPr lang="en-IN" smtClean="0"/>
              <a:t>‹#›</a:t>
            </a:fld>
            <a:endParaRPr lang="en-IN"/>
          </a:p>
        </p:txBody>
      </p:sp>
      <p:cxnSp>
        <p:nvCxnSpPr>
          <p:cNvPr id="15" name="Straight Connector 14"/>
          <p:cNvCxnSpPr/>
          <p:nvPr/>
        </p:nvCxnSpPr>
        <p:spPr>
          <a:xfrm>
            <a:off x="1454238"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3314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8" y="804890"/>
            <a:ext cx="9605636"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2" y="2010879"/>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405F0F-F369-4E89-ABF2-66A6C7DBB401}"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4316F-2A0F-4D91-8E31-E52A6799ECB9}" type="slidenum">
              <a:rPr lang="en-IN" smtClean="0"/>
              <a:t>‹#›</a:t>
            </a:fld>
            <a:endParaRPr lang="en-IN"/>
          </a:p>
        </p:txBody>
      </p:sp>
      <p:cxnSp>
        <p:nvCxnSpPr>
          <p:cNvPr id="35" name="Straight Connector 34"/>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462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2" y="804163"/>
            <a:ext cx="9607660"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1" b="0" cap="all" baseline="0">
                <a:solidFill>
                  <a:schemeClr val="accent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70"/>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3" y="2023004"/>
            <a:ext cx="4645152" cy="802237"/>
          </a:xfrm>
        </p:spPr>
        <p:txBody>
          <a:bodyPr anchor="b">
            <a:normAutofit/>
          </a:bodyPr>
          <a:lstStyle>
            <a:lvl1pPr marL="0" indent="0">
              <a:lnSpc>
                <a:spcPct val="100000"/>
              </a:lnSpc>
              <a:buNone/>
              <a:defRPr sz="2201" b="0" cap="all" baseline="0">
                <a:solidFill>
                  <a:schemeClr val="accent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3" y="2821492"/>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405F0F-F369-4E89-ABF2-66A6C7DBB401}"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D4316F-2A0F-4D91-8E31-E52A6799ECB9}" type="slidenum">
              <a:rPr lang="en-IN" smtClean="0"/>
              <a:t>‹#›</a:t>
            </a:fld>
            <a:endParaRPr lang="en-IN"/>
          </a:p>
        </p:txBody>
      </p:sp>
      <p:cxnSp>
        <p:nvCxnSpPr>
          <p:cNvPr id="29" name="Straight Connector 28"/>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558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405F0F-F369-4E89-ABF2-66A6C7DBB401}"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D4316F-2A0F-4D91-8E31-E52A6799ECB9}" type="slidenum">
              <a:rPr lang="en-IN" smtClean="0"/>
              <a:t>‹#›</a:t>
            </a:fld>
            <a:endParaRPr lang="en-IN"/>
          </a:p>
        </p:txBody>
      </p:sp>
      <p:cxnSp>
        <p:nvCxnSpPr>
          <p:cNvPr id="25" name="Straight Connector 24"/>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046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405F0F-F369-4E89-ABF2-66A6C7DBB401}"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D4316F-2A0F-4D91-8E31-E52A6799ECB9}" type="slidenum">
              <a:rPr lang="en-IN" smtClean="0"/>
              <a:t>‹#›</a:t>
            </a:fld>
            <a:endParaRPr lang="en-IN"/>
          </a:p>
        </p:txBody>
      </p:sp>
    </p:spTree>
    <p:extLst>
      <p:ext uri="{BB962C8B-B14F-4D97-AF65-F5344CB8AC3E}">
        <p14:creationId xmlns:p14="http://schemas.microsoft.com/office/powerpoint/2010/main" val="407000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2" y="798974"/>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69"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3" y="3205492"/>
            <a:ext cx="3275013" cy="2248181"/>
          </a:xfrm>
        </p:spPr>
        <p:txBody>
          <a:bodyPr/>
          <a:lstStyle>
            <a:lvl1pPr marL="0" indent="0" algn="l">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8F405F0F-F369-4E89-ABF2-66A6C7DBB401}"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4316F-2A0F-4D91-8E31-E52A6799ECB9}" type="slidenum">
              <a:rPr lang="en-IN" smtClean="0"/>
              <a:t>‹#›</a:t>
            </a:fld>
            <a:endParaRPr lang="en-IN"/>
          </a:p>
        </p:txBody>
      </p:sp>
      <p:cxnSp>
        <p:nvCxnSpPr>
          <p:cNvPr id="17" name="Straight Connector 16"/>
          <p:cNvCxnSpPr/>
          <p:nvPr/>
        </p:nvCxnSpPr>
        <p:spPr>
          <a:xfrm>
            <a:off x="1448281"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52507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8" y="482171"/>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9"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2" cy="3866327"/>
          </a:xfrm>
          <a:solidFill>
            <a:schemeClr val="bg1">
              <a:lumMod val="85000"/>
            </a:schemeClr>
          </a:solidFill>
          <a:ln w="9525" cap="sq">
            <a:noFill/>
            <a:miter lim="800000"/>
          </a:ln>
          <a:effectLst/>
        </p:spPr>
        <p:txBody>
          <a:bodyPr anchor="t"/>
          <a:lstStyle>
            <a:lvl1pPr marL="0" indent="0" algn="ctr">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30" y="3145992"/>
            <a:ext cx="5524404" cy="2003742"/>
          </a:xfrm>
        </p:spPr>
        <p:txBody>
          <a:bodyPr>
            <a:normAutofit/>
          </a:bodyPr>
          <a:lstStyle>
            <a:lvl1pPr marL="0" indent="0" algn="l">
              <a:buNone/>
              <a:defRPr sz="1801"/>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a:xfrm>
            <a:off x="1447384" y="5469856"/>
            <a:ext cx="5527351" cy="320123"/>
          </a:xfrm>
        </p:spPr>
        <p:txBody>
          <a:bodyPr/>
          <a:lstStyle>
            <a:lvl1pPr algn="l">
              <a:defRPr/>
            </a:lvl1pPr>
          </a:lstStyle>
          <a:p>
            <a:fld id="{8F405F0F-F369-4E89-ABF2-66A6C7DBB401}" type="datetimeFigureOut">
              <a:rPr lang="en-IN" smtClean="0"/>
              <a:t>29-09-2026</a:t>
            </a:fld>
            <a:endParaRPr lang="en-IN"/>
          </a:p>
        </p:txBody>
      </p:sp>
      <p:sp>
        <p:nvSpPr>
          <p:cNvPr id="6" name="Footer Placeholder 5"/>
          <p:cNvSpPr>
            <a:spLocks noGrp="1"/>
          </p:cNvSpPr>
          <p:nvPr>
            <p:ph type="ftr" sz="quarter" idx="11"/>
          </p:nvPr>
        </p:nvSpPr>
        <p:spPr>
          <a:xfrm>
            <a:off x="1447382" y="318641"/>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02D4316F-2A0F-4D91-8E31-E52A6799ECB9}" type="slidenum">
              <a:rPr lang="en-IN" smtClean="0"/>
              <a:t>‹#›</a:t>
            </a:fld>
            <a:endParaRPr lang="en-IN"/>
          </a:p>
        </p:txBody>
      </p:sp>
      <p:cxnSp>
        <p:nvCxnSpPr>
          <p:cNvPr id="31" name="Straight Connector 30"/>
          <p:cNvCxnSpPr/>
          <p:nvPr/>
        </p:nvCxnSpPr>
        <p:spPr>
          <a:xfrm>
            <a:off x="1447384"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6906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405F0F-F369-4E89-ABF2-66A6C7DBB401}"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4316F-2A0F-4D91-8E31-E52A6799ECB9}" type="slidenum">
              <a:rPr lang="en-IN" smtClean="0"/>
              <a:t>‹#›</a:t>
            </a:fld>
            <a:endParaRPr lang="en-IN"/>
          </a:p>
        </p:txBody>
      </p:sp>
      <p:cxnSp>
        <p:nvCxnSpPr>
          <p:cNvPr id="26" name="Straight Connector 25"/>
          <p:cNvCxnSpPr/>
          <p:nvPr/>
        </p:nvCxnSpPr>
        <p:spPr>
          <a:xfrm>
            <a:off x="1453898"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7819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2" y="798974"/>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3" y="798974"/>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405F0F-F369-4E89-ABF2-66A6C7DBB401}"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4316F-2A0F-4D91-8E31-E52A6799ECB9}" type="slidenum">
              <a:rPr lang="en-IN" smtClean="0"/>
              <a:t>‹#›</a:t>
            </a:fld>
            <a:endParaRPr lang="en-IN"/>
          </a:p>
        </p:txBody>
      </p:sp>
      <p:cxnSp>
        <p:nvCxnSpPr>
          <p:cNvPr id="15" name="Straight Connector 14"/>
          <p:cNvCxnSpPr/>
          <p:nvPr/>
        </p:nvCxnSpPr>
        <p:spPr>
          <a:xfrm>
            <a:off x="9439111"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9618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7"/>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80" y="804520"/>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80" y="2015733"/>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30371"/>
            <a:ext cx="3500715" cy="309201"/>
          </a:xfrm>
          <a:prstGeom prst="rect">
            <a:avLst/>
          </a:prstGeom>
        </p:spPr>
        <p:txBody>
          <a:bodyPr vert="horz" lIns="91440" tIns="45720" rIns="91440" bIns="45720" rtlCol="0" anchor="ctr"/>
          <a:lstStyle>
            <a:lvl1pPr algn="r">
              <a:defRPr sz="1001">
                <a:solidFill>
                  <a:schemeClr val="tx1">
                    <a:tint val="75000"/>
                  </a:schemeClr>
                </a:solidFill>
              </a:defRPr>
            </a:lvl1pPr>
          </a:lstStyle>
          <a:p>
            <a:fld id="{8F405F0F-F369-4E89-ABF2-66A6C7DBB401}" type="datetimeFigureOut">
              <a:rPr lang="en-IN" smtClean="0"/>
              <a:t>29-09-2026</a:t>
            </a:fld>
            <a:endParaRPr lang="en-IN"/>
          </a:p>
        </p:txBody>
      </p:sp>
      <p:sp>
        <p:nvSpPr>
          <p:cNvPr id="5" name="Footer Placeholder 4"/>
          <p:cNvSpPr>
            <a:spLocks noGrp="1"/>
          </p:cNvSpPr>
          <p:nvPr>
            <p:ph type="ftr" sz="quarter" idx="3"/>
          </p:nvPr>
        </p:nvSpPr>
        <p:spPr>
          <a:xfrm>
            <a:off x="1451579" y="329308"/>
            <a:ext cx="5938836" cy="309201"/>
          </a:xfrm>
          <a:prstGeom prst="rect">
            <a:avLst/>
          </a:prstGeom>
        </p:spPr>
        <p:txBody>
          <a:bodyPr vert="horz" lIns="91440" tIns="45720" rIns="91440" bIns="45720" rtlCol="0" anchor="ctr"/>
          <a:lstStyle>
            <a:lvl1pPr algn="l">
              <a:defRPr sz="1001">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2D4316F-2A0F-4D91-8E31-E52A6799ECB9}"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2344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11"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4" indent="-228604" algn="l" defTabSz="914411" rtl="0" eaLnBrk="1" latinLnBrk="0" hangingPunct="1">
        <a:lnSpc>
          <a:spcPct val="120000"/>
        </a:lnSpc>
        <a:spcBef>
          <a:spcPts val="1001"/>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9"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801" kern="1200" cap="none" baseline="0">
          <a:solidFill>
            <a:schemeClr val="tx1"/>
          </a:solidFill>
          <a:effectLst/>
          <a:latin typeface="+mn-lt"/>
          <a:ea typeface="+mn-ea"/>
          <a:cs typeface="+mn-cs"/>
        </a:defRPr>
      </a:lvl2pPr>
      <a:lvl3pPr marL="1143015"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21"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401" kern="1200" cap="none" baseline="0">
          <a:solidFill>
            <a:schemeClr val="tx1"/>
          </a:solidFill>
          <a:effectLst/>
          <a:latin typeface="+mn-lt"/>
          <a:ea typeface="+mn-ea"/>
          <a:cs typeface="+mn-cs"/>
        </a:defRPr>
      </a:lvl4pPr>
      <a:lvl5pPr marL="2057427"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32"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38"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44"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49" indent="-228604" algn="l" defTabSz="914411"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0759-5A70-07A1-A56E-0F2157218ADC}"/>
              </a:ext>
            </a:extLst>
          </p:cNvPr>
          <p:cNvSpPr>
            <a:spLocks noGrp="1"/>
          </p:cNvSpPr>
          <p:nvPr>
            <p:ph type="ctrTitle"/>
          </p:nvPr>
        </p:nvSpPr>
        <p:spPr>
          <a:xfrm>
            <a:off x="1956124" y="2"/>
            <a:ext cx="9444940" cy="2939970"/>
          </a:xfrm>
        </p:spPr>
        <p:txBody>
          <a:bodyPr>
            <a:noAutofit/>
          </a:bodyPr>
          <a:lstStyle/>
          <a:p>
            <a:r>
              <a:rPr lang="en-IN" sz="3600" b="1" cap="none" dirty="0">
                <a:latin typeface="Times New Roman" panose="02020603050405020304" pitchFamily="18" charset="0"/>
                <a:ea typeface="SimSun-ExtB" panose="02010609060101010101" pitchFamily="49" charset="-122"/>
                <a:cs typeface="Times New Roman" panose="02020603050405020304" pitchFamily="18" charset="0"/>
              </a:rPr>
              <a:t>Title: </a:t>
            </a:r>
            <a:r>
              <a:rPr lang="en-IN" sz="3600" cap="none" dirty="0">
                <a:latin typeface="Times New Roman" panose="02020603050405020304" pitchFamily="18" charset="0"/>
                <a:ea typeface="SimSun-ExtB" panose="02010609060101010101" pitchFamily="49" charset="-122"/>
                <a:cs typeface="Times New Roman" panose="02020603050405020304" pitchFamily="18" charset="0"/>
              </a:rPr>
              <a:t>Automated Classification Of   Gastrointestinal Tract Diseases Using Hybrid Model</a:t>
            </a:r>
            <a:endParaRPr lang="en-IN" sz="3600" b="1" cap="none" dirty="0">
              <a:latin typeface="Times New Roman" panose="02020603050405020304" pitchFamily="18" charset="0"/>
              <a:ea typeface="SimSun-ExtB" panose="02010609060101010101" pitchFamily="49" charset="-122"/>
              <a:cs typeface="Times New Roman" panose="02020603050405020304" pitchFamily="18" charset="0"/>
            </a:endParaRPr>
          </a:p>
        </p:txBody>
      </p:sp>
      <p:sp>
        <p:nvSpPr>
          <p:cNvPr id="3" name="Subtitle 2">
            <a:extLst>
              <a:ext uri="{FF2B5EF4-FFF2-40B4-BE49-F238E27FC236}">
                <a16:creationId xmlns:a16="http://schemas.microsoft.com/office/drawing/2014/main" id="{4FAE3544-2DA5-D16A-9460-96A471E537FA}"/>
              </a:ext>
            </a:extLst>
          </p:cNvPr>
          <p:cNvSpPr>
            <a:spLocks noGrp="1"/>
          </p:cNvSpPr>
          <p:nvPr>
            <p:ph type="subTitle" idx="1"/>
          </p:nvPr>
        </p:nvSpPr>
        <p:spPr>
          <a:xfrm>
            <a:off x="1477925" y="4305783"/>
            <a:ext cx="10377376" cy="2193403"/>
          </a:xfrm>
        </p:spPr>
        <p:txBody>
          <a:bodyPr>
            <a:noAutofit/>
          </a:bodyPr>
          <a:lstStyle/>
          <a:p>
            <a:pPr algn="l"/>
            <a:r>
              <a:rPr lang="en-IN" sz="1800" dirty="0">
                <a:latin typeface="Times New Roman" panose="02020603050405020304" pitchFamily="18" charset="0"/>
                <a:cs typeface="Times New Roman" panose="02020603050405020304" pitchFamily="18" charset="0"/>
              </a:rPr>
              <a:t>Under the Guidance of                                                      Presented by – Batch 29</a:t>
            </a:r>
          </a:p>
          <a:p>
            <a:pPr algn="l"/>
            <a:r>
              <a:rPr lang="en-IN" sz="1800" cap="none" dirty="0">
                <a:latin typeface="Times New Roman" panose="02020603050405020304" pitchFamily="18" charset="0"/>
                <a:cs typeface="Times New Roman" panose="02020603050405020304" pitchFamily="18" charset="0"/>
              </a:rPr>
              <a:t>Mrs. D. Vijaya </a:t>
            </a:r>
            <a:r>
              <a:rPr lang="en-IN" sz="1800" cap="none" dirty="0" err="1">
                <a:latin typeface="Times New Roman" panose="02020603050405020304" pitchFamily="18" charset="0"/>
                <a:cs typeface="Times New Roman" panose="02020603050405020304" pitchFamily="18" charset="0"/>
              </a:rPr>
              <a:t>sri</a:t>
            </a:r>
            <a:r>
              <a:rPr lang="en-IN" sz="1800" cap="none"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23761A1267 – A. </a:t>
            </a:r>
            <a:r>
              <a:rPr lang="en-IN" sz="1800" cap="none" dirty="0">
                <a:latin typeface="Times New Roman" panose="02020603050405020304" pitchFamily="18" charset="0"/>
                <a:cs typeface="Times New Roman" panose="02020603050405020304" pitchFamily="18" charset="0"/>
              </a:rPr>
              <a:t>Anuradha</a:t>
            </a:r>
            <a:endParaRPr lang="en-IN" sz="1800" dirty="0">
              <a:latin typeface="Times New Roman" panose="02020603050405020304" pitchFamily="18" charset="0"/>
              <a:cs typeface="Times New Roman" panose="02020603050405020304" pitchFamily="18" charset="0"/>
            </a:endParaRPr>
          </a:p>
          <a:p>
            <a:pPr algn="l"/>
            <a:r>
              <a:rPr lang="en-IN" sz="1800" cap="none" dirty="0">
                <a:latin typeface="Times New Roman" panose="02020603050405020304" pitchFamily="18" charset="0"/>
                <a:cs typeface="Times New Roman" panose="02020603050405020304" pitchFamily="18" charset="0"/>
              </a:rPr>
              <a:t>Sr. Asst. Professor                                                                            </a:t>
            </a:r>
            <a:r>
              <a:rPr lang="en-IN" sz="1800" dirty="0">
                <a:latin typeface="Times New Roman" panose="02020603050405020304" pitchFamily="18" charset="0"/>
                <a:cs typeface="Times New Roman" panose="02020603050405020304" pitchFamily="18" charset="0"/>
              </a:rPr>
              <a:t>23761A12C8 – U. </a:t>
            </a:r>
            <a:r>
              <a:rPr lang="en-IN" sz="1800" cap="none" dirty="0">
                <a:latin typeface="Times New Roman" panose="02020603050405020304" pitchFamily="18" charset="0"/>
                <a:cs typeface="Times New Roman" panose="02020603050405020304" pitchFamily="18" charset="0"/>
              </a:rPr>
              <a:t>Pravallika</a:t>
            </a:r>
          </a:p>
          <a:p>
            <a:pPr algn="l"/>
            <a:r>
              <a:rPr lang="en-IN" sz="1800" dirty="0">
                <a:latin typeface="Times New Roman" panose="02020603050405020304" pitchFamily="18" charset="0"/>
                <a:cs typeface="Times New Roman" panose="02020603050405020304" pitchFamily="18" charset="0"/>
              </a:rPr>
              <a:t>                                                                                                         23761A1290 – J. </a:t>
            </a:r>
            <a:r>
              <a:rPr lang="en-IN" sz="1800" cap="none" dirty="0">
                <a:latin typeface="Times New Roman" panose="02020603050405020304" pitchFamily="18" charset="0"/>
                <a:cs typeface="Times New Roman" panose="02020603050405020304" pitchFamily="18" charset="0"/>
              </a:rPr>
              <a:t>Gopi chandu</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826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0F19D-5CB1-F9D6-0A46-3F0192F4C156}"/>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    domain:</a:t>
            </a:r>
          </a:p>
        </p:txBody>
      </p:sp>
      <p:sp>
        <p:nvSpPr>
          <p:cNvPr id="3" name="Content Placeholder 2">
            <a:extLst>
              <a:ext uri="{FF2B5EF4-FFF2-40B4-BE49-F238E27FC236}">
                <a16:creationId xmlns:a16="http://schemas.microsoft.com/office/drawing/2014/main" id="{9D6D330F-601C-7BD0-83AF-0F995D7D2E11}"/>
              </a:ext>
            </a:extLst>
          </p:cNvPr>
          <p:cNvSpPr>
            <a:spLocks noGrp="1"/>
          </p:cNvSpPr>
          <p:nvPr>
            <p:ph idx="1"/>
          </p:nvPr>
        </p:nvSpPr>
        <p:spPr/>
        <p:txBody>
          <a:bodyPr>
            <a:normAutofit/>
          </a:bodyPr>
          <a:lstStyle/>
          <a:p>
            <a:pPr>
              <a:lnSpc>
                <a:spcPct val="150000"/>
              </a:lnSpc>
            </a:pPr>
            <a:r>
              <a:rPr lang="en-IN" b="1" dirty="0">
                <a:latin typeface="Times New Roman" panose="02020603050405020304" pitchFamily="18" charset="0"/>
                <a:cs typeface="Times New Roman" panose="02020603050405020304" pitchFamily="18" charset="0"/>
              </a:rPr>
              <a:t>Artificial Intelligence (AI) – Deep Learning: </a:t>
            </a:r>
            <a:r>
              <a:rPr lang="en-IN" dirty="0">
                <a:latin typeface="Times New Roman" panose="02020603050405020304" pitchFamily="18" charset="0"/>
                <a:cs typeface="Times New Roman" panose="02020603050405020304" pitchFamily="18" charset="0"/>
              </a:rPr>
              <a:t> Enables computers to perform tasks that normally require human intelligence. Deep Learning, a branch of AI, uses neural networks to automatically learn features from medical images and improve disease classification.</a:t>
            </a:r>
          </a:p>
        </p:txBody>
      </p:sp>
    </p:spTree>
    <p:extLst>
      <p:ext uri="{BB962C8B-B14F-4D97-AF65-F5344CB8AC3E}">
        <p14:creationId xmlns:p14="http://schemas.microsoft.com/office/powerpoint/2010/main" val="1274528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A5DC0-0A7B-4781-C653-DCCE0BD9D452}"/>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  ABSTRACT:</a:t>
            </a:r>
          </a:p>
        </p:txBody>
      </p:sp>
      <p:sp>
        <p:nvSpPr>
          <p:cNvPr id="3" name="Content Placeholder 2">
            <a:extLst>
              <a:ext uri="{FF2B5EF4-FFF2-40B4-BE49-F238E27FC236}">
                <a16:creationId xmlns:a16="http://schemas.microsoft.com/office/drawing/2014/main" id="{E5D30AA9-635B-635B-2C3B-35BD0301D773}"/>
              </a:ext>
            </a:extLst>
          </p:cNvPr>
          <p:cNvSpPr>
            <a:spLocks noGrp="1"/>
          </p:cNvSpPr>
          <p:nvPr>
            <p:ph idx="1"/>
          </p:nvPr>
        </p:nvSpPr>
        <p:spPr/>
        <p:txBody>
          <a:bodyPr>
            <a:normAutofit fontScale="92500" lnSpcReduction="20000"/>
          </a:bodyPr>
          <a:lstStyle/>
          <a:p>
            <a:pPr algn="just">
              <a:lnSpc>
                <a:spcPct val="160000"/>
              </a:lnSpc>
            </a:pPr>
            <a:r>
              <a:rPr lang="en-US" dirty="0">
                <a:latin typeface="Times New Roman" panose="02020603050405020304" pitchFamily="18" charset="0"/>
                <a:cs typeface="Times New Roman" panose="02020603050405020304" pitchFamily="18" charset="0"/>
              </a:rPr>
              <a:t>Gastrointestinal diseases can cause serious health problems if they are not identified at the right time. In recent years, many deep learning methods have been developed to classify these diseases from endoscopic images, but most of them use a single type of model for feature extraction. As a result, some important image information may not be captured effectively. This project extends the existing work by combining a CNN-based model with a transformer-based model to make better use of the information present in endoscopic images. The proposed approach is expected to learn both detailed and overall image features, which can help improve disease classification.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0403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E76CEC5-5FD0-746A-B75D-2095F2AA4ED2}"/>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System design </a:t>
            </a:r>
            <a:endParaRPr lang="en-IN"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94EF1A9E-A7C2-8132-CAB6-A6344799F6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815" y="1917763"/>
            <a:ext cx="12001553" cy="4037355"/>
          </a:xfrm>
          <a:prstGeom prst="rect">
            <a:avLst/>
          </a:prstGeom>
        </p:spPr>
      </p:pic>
    </p:spTree>
    <p:extLst>
      <p:ext uri="{BB962C8B-B14F-4D97-AF65-F5344CB8AC3E}">
        <p14:creationId xmlns:p14="http://schemas.microsoft.com/office/powerpoint/2010/main" val="4216107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38F1F8-2EB7-D972-4096-7D6F3EC27C7A}"/>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Implementation</a:t>
            </a:r>
            <a:endParaRPr lang="en-IN"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9FAAC68-FE02-33F3-E098-27007BE75373}"/>
                  </a:ext>
                </a:extLst>
              </p:cNvPr>
              <p:cNvSpPr>
                <a:spLocks noGrp="1"/>
              </p:cNvSpPr>
              <p:nvPr>
                <p:ph idx="1"/>
              </p:nvPr>
            </p:nvSpPr>
            <p:spPr>
              <a:xfrm>
                <a:off x="1451580" y="1930008"/>
                <a:ext cx="9603275" cy="3450613"/>
              </a:xfrm>
            </p:spPr>
            <p:txBody>
              <a:bodyPr>
                <a:noAutofit/>
              </a:bodyPr>
              <a:lstStyle/>
              <a:p>
                <a:pPr lvl="0"/>
                <a:r>
                  <a:rPr lang="en-IN" b="1" dirty="0">
                    <a:latin typeface="Times New Roman" panose="02020603050405020304" pitchFamily="18" charset="0"/>
                    <a:cs typeface="Times New Roman" panose="02020603050405020304" pitchFamily="18" charset="0"/>
                  </a:rPr>
                  <a:t>Image Ingestion &amp; Pre-Flight Quality Checks</a:t>
                </a:r>
                <a:r>
                  <a:rPr lang="en-IN" dirty="0">
                    <a:latin typeface="Times New Roman" panose="02020603050405020304" pitchFamily="18" charset="0"/>
                    <a:cs typeface="Times New Roman" panose="02020603050405020304" pitchFamily="18" charset="0"/>
                  </a:rPr>
                  <a:t>: Automatically screens raw scans for motion blur, glare, and poor lighting using a Laplacian variance threshold (</a:t>
                </a:r>
                <a14:m>
                  <m:oMath xmlns:m="http://schemas.openxmlformats.org/officeDocument/2006/math">
                    <m:r>
                      <a:rPr lang="en-IN">
                        <a:latin typeface="Cambria Math" panose="02040503050406030204" pitchFamily="18" charset="0"/>
                      </a:rPr>
                      <m:t>≥100.0</m:t>
                    </m:r>
                  </m:oMath>
                </a14:m>
                <a:r>
                  <a:rPr lang="en-IN" dirty="0">
                    <a:latin typeface="Times New Roman" panose="02020603050405020304" pitchFamily="18" charset="0"/>
                    <a:cs typeface="Times New Roman" panose="02020603050405020304" pitchFamily="18" charset="0"/>
                  </a:rPr>
                  <a:t>). </a:t>
                </a:r>
              </a:p>
              <a:p>
                <a:pPr lvl="0"/>
                <a:r>
                  <a:rPr lang="en-IN" b="1" dirty="0">
                    <a:latin typeface="Times New Roman" panose="02020603050405020304" pitchFamily="18" charset="0"/>
                    <a:cs typeface="Times New Roman" panose="02020603050405020304" pitchFamily="18" charset="0"/>
                  </a:rPr>
                  <a:t>Noise &amp; Artifact Suppression</a:t>
                </a:r>
                <a:r>
                  <a:rPr lang="en-IN" dirty="0">
                    <a:latin typeface="Times New Roman" panose="02020603050405020304" pitchFamily="18" charset="0"/>
                    <a:cs typeface="Times New Roman" panose="02020603050405020304" pitchFamily="18" charset="0"/>
                  </a:rPr>
                  <a:t>: Cleans up distracting high-frequency noise and mucosal artifacts using a </a:t>
                </a:r>
                <a14:m>
                  <m:oMath xmlns:m="http://schemas.openxmlformats.org/officeDocument/2006/math">
                    <m:r>
                      <a:rPr lang="en-IN">
                        <a:latin typeface="Cambria Math" panose="02040503050406030204" pitchFamily="18" charset="0"/>
                      </a:rPr>
                      <m:t>3×3</m:t>
                    </m:r>
                  </m:oMath>
                </a14:m>
                <a:r>
                  <a:rPr lang="en-IN" dirty="0">
                    <a:latin typeface="Times New Roman" panose="02020603050405020304" pitchFamily="18" charset="0"/>
                    <a:cs typeface="Times New Roman" panose="02020603050405020304" pitchFamily="18" charset="0"/>
                  </a:rPr>
                  <a:t>median filter. </a:t>
                </a:r>
              </a:p>
              <a:p>
                <a:pPr lvl="0"/>
                <a:r>
                  <a:rPr lang="en-IN" b="1" dirty="0">
                    <a:latin typeface="Times New Roman" panose="02020603050405020304" pitchFamily="18" charset="0"/>
                    <a:cs typeface="Times New Roman" panose="02020603050405020304" pitchFamily="18" charset="0"/>
                  </a:rPr>
                  <a:t>Resizing &amp; Standardization</a:t>
                </a:r>
                <a:r>
                  <a:rPr lang="en-IN" dirty="0">
                    <a:latin typeface="Times New Roman" panose="02020603050405020304" pitchFamily="18" charset="0"/>
                    <a:cs typeface="Times New Roman" panose="02020603050405020304" pitchFamily="18" charset="0"/>
                  </a:rPr>
                  <a:t>: Uniformly resizes all filtered frames to </a:t>
                </a:r>
                <a14:m>
                  <m:oMath xmlns:m="http://schemas.openxmlformats.org/officeDocument/2006/math">
                    <m:r>
                      <a:rPr lang="en-IN">
                        <a:latin typeface="Cambria Math" panose="02040503050406030204" pitchFamily="18" charset="0"/>
                      </a:rPr>
                      <m:t>224×224×3</m:t>
                    </m:r>
                  </m:oMath>
                </a14:m>
                <a:r>
                  <a:rPr lang="en-IN" dirty="0">
                    <a:latin typeface="Times New Roman" panose="02020603050405020304" pitchFamily="18" charset="0"/>
                    <a:cs typeface="Times New Roman" panose="02020603050405020304" pitchFamily="18" charset="0"/>
                  </a:rPr>
                  <a:t>pixels using bilinear interpolation. </a:t>
                </a:r>
              </a:p>
              <a:p>
                <a:pPr lvl="0"/>
                <a:r>
                  <a:rPr lang="en-IN" b="1" dirty="0">
                    <a:latin typeface="Times New Roman" panose="02020603050405020304" pitchFamily="18" charset="0"/>
                    <a:cs typeface="Times New Roman" panose="02020603050405020304" pitchFamily="18" charset="0"/>
                  </a:rPr>
                  <a:t>Normalization</a:t>
                </a:r>
                <a:r>
                  <a:rPr lang="en-IN" dirty="0">
                    <a:latin typeface="Times New Roman" panose="02020603050405020304" pitchFamily="18" charset="0"/>
                    <a:cs typeface="Times New Roman" panose="02020603050405020304" pitchFamily="18" charset="0"/>
                  </a:rPr>
                  <a:t>: Applies channel-wise Z-score normalization using standard ImageNet parameters (</a:t>
                </a:r>
                <a14:m>
                  <m:oMath xmlns:m="http://schemas.openxmlformats.org/officeDocument/2006/math">
                    <m:r>
                      <a:rPr lang="en-IN" i="1">
                        <a:latin typeface="Cambria Math" panose="02040503050406030204" pitchFamily="18" charset="0"/>
                      </a:rPr>
                      <m:t>𝜇</m:t>
                    </m:r>
                    <m:r>
                      <a:rPr lang="en-IN">
                        <a:latin typeface="Cambria Math" panose="02040503050406030204" pitchFamily="18" charset="0"/>
                      </a:rPr>
                      <m:t>,</m:t>
                    </m:r>
                    <m:r>
                      <a:rPr lang="en-IN" i="1">
                        <a:latin typeface="Cambria Math" panose="02040503050406030204" pitchFamily="18" charset="0"/>
                      </a:rPr>
                      <m:t>𝜎</m:t>
                    </m:r>
                  </m:oMath>
                </a14:m>
                <a:r>
                  <a:rPr lang="en-IN" dirty="0">
                    <a:latin typeface="Times New Roman" panose="02020603050405020304" pitchFamily="18" charset="0"/>
                    <a:cs typeface="Times New Roman" panose="02020603050405020304" pitchFamily="18" charset="0"/>
                  </a:rPr>
                  <a:t>) to stabilize model inputs. </a:t>
                </a:r>
              </a:p>
              <a:p>
                <a:pPr lvl="0"/>
                <a:r>
                  <a:rPr lang="en-IN" b="1" dirty="0">
                    <a:latin typeface="Times New Roman" panose="02020603050405020304" pitchFamily="18" charset="0"/>
                    <a:cs typeface="Times New Roman" panose="02020603050405020304" pitchFamily="18" charset="0"/>
                  </a:rPr>
                  <a:t>Dataset Partitioning &amp; Augmentation</a:t>
                </a:r>
                <a:r>
                  <a:rPr lang="en-IN" dirty="0">
                    <a:latin typeface="Times New Roman" panose="02020603050405020304" pitchFamily="18" charset="0"/>
                    <a:cs typeface="Times New Roman" panose="02020603050405020304" pitchFamily="18" charset="0"/>
                  </a:rPr>
                  <a:t>: Utilizes the 8,000-image Kvasir dataset with stratified splits and data augmentation for training robustness.</a:t>
                </a:r>
              </a:p>
            </p:txBody>
          </p:sp>
        </mc:Choice>
        <mc:Fallback xmlns="">
          <p:sp>
            <p:nvSpPr>
              <p:cNvPr id="4" name="Content Placeholder 3">
                <a:extLst>
                  <a:ext uri="{FF2B5EF4-FFF2-40B4-BE49-F238E27FC236}">
                    <a16:creationId xmlns:a16="http://schemas.microsoft.com/office/drawing/2014/main" id="{19FAAC68-FE02-33F3-E098-27007BE75373}"/>
                  </a:ext>
                </a:extLst>
              </p:cNvPr>
              <p:cNvSpPr>
                <a:spLocks noGrp="1" noRot="1" noChangeAspect="1" noMove="1" noResize="1" noEditPoints="1" noAdjustHandles="1" noChangeArrowheads="1" noChangeShapeType="1" noTextEdit="1"/>
              </p:cNvSpPr>
              <p:nvPr>
                <p:ph idx="1"/>
              </p:nvPr>
            </p:nvSpPr>
            <p:spPr>
              <a:xfrm>
                <a:off x="1451580" y="1930008"/>
                <a:ext cx="9603275" cy="3450613"/>
              </a:xfrm>
              <a:blipFill>
                <a:blip r:embed="rId2"/>
                <a:stretch>
                  <a:fillRect l="-571" t="-177" b="-25618"/>
                </a:stretch>
              </a:blipFill>
            </p:spPr>
            <p:txBody>
              <a:bodyPr/>
              <a:lstStyle/>
              <a:p>
                <a:r>
                  <a:rPr lang="en-IN">
                    <a:noFill/>
                  </a:rPr>
                  <a:t> </a:t>
                </a:r>
              </a:p>
            </p:txBody>
          </p:sp>
        </mc:Fallback>
      </mc:AlternateContent>
    </p:spTree>
    <p:extLst>
      <p:ext uri="{BB962C8B-B14F-4D97-AF65-F5344CB8AC3E}">
        <p14:creationId xmlns:p14="http://schemas.microsoft.com/office/powerpoint/2010/main" val="70789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04AF-1427-76C0-E88B-0E4785FCB928}"/>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 EXISTING SYSTEM:</a:t>
            </a:r>
          </a:p>
        </p:txBody>
      </p:sp>
      <p:sp>
        <p:nvSpPr>
          <p:cNvPr id="3" name="Content Placeholder 2">
            <a:extLst>
              <a:ext uri="{FF2B5EF4-FFF2-40B4-BE49-F238E27FC236}">
                <a16:creationId xmlns:a16="http://schemas.microsoft.com/office/drawing/2014/main" id="{BBEA7B0C-8CFD-A7CC-16EE-A170523450CA}"/>
              </a:ext>
            </a:extLst>
          </p:cNvPr>
          <p:cNvSpPr>
            <a:spLocks noGrp="1"/>
          </p:cNvSpPr>
          <p:nvPr>
            <p:ph idx="1"/>
          </p:nvPr>
        </p:nvSpPr>
        <p:spPr>
          <a:xfrm>
            <a:off x="1451580" y="2015733"/>
            <a:ext cx="9603275" cy="4037747"/>
          </a:xfrm>
        </p:spPr>
        <p:txBody>
          <a:bodyPr>
            <a:noAutofit/>
          </a:bodyPr>
          <a:lstStyle/>
          <a:p>
            <a:pPr>
              <a:lnSpc>
                <a:spcPct val="150000"/>
              </a:lnSpc>
            </a:pPr>
            <a:r>
              <a:rPr lang="en-IN" dirty="0">
                <a:latin typeface="Times New Roman" panose="02020603050405020304" pitchFamily="18" charset="0"/>
                <a:cs typeface="Times New Roman" panose="02020603050405020304" pitchFamily="18" charset="0"/>
              </a:rPr>
              <a:t>Uses CSCG-</a:t>
            </a:r>
            <a:r>
              <a:rPr lang="en-IN" dirty="0" err="1">
                <a:latin typeface="Times New Roman" panose="02020603050405020304" pitchFamily="18" charset="0"/>
                <a:cs typeface="Times New Roman" panose="02020603050405020304" pitchFamily="18" charset="0"/>
              </a:rPr>
              <a:t>ResNet</a:t>
            </a:r>
            <a:r>
              <a:rPr lang="en-IN" dirty="0">
                <a:latin typeface="Times New Roman" panose="02020603050405020304" pitchFamily="18" charset="0"/>
                <a:cs typeface="Times New Roman" panose="02020603050405020304" pitchFamily="18" charset="0"/>
              </a:rPr>
              <a:t> for gastrointestinal image feature extraction.</a:t>
            </a:r>
          </a:p>
          <a:p>
            <a:pPr lvl="0">
              <a:lnSpc>
                <a:spcPct val="150000"/>
              </a:lnSpc>
            </a:pPr>
            <a:r>
              <a:rPr lang="en-IN" dirty="0">
                <a:latin typeface="Times New Roman" panose="02020603050405020304" pitchFamily="18" charset="0"/>
                <a:cs typeface="Times New Roman" panose="02020603050405020304" pitchFamily="18" charset="0"/>
              </a:rPr>
              <a:t>M-MGO selects important features and removes redundant features.</a:t>
            </a:r>
          </a:p>
          <a:p>
            <a:pPr lvl="0">
              <a:lnSpc>
                <a:spcPct val="150000"/>
              </a:lnSpc>
            </a:pPr>
            <a:r>
              <a:rPr lang="en-IN" dirty="0">
                <a:latin typeface="Times New Roman" panose="02020603050405020304" pitchFamily="18" charset="0"/>
                <a:cs typeface="Times New Roman" panose="02020603050405020304" pitchFamily="18" charset="0"/>
              </a:rPr>
              <a:t>QI-</a:t>
            </a:r>
            <a:r>
              <a:rPr lang="en-IN" dirty="0" err="1">
                <a:latin typeface="Times New Roman" panose="02020603050405020304" pitchFamily="18" charset="0"/>
                <a:cs typeface="Times New Roman" panose="02020603050405020304" pitchFamily="18" charset="0"/>
              </a:rPr>
              <a:t>TabNet</a:t>
            </a:r>
            <a:r>
              <a:rPr lang="en-IN" dirty="0">
                <a:latin typeface="Times New Roman" panose="02020603050405020304" pitchFamily="18" charset="0"/>
                <a:cs typeface="Times New Roman" panose="02020603050405020304" pitchFamily="18" charset="0"/>
              </a:rPr>
              <a:t> performs the final disease classification.</a:t>
            </a:r>
          </a:p>
          <a:p>
            <a:pPr lvl="0">
              <a:lnSpc>
                <a:spcPct val="150000"/>
              </a:lnSpc>
            </a:pPr>
            <a:r>
              <a:rPr lang="en-IN" dirty="0">
                <a:latin typeface="Times New Roman" panose="02020603050405020304" pitchFamily="18" charset="0"/>
                <a:cs typeface="Times New Roman" panose="02020603050405020304" pitchFamily="18" charset="0"/>
              </a:rPr>
              <a:t>Uses Kvasir v1 + v2 with 8 gastrointestinal categories.</a:t>
            </a:r>
          </a:p>
          <a:p>
            <a:pPr lvl="0">
              <a:lnSpc>
                <a:spcPct val="150000"/>
              </a:lnSpc>
            </a:pPr>
            <a:r>
              <a:rPr lang="en-IN" dirty="0">
                <a:latin typeface="Times New Roman" panose="02020603050405020304" pitchFamily="18" charset="0"/>
                <a:cs typeface="Times New Roman" panose="02020603050405020304" pitchFamily="18" charset="0"/>
              </a:rPr>
              <a:t>Reported accuracy: 96.75%.</a:t>
            </a:r>
          </a:p>
          <a:p>
            <a:pPr marL="0" lvl="0" indent="0">
              <a:lnSpc>
                <a:spcPct val="150000"/>
              </a:lnSpc>
              <a:buNone/>
            </a:pPr>
            <a:r>
              <a:rPr lang="en-IN" b="1" dirty="0">
                <a:latin typeface="Times New Roman" panose="02020603050405020304" pitchFamily="18" charset="0"/>
                <a:cs typeface="Times New Roman" panose="02020603050405020304" pitchFamily="18" charset="0"/>
              </a:rPr>
              <a:t>Flow:</a:t>
            </a:r>
          </a:p>
          <a:p>
            <a:pPr lvl="0">
              <a:lnSpc>
                <a:spcPct val="150000"/>
              </a:lnSpc>
            </a:pPr>
            <a:r>
              <a:rPr lang="en-IN" dirty="0">
                <a:latin typeface="Times New Roman" panose="02020603050405020304" pitchFamily="18" charset="0"/>
                <a:cs typeface="Times New Roman" panose="02020603050405020304" pitchFamily="18" charset="0"/>
              </a:rPr>
              <a:t>Image → CSCG-</a:t>
            </a:r>
            <a:r>
              <a:rPr lang="en-IN" dirty="0" err="1">
                <a:latin typeface="Times New Roman" panose="02020603050405020304" pitchFamily="18" charset="0"/>
                <a:cs typeface="Times New Roman" panose="02020603050405020304" pitchFamily="18" charset="0"/>
              </a:rPr>
              <a:t>ResNet</a:t>
            </a:r>
            <a:r>
              <a:rPr lang="en-IN" dirty="0">
                <a:latin typeface="Times New Roman" panose="02020603050405020304" pitchFamily="18" charset="0"/>
                <a:cs typeface="Times New Roman" panose="02020603050405020304" pitchFamily="18" charset="0"/>
              </a:rPr>
              <a:t> → M-MGO → QI-</a:t>
            </a:r>
            <a:r>
              <a:rPr lang="en-IN" dirty="0" err="1">
                <a:latin typeface="Times New Roman" panose="02020603050405020304" pitchFamily="18" charset="0"/>
                <a:cs typeface="Times New Roman" panose="02020603050405020304" pitchFamily="18" charset="0"/>
              </a:rPr>
              <a:t>TabNet</a:t>
            </a:r>
            <a:r>
              <a:rPr lang="en-IN" dirty="0">
                <a:latin typeface="Times New Roman" panose="02020603050405020304" pitchFamily="18" charset="0"/>
                <a:cs typeface="Times New Roman" panose="02020603050405020304" pitchFamily="18" charset="0"/>
              </a:rPr>
              <a:t> → Disease Class</a:t>
            </a:r>
          </a:p>
        </p:txBody>
      </p:sp>
    </p:spTree>
    <p:extLst>
      <p:ext uri="{BB962C8B-B14F-4D97-AF65-F5344CB8AC3E}">
        <p14:creationId xmlns:p14="http://schemas.microsoft.com/office/powerpoint/2010/main" val="2571863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EB777-89E1-CDE7-78D2-09F338FEF339}"/>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DRAWBACKS OF EXISTING SYSTEM:</a:t>
            </a:r>
          </a:p>
        </p:txBody>
      </p:sp>
      <p:sp>
        <p:nvSpPr>
          <p:cNvPr id="3" name="Content Placeholder 2">
            <a:extLst>
              <a:ext uri="{FF2B5EF4-FFF2-40B4-BE49-F238E27FC236}">
                <a16:creationId xmlns:a16="http://schemas.microsoft.com/office/drawing/2014/main" id="{F5AA3154-B949-FBDF-5107-1E7615A24990}"/>
              </a:ext>
            </a:extLst>
          </p:cNvPr>
          <p:cNvSpPr>
            <a:spLocks noGrp="1"/>
          </p:cNvSpPr>
          <p:nvPr>
            <p:ph idx="1"/>
          </p:nvPr>
        </p:nvSpPr>
        <p:spPr/>
        <p:txBody>
          <a:bodyPr>
            <a:normAutofit fontScale="85000" lnSpcReduction="10000"/>
          </a:bodyPr>
          <a:lstStyle/>
          <a:p>
            <a:pPr lvl="0">
              <a:lnSpc>
                <a:spcPct val="160000"/>
              </a:lnSpc>
            </a:pPr>
            <a:r>
              <a:rPr lang="en-US" dirty="0">
                <a:latin typeface="Times New Roman" panose="02020603050405020304" pitchFamily="18" charset="0"/>
                <a:cs typeface="Times New Roman" panose="02020603050405020304" pitchFamily="18" charset="0"/>
              </a:rPr>
              <a:t>The existing model mainly depends on a CNN-based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architecture for extracting image features.</a:t>
            </a:r>
          </a:p>
          <a:p>
            <a:pPr lvl="0">
              <a:lnSpc>
                <a:spcPct val="160000"/>
              </a:lnSpc>
            </a:pPr>
            <a:r>
              <a:rPr lang="en-US" dirty="0">
                <a:latin typeface="Times New Roman" panose="02020603050405020304" pitchFamily="18" charset="0"/>
                <a:cs typeface="Times New Roman" panose="02020603050405020304" pitchFamily="18" charset="0"/>
              </a:rPr>
              <a:t>CNNs are effective at learning local features such as edges, textures and patterns, but they have limitations in capturing long-range relationships between different regions of an image.</a:t>
            </a:r>
          </a:p>
          <a:p>
            <a:pPr lvl="0">
              <a:lnSpc>
                <a:spcPct val="160000"/>
              </a:lnSpc>
            </a:pPr>
            <a:r>
              <a:rPr lang="en-US" dirty="0">
                <a:latin typeface="Times New Roman" panose="02020603050405020304" pitchFamily="18" charset="0"/>
                <a:cs typeface="Times New Roman" panose="02020603050405020304" pitchFamily="18" charset="0"/>
              </a:rPr>
              <a:t>The system contains multiple processing stages — CSCG-</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M-MGO and QI-</a:t>
            </a:r>
            <a:r>
              <a:rPr lang="en-US" dirty="0" err="1">
                <a:latin typeface="Times New Roman" panose="02020603050405020304" pitchFamily="18" charset="0"/>
                <a:cs typeface="Times New Roman" panose="02020603050405020304" pitchFamily="18" charset="0"/>
              </a:rPr>
              <a:t>TabNet</a:t>
            </a:r>
            <a:r>
              <a:rPr lang="en-US" dirty="0">
                <a:latin typeface="Times New Roman" panose="02020603050405020304" pitchFamily="18" charset="0"/>
                <a:cs typeface="Times New Roman" panose="02020603050405020304" pitchFamily="18" charset="0"/>
              </a:rPr>
              <a:t>, making the overall architecture relatively complex.</a:t>
            </a:r>
          </a:p>
          <a:p>
            <a:pPr lvl="0">
              <a:lnSpc>
                <a:spcPct val="160000"/>
              </a:lnSpc>
            </a:pPr>
            <a:r>
              <a:rPr lang="en-US" dirty="0">
                <a:latin typeface="Times New Roman" panose="02020603050405020304" pitchFamily="18" charset="0"/>
                <a:cs typeface="Times New Roman" panose="02020603050405020304" pitchFamily="18" charset="0"/>
              </a:rPr>
              <a:t>Requires additional feature optimization and classification stages.</a:t>
            </a:r>
          </a:p>
          <a:p>
            <a:pPr lvl="0">
              <a:lnSpc>
                <a:spcPct val="160000"/>
              </a:lnSpc>
            </a:pPr>
            <a:r>
              <a:rPr lang="en-US" dirty="0">
                <a:latin typeface="Times New Roman" panose="02020603050405020304" pitchFamily="18" charset="0"/>
                <a:cs typeface="Times New Roman" panose="02020603050405020304" pitchFamily="18" charset="0"/>
              </a:rPr>
              <a:t>the multi-stage architecture introduces additional computational complexity.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1032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40FBD-3E8B-5599-E1F2-1EB1260AB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99B5B-5139-1AC7-19BB-AB7B4CEF74E1}"/>
              </a:ext>
            </a:extLst>
          </p:cNvPr>
          <p:cNvSpPr>
            <a:spLocks noGrp="1"/>
          </p:cNvSpPr>
          <p:nvPr>
            <p:ph type="title"/>
          </p:nvPr>
        </p:nvSpPr>
        <p:spPr/>
        <p:txBody>
          <a:bodyPr>
            <a:normAutofit/>
          </a:bodyPr>
          <a:lstStyle/>
          <a:p>
            <a:r>
              <a:rPr lang="en-IN" sz="3600" b="1" dirty="0" err="1">
                <a:latin typeface="Times New Roman" panose="02020603050405020304" pitchFamily="18" charset="0"/>
                <a:cs typeface="Times New Roman" panose="02020603050405020304" pitchFamily="18" charset="0"/>
              </a:rPr>
              <a:t>PRoPOSED</a:t>
            </a:r>
            <a:r>
              <a:rPr lang="en-IN" sz="3600" b="1" dirty="0">
                <a:latin typeface="Times New Roman" panose="02020603050405020304" pitchFamily="18" charset="0"/>
                <a:cs typeface="Times New Roman" panose="02020603050405020304" pitchFamily="18" charset="0"/>
              </a:rPr>
              <a:t> SYSTEM:</a:t>
            </a:r>
          </a:p>
        </p:txBody>
      </p:sp>
      <p:sp>
        <p:nvSpPr>
          <p:cNvPr id="3" name="Content Placeholder 2">
            <a:extLst>
              <a:ext uri="{FF2B5EF4-FFF2-40B4-BE49-F238E27FC236}">
                <a16:creationId xmlns:a16="http://schemas.microsoft.com/office/drawing/2014/main" id="{0247DA9E-C055-9686-7797-64D8A9EDD178}"/>
              </a:ext>
            </a:extLst>
          </p:cNvPr>
          <p:cNvSpPr>
            <a:spLocks noGrp="1"/>
          </p:cNvSpPr>
          <p:nvPr>
            <p:ph idx="1"/>
          </p:nvPr>
        </p:nvSpPr>
        <p:spPr>
          <a:xfrm>
            <a:off x="1451580" y="1947153"/>
            <a:ext cx="9603275" cy="3450613"/>
          </a:xfrm>
        </p:spPr>
        <p:txBody>
          <a:bodyPr>
            <a:noAutofit/>
          </a:bodyPr>
          <a:lstStyle/>
          <a:p>
            <a:pPr algn="just"/>
            <a:r>
              <a:rPr lang="en-US" sz="1800" dirty="0">
                <a:latin typeface="Times New Roman" panose="02020603050405020304" pitchFamily="18" charset="0"/>
                <a:cs typeface="Times New Roman" panose="02020603050405020304" pitchFamily="18" charset="0"/>
              </a:rPr>
              <a:t>Develop a CNN–Transformer hybrid for GI disease classification.</a:t>
            </a:r>
          </a:p>
          <a:p>
            <a:pPr algn="just"/>
            <a:r>
              <a:rPr lang="en-US" sz="1800" dirty="0">
                <a:latin typeface="Times New Roman" panose="02020603050405020304" pitchFamily="18" charset="0"/>
                <a:cs typeface="Times New Roman" panose="02020603050405020304" pitchFamily="18" charset="0"/>
              </a:rPr>
              <a:t>Combine the strengths of CNNs and Transformers.</a:t>
            </a:r>
          </a:p>
          <a:p>
            <a:pPr algn="just"/>
            <a:r>
              <a:rPr lang="en-US" sz="1800" dirty="0">
                <a:latin typeface="Times New Roman" panose="02020603050405020304" pitchFamily="18" charset="0"/>
                <a:cs typeface="Times New Roman" panose="02020603050405020304" pitchFamily="18" charset="0"/>
              </a:rPr>
              <a:t>CNN extracts local features such as textures, shapes, and patterns.</a:t>
            </a:r>
          </a:p>
          <a:p>
            <a:pPr algn="just"/>
            <a:r>
              <a:rPr lang="en-US" sz="1800" dirty="0">
                <a:latin typeface="Times New Roman" panose="02020603050405020304" pitchFamily="18" charset="0"/>
                <a:cs typeface="Times New Roman" panose="02020603050405020304" pitchFamily="18" charset="0"/>
              </a:rPr>
              <a:t>Transformer captures global features and contextual relationships.</a:t>
            </a:r>
          </a:p>
          <a:p>
            <a:pPr algn="just"/>
            <a:r>
              <a:rPr lang="en-US" sz="1800" dirty="0">
                <a:latin typeface="Times New Roman" panose="02020603050405020304" pitchFamily="18" charset="0"/>
                <a:cs typeface="Times New Roman" panose="02020603050405020304" pitchFamily="18" charset="0"/>
              </a:rPr>
              <a:t>Evaluate ResNet-50 as CNN backbones.</a:t>
            </a:r>
          </a:p>
          <a:p>
            <a:pPr algn="just"/>
            <a:r>
              <a:rPr lang="en-US" sz="1800" dirty="0">
                <a:latin typeface="Times New Roman" panose="02020603050405020304" pitchFamily="18" charset="0"/>
                <a:cs typeface="Times New Roman" panose="02020603050405020304" pitchFamily="18" charset="0"/>
              </a:rPr>
              <a:t>Evaluate </a:t>
            </a:r>
            <a:r>
              <a:rPr lang="en-US" sz="1800" dirty="0" err="1">
                <a:latin typeface="Times New Roman" panose="02020603050405020304" pitchFamily="18" charset="0"/>
                <a:cs typeface="Times New Roman" panose="02020603050405020304" pitchFamily="18" charset="0"/>
              </a:rPr>
              <a:t>ViT</a:t>
            </a:r>
            <a:r>
              <a:rPr lang="en-US" sz="1800" dirty="0">
                <a:latin typeface="Times New Roman" panose="02020603050405020304" pitchFamily="18" charset="0"/>
                <a:cs typeface="Times New Roman" panose="02020603050405020304" pitchFamily="18" charset="0"/>
              </a:rPr>
              <a:t>-B/16 as Transformer backbones.</a:t>
            </a:r>
          </a:p>
          <a:p>
            <a:pPr algn="just"/>
            <a:r>
              <a:rPr lang="en-US" sz="1800" dirty="0">
                <a:latin typeface="Times New Roman" panose="02020603050405020304" pitchFamily="18" charset="0"/>
                <a:cs typeface="Times New Roman" panose="02020603050405020304" pitchFamily="18" charset="0"/>
              </a:rPr>
              <a:t>Apply </a:t>
            </a:r>
            <a:r>
              <a:rPr lang="en-IN" sz="1800" dirty="0">
                <a:latin typeface="Times New Roman" panose="02020603050405020304" pitchFamily="18" charset="0"/>
                <a:cs typeface="Times New Roman" panose="02020603050405020304" pitchFamily="18" charset="0"/>
              </a:rPr>
              <a:t>Adaptive Gated Cross-Attention </a:t>
            </a:r>
            <a:r>
              <a:rPr lang="en-US" sz="1800" dirty="0">
                <a:latin typeface="Times New Roman" panose="02020603050405020304" pitchFamily="18" charset="0"/>
                <a:cs typeface="Times New Roman" panose="02020603050405020304" pitchFamily="18" charset="0"/>
              </a:rPr>
              <a:t>to combine local and global features.</a:t>
            </a:r>
          </a:p>
          <a:p>
            <a:pPr algn="just"/>
            <a:r>
              <a:rPr lang="en-US" sz="1800" dirty="0">
                <a:latin typeface="Times New Roman" panose="02020603050405020304" pitchFamily="18" charset="0"/>
                <a:cs typeface="Times New Roman" panose="02020603050405020304" pitchFamily="18" charset="0"/>
              </a:rPr>
              <a:t>Use the fused features for final disease classification.</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182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71110-0CED-48DC-67CF-D4598BCD4BFA}"/>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ADVANTAGES OF </a:t>
            </a:r>
            <a:r>
              <a:rPr lang="en-IN" sz="3600" b="1" dirty="0" err="1">
                <a:latin typeface="Times New Roman" panose="02020603050405020304" pitchFamily="18" charset="0"/>
                <a:cs typeface="Times New Roman" panose="02020603050405020304" pitchFamily="18" charset="0"/>
              </a:rPr>
              <a:t>PRoPOSED</a:t>
            </a:r>
            <a:r>
              <a:rPr lang="en-IN" sz="3600" b="1" dirty="0">
                <a:latin typeface="Times New Roman" panose="02020603050405020304" pitchFamily="18" charset="0"/>
                <a:cs typeface="Times New Roman" panose="02020603050405020304" pitchFamily="18" charset="0"/>
              </a:rPr>
              <a:t> SYSTEM:</a:t>
            </a:r>
          </a:p>
        </p:txBody>
      </p:sp>
      <p:sp>
        <p:nvSpPr>
          <p:cNvPr id="3" name="Content Placeholder 2">
            <a:extLst>
              <a:ext uri="{FF2B5EF4-FFF2-40B4-BE49-F238E27FC236}">
                <a16:creationId xmlns:a16="http://schemas.microsoft.com/office/drawing/2014/main" id="{5C3001F5-0FCD-4C1B-717B-F958E9D49971}"/>
              </a:ext>
            </a:extLst>
          </p:cNvPr>
          <p:cNvSpPr>
            <a:spLocks noGrp="1"/>
          </p:cNvSpPr>
          <p:nvPr>
            <p:ph idx="1"/>
          </p:nvPr>
        </p:nvSpPr>
        <p:spPr/>
        <p:txBody>
          <a:bodyPr>
            <a:noAutofit/>
          </a:bodyPr>
          <a:lstStyle/>
          <a:p>
            <a:pPr lvl="0" algn="just">
              <a:lnSpc>
                <a:spcPct val="150000"/>
              </a:lnSpc>
            </a:pPr>
            <a:r>
              <a:rPr lang="en-IN" b="1" dirty="0">
                <a:latin typeface="Times New Roman" panose="02020603050405020304" pitchFamily="18" charset="0"/>
                <a:cs typeface="Times New Roman" panose="02020603050405020304" pitchFamily="18" charset="0"/>
              </a:rPr>
              <a:t>Dual-Feature Capture</a:t>
            </a:r>
            <a:r>
              <a:rPr lang="en-IN" dirty="0">
                <a:latin typeface="Times New Roman" panose="02020603050405020304" pitchFamily="18" charset="0"/>
                <a:cs typeface="Times New Roman" panose="02020603050405020304" pitchFamily="18" charset="0"/>
              </a:rPr>
              <a:t>: Combines CNN local textures with Transformer global context. </a:t>
            </a:r>
          </a:p>
          <a:p>
            <a:pPr lvl="0" algn="just">
              <a:lnSpc>
                <a:spcPct val="150000"/>
              </a:lnSpc>
            </a:pPr>
            <a:r>
              <a:rPr lang="en-IN" b="1" dirty="0">
                <a:latin typeface="Times New Roman" panose="02020603050405020304" pitchFamily="18" charset="0"/>
                <a:cs typeface="Times New Roman" panose="02020603050405020304" pitchFamily="18" charset="0"/>
              </a:rPr>
              <a:t>Dynamic Fusion</a:t>
            </a:r>
            <a:r>
              <a:rPr lang="en-IN" dirty="0">
                <a:latin typeface="Times New Roman" panose="02020603050405020304" pitchFamily="18" charset="0"/>
                <a:cs typeface="Times New Roman" panose="02020603050405020304" pitchFamily="18" charset="0"/>
              </a:rPr>
              <a:t>: Uses an adaptive sigmoid gate instead of static concatenation. </a:t>
            </a:r>
          </a:p>
          <a:p>
            <a:pPr lvl="0" algn="just">
              <a:lnSpc>
                <a:spcPct val="150000"/>
              </a:lnSpc>
            </a:pPr>
            <a:r>
              <a:rPr lang="en-IN" b="1" dirty="0">
                <a:latin typeface="Times New Roman" panose="02020603050405020304" pitchFamily="18" charset="0"/>
                <a:cs typeface="Times New Roman" panose="02020603050405020304" pitchFamily="18" charset="0"/>
              </a:rPr>
              <a:t>Uncertainty Guardrails</a:t>
            </a:r>
            <a:r>
              <a:rPr lang="en-IN" dirty="0">
                <a:latin typeface="Times New Roman" panose="02020603050405020304" pitchFamily="18" charset="0"/>
                <a:cs typeface="Times New Roman" panose="02020603050405020304" pitchFamily="18" charset="0"/>
              </a:rPr>
              <a:t>: Flags low-confidence predictions to prevent unverified decisions. </a:t>
            </a:r>
          </a:p>
          <a:p>
            <a:pPr lvl="0" algn="just">
              <a:lnSpc>
                <a:spcPct val="150000"/>
              </a:lnSpc>
            </a:pPr>
            <a:r>
              <a:rPr lang="en-IN" b="1" dirty="0">
                <a:latin typeface="Times New Roman" panose="02020603050405020304" pitchFamily="18" charset="0"/>
                <a:cs typeface="Times New Roman" panose="02020603050405020304" pitchFamily="18" charset="0"/>
              </a:rPr>
              <a:t>Clinical Explainability</a:t>
            </a:r>
            <a:r>
              <a:rPr lang="en-IN" dirty="0">
                <a:latin typeface="Times New Roman" panose="02020603050405020304" pitchFamily="18" charset="0"/>
                <a:cs typeface="Times New Roman" panose="02020603050405020304" pitchFamily="18" charset="0"/>
              </a:rPr>
              <a:t>: Integrates Grad-CAM and attention maps to highlight diagnostic regions. </a:t>
            </a:r>
          </a:p>
          <a:p>
            <a:pPr lvl="0" algn="just">
              <a:lnSpc>
                <a:spcPct val="150000"/>
              </a:lnSpc>
            </a:pPr>
            <a:r>
              <a:rPr lang="en-IN" b="1" dirty="0">
                <a:latin typeface="Times New Roman" panose="02020603050405020304" pitchFamily="18" charset="0"/>
                <a:cs typeface="Times New Roman" panose="02020603050405020304" pitchFamily="18" charset="0"/>
              </a:rPr>
              <a:t>Automated Preprocessing</a:t>
            </a:r>
            <a:r>
              <a:rPr lang="en-IN" dirty="0">
                <a:latin typeface="Times New Roman" panose="02020603050405020304" pitchFamily="18" charset="0"/>
                <a:cs typeface="Times New Roman" panose="02020603050405020304" pitchFamily="18" charset="0"/>
              </a:rPr>
              <a:t>: Screens blur and filters mucus artifacts before analysis.</a:t>
            </a:r>
          </a:p>
        </p:txBody>
      </p:sp>
    </p:spTree>
    <p:extLst>
      <p:ext uri="{BB962C8B-B14F-4D97-AF65-F5344CB8AC3E}">
        <p14:creationId xmlns:p14="http://schemas.microsoft.com/office/powerpoint/2010/main" val="3446621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1C611-81D3-DB87-8381-6F4D3191C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D4F34-8487-B102-AAD9-8F61744C2CB2}"/>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ADVANTAGES OF </a:t>
            </a:r>
            <a:r>
              <a:rPr lang="en-IN" sz="3600" b="1" dirty="0" err="1">
                <a:latin typeface="Times New Roman" panose="02020603050405020304" pitchFamily="18" charset="0"/>
                <a:cs typeface="Times New Roman" panose="02020603050405020304" pitchFamily="18" charset="0"/>
              </a:rPr>
              <a:t>PRoPOSED</a:t>
            </a:r>
            <a:r>
              <a:rPr lang="en-IN" sz="3600" b="1" dirty="0">
                <a:latin typeface="Times New Roman" panose="02020603050405020304" pitchFamily="18" charset="0"/>
                <a:cs typeface="Times New Roman" panose="02020603050405020304" pitchFamily="18" charset="0"/>
              </a:rPr>
              <a:t> SYSTEM:</a:t>
            </a:r>
          </a:p>
        </p:txBody>
      </p:sp>
      <p:sp>
        <p:nvSpPr>
          <p:cNvPr id="3" name="Content Placeholder 2">
            <a:extLst>
              <a:ext uri="{FF2B5EF4-FFF2-40B4-BE49-F238E27FC236}">
                <a16:creationId xmlns:a16="http://schemas.microsoft.com/office/drawing/2014/main" id="{086626EF-FE51-A529-4EE0-30ADD86BF20F}"/>
              </a:ext>
            </a:extLst>
          </p:cNvPr>
          <p:cNvSpPr>
            <a:spLocks noGrp="1"/>
          </p:cNvSpPr>
          <p:nvPr>
            <p:ph idx="1"/>
          </p:nvPr>
        </p:nvSpPr>
        <p:spPr/>
        <p:txBody>
          <a:bodyPr>
            <a:noAutofit/>
          </a:bodyPr>
          <a:lstStyle/>
          <a:p>
            <a:r>
              <a:rPr lang="en-US" dirty="0">
                <a:latin typeface="Times New Roman" panose="02020603050405020304" pitchFamily="18" charset="0"/>
                <a:cs typeface="Times New Roman" panose="02020603050405020304" pitchFamily="18" charset="0"/>
              </a:rPr>
              <a:t>CNN captures local features like edges, textures, shapes, and disease patterns.</a:t>
            </a:r>
          </a:p>
          <a:p>
            <a:r>
              <a:rPr lang="en-US" dirty="0">
                <a:latin typeface="Times New Roman" panose="02020603050405020304" pitchFamily="18" charset="0"/>
                <a:cs typeface="Times New Roman" panose="02020603050405020304" pitchFamily="18" charset="0"/>
              </a:rPr>
              <a:t>Transformer captures global features and relationships between different image regions.</a:t>
            </a:r>
          </a:p>
          <a:p>
            <a:r>
              <a:rPr lang="en-US" dirty="0">
                <a:latin typeface="Times New Roman" panose="02020603050405020304" pitchFamily="18" charset="0"/>
                <a:cs typeface="Times New Roman" panose="02020603050405020304" pitchFamily="18" charset="0"/>
              </a:rPr>
              <a:t>Combines local and global information for better disease classification.</a:t>
            </a:r>
          </a:p>
          <a:p>
            <a:r>
              <a:rPr lang="en-US" dirty="0">
                <a:latin typeface="Times New Roman" panose="02020603050405020304" pitchFamily="18" charset="0"/>
                <a:cs typeface="Times New Roman" panose="02020603050405020304" pitchFamily="18" charset="0"/>
              </a:rPr>
              <a:t>Avoid unnecessary layers and complex operations.</a:t>
            </a:r>
          </a:p>
          <a:p>
            <a:r>
              <a:rPr lang="en-US" dirty="0">
                <a:latin typeface="Times New Roman" panose="02020603050405020304" pitchFamily="18" charset="0"/>
                <a:cs typeface="Times New Roman" panose="02020603050405020304" pitchFamily="18" charset="0"/>
              </a:rPr>
              <a:t>Requires less memory and computational power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2521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6398F-3032-8787-FF1B-CC617C3AE21F}"/>
              </a:ext>
            </a:extLst>
          </p:cNvPr>
          <p:cNvSpPr>
            <a:spLocks noGrp="1"/>
          </p:cNvSpPr>
          <p:nvPr>
            <p:ph type="title" idx="4294967295"/>
          </p:nvPr>
        </p:nvSpPr>
        <p:spPr>
          <a:xfrm>
            <a:off x="310771" y="164783"/>
            <a:ext cx="9604375" cy="1049337"/>
          </a:xfrm>
        </p:spPr>
        <p:txBody>
          <a:bodyPr>
            <a:normAutofit/>
          </a:bodyPr>
          <a:lstStyle/>
          <a:p>
            <a:r>
              <a:rPr lang="en-US" sz="3600" dirty="0">
                <a:latin typeface="Times New Roman" panose="02020603050405020304" pitchFamily="18" charset="0"/>
                <a:cs typeface="Times New Roman" panose="02020603050405020304" pitchFamily="18" charset="0"/>
              </a:rPr>
              <a:t>Literature survey</a:t>
            </a: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14433307-8596-7608-589F-4F4CE8152043}"/>
              </a:ext>
            </a:extLst>
          </p:cNvPr>
          <p:cNvGraphicFramePr>
            <a:graphicFrameLocks noGrp="1"/>
          </p:cNvGraphicFramePr>
          <p:nvPr>
            <p:ph idx="4294967295"/>
            <p:extLst>
              <p:ext uri="{D42A27DB-BD31-4B8C-83A1-F6EECF244321}">
                <p14:modId xmlns:p14="http://schemas.microsoft.com/office/powerpoint/2010/main" val="2391897080"/>
              </p:ext>
            </p:extLst>
          </p:nvPr>
        </p:nvGraphicFramePr>
        <p:xfrm>
          <a:off x="310771" y="758952"/>
          <a:ext cx="11713589" cy="5212079"/>
        </p:xfrm>
        <a:graphic>
          <a:graphicData uri="http://schemas.openxmlformats.org/drawingml/2006/table">
            <a:tbl>
              <a:tblPr firstRow="1" bandRow="1">
                <a:tableStyleId>{5C22544A-7EE6-4342-B048-85BDC9FD1C3A}</a:tableStyleId>
              </a:tblPr>
              <a:tblGrid>
                <a:gridCol w="1955621">
                  <a:extLst>
                    <a:ext uri="{9D8B030D-6E8A-4147-A177-3AD203B41FA5}">
                      <a16:colId xmlns:a16="http://schemas.microsoft.com/office/drawing/2014/main" val="326303387"/>
                    </a:ext>
                  </a:extLst>
                </a:gridCol>
                <a:gridCol w="997856">
                  <a:extLst>
                    <a:ext uri="{9D8B030D-6E8A-4147-A177-3AD203B41FA5}">
                      <a16:colId xmlns:a16="http://schemas.microsoft.com/office/drawing/2014/main" val="3632733575"/>
                    </a:ext>
                  </a:extLst>
                </a:gridCol>
                <a:gridCol w="1641330">
                  <a:extLst>
                    <a:ext uri="{9D8B030D-6E8A-4147-A177-3AD203B41FA5}">
                      <a16:colId xmlns:a16="http://schemas.microsoft.com/office/drawing/2014/main" val="3171047884"/>
                    </a:ext>
                  </a:extLst>
                </a:gridCol>
                <a:gridCol w="2461995">
                  <a:extLst>
                    <a:ext uri="{9D8B030D-6E8A-4147-A177-3AD203B41FA5}">
                      <a16:colId xmlns:a16="http://schemas.microsoft.com/office/drawing/2014/main" val="1790441633"/>
                    </a:ext>
                  </a:extLst>
                </a:gridCol>
                <a:gridCol w="2974913">
                  <a:extLst>
                    <a:ext uri="{9D8B030D-6E8A-4147-A177-3AD203B41FA5}">
                      <a16:colId xmlns:a16="http://schemas.microsoft.com/office/drawing/2014/main" val="4045360695"/>
                    </a:ext>
                  </a:extLst>
                </a:gridCol>
                <a:gridCol w="1681874">
                  <a:extLst>
                    <a:ext uri="{9D8B030D-6E8A-4147-A177-3AD203B41FA5}">
                      <a16:colId xmlns:a16="http://schemas.microsoft.com/office/drawing/2014/main" val="3509273707"/>
                    </a:ext>
                  </a:extLst>
                </a:gridCol>
              </a:tblGrid>
              <a:tr h="701332">
                <a:tc>
                  <a:txBody>
                    <a:bodyPr/>
                    <a:lstStyle/>
                    <a:p>
                      <a:r>
                        <a:rPr lang="en-US" sz="1600" b="0" dirty="0">
                          <a:latin typeface="Times New Roman" panose="02020603050405020304" pitchFamily="18" charset="0"/>
                          <a:cs typeface="Times New Roman" panose="02020603050405020304" pitchFamily="18" charset="0"/>
                        </a:rPr>
                        <a:t>TITLE</a:t>
                      </a:r>
                      <a:endParaRPr lang="en-IN" sz="1600" b="0" dirty="0">
                        <a:latin typeface="Times New Roman" panose="02020603050405020304" pitchFamily="18" charset="0"/>
                        <a:cs typeface="Times New Roman" panose="02020603050405020304" pitchFamily="18" charset="0"/>
                      </a:endParaRPr>
                    </a:p>
                  </a:txBody>
                  <a:tcPr marT="45721" marB="45721"/>
                </a:tc>
                <a:tc>
                  <a:txBody>
                    <a:bodyPr/>
                    <a:lstStyle/>
                    <a:p>
                      <a:r>
                        <a:rPr lang="en-US" sz="1600" b="0" dirty="0">
                          <a:latin typeface="Times New Roman" panose="02020603050405020304" pitchFamily="18" charset="0"/>
                          <a:cs typeface="Times New Roman" panose="02020603050405020304" pitchFamily="18" charset="0"/>
                        </a:rPr>
                        <a:t>YEAR</a:t>
                      </a:r>
                      <a:endParaRPr lang="en-IN" sz="1600" b="0" dirty="0">
                        <a:latin typeface="Times New Roman" panose="02020603050405020304" pitchFamily="18" charset="0"/>
                        <a:cs typeface="Times New Roman" panose="02020603050405020304" pitchFamily="18" charset="0"/>
                      </a:endParaRPr>
                    </a:p>
                  </a:txBody>
                  <a:tcPr marT="45721" marB="45721"/>
                </a:tc>
                <a:tc>
                  <a:txBody>
                    <a:bodyPr/>
                    <a:lstStyle/>
                    <a:p>
                      <a:r>
                        <a:rPr lang="en-US" sz="1600" b="0" dirty="0">
                          <a:latin typeface="Times New Roman" panose="02020603050405020304" pitchFamily="18" charset="0"/>
                          <a:cs typeface="Times New Roman" panose="02020603050405020304" pitchFamily="18" charset="0"/>
                        </a:rPr>
                        <a:t>AUTHOR</a:t>
                      </a:r>
                      <a:endParaRPr lang="en-IN" sz="1600" b="0" dirty="0">
                        <a:latin typeface="Times New Roman" panose="02020603050405020304" pitchFamily="18" charset="0"/>
                        <a:cs typeface="Times New Roman" panose="02020603050405020304" pitchFamily="18" charset="0"/>
                      </a:endParaRPr>
                    </a:p>
                  </a:txBody>
                  <a:tcPr marT="45721" marB="45721"/>
                </a:tc>
                <a:tc>
                  <a:txBody>
                    <a:bodyPr/>
                    <a:lstStyle/>
                    <a:p>
                      <a:r>
                        <a:rPr lang="en-US" sz="1600" b="0" dirty="0">
                          <a:latin typeface="Times New Roman" panose="02020603050405020304" pitchFamily="18" charset="0"/>
                          <a:cs typeface="Times New Roman" panose="02020603050405020304" pitchFamily="18" charset="0"/>
                        </a:rPr>
                        <a:t>MODELS USED</a:t>
                      </a:r>
                      <a:endParaRPr lang="en-IN" sz="1600" b="0" dirty="0">
                        <a:latin typeface="Times New Roman" panose="02020603050405020304" pitchFamily="18" charset="0"/>
                        <a:cs typeface="Times New Roman" panose="02020603050405020304" pitchFamily="18" charset="0"/>
                      </a:endParaRPr>
                    </a:p>
                  </a:txBody>
                  <a:tcPr marT="45721" marB="45721"/>
                </a:tc>
                <a:tc>
                  <a:txBody>
                    <a:bodyPr/>
                    <a:lstStyle/>
                    <a:p>
                      <a:pPr algn="l"/>
                      <a:r>
                        <a:rPr lang="en-US" sz="1600" b="0" dirty="0">
                          <a:latin typeface="Times New Roman" panose="02020603050405020304" pitchFamily="18" charset="0"/>
                          <a:cs typeface="Times New Roman" panose="02020603050405020304" pitchFamily="18" charset="0"/>
                        </a:rPr>
                        <a:t>KEY CONTRIBUTION</a:t>
                      </a:r>
                      <a:endParaRPr lang="en-IN" sz="1600" b="0" dirty="0">
                        <a:latin typeface="Times New Roman" panose="02020603050405020304" pitchFamily="18" charset="0"/>
                        <a:cs typeface="Times New Roman" panose="02020603050405020304" pitchFamily="18" charset="0"/>
                      </a:endParaRPr>
                    </a:p>
                  </a:txBody>
                  <a:tcPr marT="45721" marB="45721"/>
                </a:tc>
                <a:tc>
                  <a:txBody>
                    <a:bodyPr/>
                    <a:lstStyle/>
                    <a:p>
                      <a:r>
                        <a:rPr lang="en-US" sz="1600" b="0" dirty="0">
                          <a:latin typeface="Times New Roman" panose="02020603050405020304" pitchFamily="18" charset="0"/>
                          <a:cs typeface="Times New Roman" panose="02020603050405020304" pitchFamily="18" charset="0"/>
                        </a:rPr>
                        <a:t>ACCURACY</a:t>
                      </a:r>
                      <a:endParaRPr lang="en-IN" sz="1600" b="0" dirty="0">
                        <a:latin typeface="Times New Roman" panose="02020603050405020304" pitchFamily="18" charset="0"/>
                        <a:cs typeface="Times New Roman" panose="02020603050405020304" pitchFamily="18" charset="0"/>
                      </a:endParaRPr>
                    </a:p>
                  </a:txBody>
                  <a:tcPr marT="45721" marB="45721"/>
                </a:tc>
                <a:extLst>
                  <a:ext uri="{0D108BD9-81ED-4DB2-BD59-A6C34878D82A}">
                    <a16:rowId xmlns:a16="http://schemas.microsoft.com/office/drawing/2014/main" val="602732761"/>
                  </a:ext>
                </a:extLst>
              </a:tr>
              <a:tr h="2140002">
                <a:tc>
                  <a:txBody>
                    <a:bodyPr/>
                    <a:lstStyle/>
                    <a:p>
                      <a:pPr algn="ctr" fontAlgn="ctr">
                        <a:buNone/>
                      </a:pPr>
                      <a:r>
                        <a:rPr lang="en-IN" sz="1600" b="0" i="0" u="none" strike="noStrike" dirty="0">
                          <a:solidFill>
                            <a:srgbClr val="000000"/>
                          </a:solidFill>
                          <a:effectLst/>
                          <a:latin typeface="Times New Roman" panose="02020603050405020304" pitchFamily="18" charset="0"/>
                          <a:cs typeface="Times New Roman" panose="02020603050405020304" pitchFamily="18" charset="0"/>
                        </a:rPr>
                        <a:t>An Improved </a:t>
                      </a:r>
                      <a:r>
                        <a:rPr lang="en-IN" sz="1600" b="0" i="0" u="none" strike="noStrike" dirty="0" err="1">
                          <a:solidFill>
                            <a:srgbClr val="000000"/>
                          </a:solidFill>
                          <a:effectLst/>
                          <a:latin typeface="Times New Roman" panose="02020603050405020304" pitchFamily="18" charset="0"/>
                          <a:cs typeface="Times New Roman" panose="02020603050405020304" pitchFamily="18" charset="0"/>
                        </a:rPr>
                        <a:t>ResNet</a:t>
                      </a:r>
                      <a:r>
                        <a:rPr lang="en-IN" sz="1600" b="0" i="0" u="none" strike="noStrike" dirty="0">
                          <a:solidFill>
                            <a:srgbClr val="000000"/>
                          </a:solidFill>
                          <a:effectLst/>
                          <a:latin typeface="Times New Roman" panose="02020603050405020304" pitchFamily="18" charset="0"/>
                          <a:cs typeface="Times New Roman" panose="02020603050405020304" pitchFamily="18" charset="0"/>
                        </a:rPr>
                        <a:t>-Based Deep Learning Model with Modified Mountain Gazelle Optimization for Gastrointestinal Disease Classification</a:t>
                      </a:r>
                    </a:p>
                  </a:txBody>
                  <a:tcPr marL="7620" marR="7620" marT="7620" marB="0" anchor="ctr"/>
                </a:tc>
                <a:tc>
                  <a:txBody>
                    <a:bodyPr/>
                    <a:lstStyle/>
                    <a:p>
                      <a:pPr algn="ctr"/>
                      <a:r>
                        <a:rPr lang="en-US" sz="1600" b="0" dirty="0">
                          <a:latin typeface="Times New Roman" panose="02020603050405020304" pitchFamily="18" charset="0"/>
                          <a:cs typeface="Times New Roman" panose="02020603050405020304" pitchFamily="18" charset="0"/>
                        </a:rPr>
                        <a:t>2026</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lvl="0" algn="ctr"/>
                      <a:r>
                        <a:rPr lang="en-IN" sz="1600" b="0" dirty="0">
                          <a:latin typeface="Times New Roman" panose="02020603050405020304" pitchFamily="18" charset="0"/>
                          <a:cs typeface="Times New Roman" panose="02020603050405020304" pitchFamily="18" charset="0"/>
                        </a:rPr>
                        <a:t>Harshitha E.S. </a:t>
                      </a:r>
                    </a:p>
                    <a:p>
                      <a:pPr lvl="0" algn="ctr"/>
                      <a:r>
                        <a:rPr lang="en-IN" sz="1600" b="0" dirty="0">
                          <a:latin typeface="Times New Roman" panose="02020603050405020304" pitchFamily="18" charset="0"/>
                          <a:cs typeface="Times New Roman" panose="02020603050405020304" pitchFamily="18" charset="0"/>
                        </a:rPr>
                        <a:t>Narmadha G. </a:t>
                      </a:r>
                    </a:p>
                    <a:p>
                      <a:pPr lvl="0" algn="ctr"/>
                      <a:r>
                        <a:rPr lang="en-IN" sz="1600" b="0" dirty="0">
                          <a:latin typeface="Times New Roman" panose="02020603050405020304" pitchFamily="18" charset="0"/>
                          <a:cs typeface="Times New Roman" panose="02020603050405020304" pitchFamily="18" charset="0"/>
                        </a:rPr>
                        <a:t>Sakthivel B. </a:t>
                      </a:r>
                    </a:p>
                    <a:p>
                      <a:pPr lvl="0" algn="ctr"/>
                      <a:r>
                        <a:rPr lang="en-IN" sz="1600" b="0" dirty="0" err="1">
                          <a:latin typeface="Times New Roman" panose="02020603050405020304" pitchFamily="18" charset="0"/>
                          <a:cs typeface="Times New Roman" panose="02020603050405020304" pitchFamily="18" charset="0"/>
                        </a:rPr>
                        <a:t>Muneeswari</a:t>
                      </a:r>
                      <a:r>
                        <a:rPr lang="en-IN" sz="1600" b="0" dirty="0">
                          <a:latin typeface="Times New Roman" panose="02020603050405020304" pitchFamily="18" charset="0"/>
                          <a:cs typeface="Times New Roman" panose="02020603050405020304" pitchFamily="18" charset="0"/>
                        </a:rPr>
                        <a:t> B</a:t>
                      </a:r>
                    </a:p>
                  </a:txBody>
                  <a:tcPr marT="45721" marB="45721" anchor="ctr"/>
                </a:tc>
                <a:tc>
                  <a:txBody>
                    <a:bodyPr/>
                    <a:lstStyle/>
                    <a:p>
                      <a:pPr algn="ctr" fontAlgn="ctr">
                        <a:buNone/>
                      </a:pPr>
                      <a:r>
                        <a:rPr lang="en-IN" sz="1600" b="0" i="0" u="none" strike="noStrike" dirty="0">
                          <a:solidFill>
                            <a:srgbClr val="303030"/>
                          </a:solidFill>
                          <a:effectLst/>
                          <a:latin typeface="Times New Roman" panose="02020603050405020304" pitchFamily="18" charset="0"/>
                          <a:cs typeface="Times New Roman" panose="02020603050405020304" pitchFamily="18" charset="0"/>
                        </a:rPr>
                        <a:t>CSCG-</a:t>
                      </a:r>
                      <a:r>
                        <a:rPr lang="en-IN" sz="1600" b="0" i="0" u="none" strike="noStrike" dirty="0" err="1">
                          <a:solidFill>
                            <a:srgbClr val="303030"/>
                          </a:solidFill>
                          <a:effectLst/>
                          <a:latin typeface="Times New Roman" panose="02020603050405020304" pitchFamily="18" charset="0"/>
                          <a:cs typeface="Times New Roman" panose="02020603050405020304" pitchFamily="18" charset="0"/>
                        </a:rPr>
                        <a:t>ResNet</a:t>
                      </a:r>
                      <a:r>
                        <a:rPr lang="en-IN" sz="1600" b="0" i="0" u="none" strike="noStrike" dirty="0">
                          <a:solidFill>
                            <a:srgbClr val="303030"/>
                          </a:solidFill>
                          <a:effectLst/>
                          <a:latin typeface="Times New Roman" panose="02020603050405020304" pitchFamily="18" charset="0"/>
                          <a:cs typeface="Times New Roman" panose="02020603050405020304" pitchFamily="18" charset="0"/>
                        </a:rPr>
                        <a:t> (Channel-Spatial Context Gating </a:t>
                      </a:r>
                      <a:r>
                        <a:rPr lang="en-IN" sz="1600" b="0" i="0" u="none" strike="noStrike" dirty="0" err="1">
                          <a:solidFill>
                            <a:srgbClr val="303030"/>
                          </a:solidFill>
                          <a:effectLst/>
                          <a:latin typeface="Times New Roman" panose="02020603050405020304" pitchFamily="18" charset="0"/>
                          <a:cs typeface="Times New Roman" panose="02020603050405020304" pitchFamily="18" charset="0"/>
                        </a:rPr>
                        <a:t>ResNet</a:t>
                      </a:r>
                      <a:r>
                        <a:rPr lang="en-IN" sz="1600" b="0" i="0" u="none" strike="noStrike" dirty="0">
                          <a:solidFill>
                            <a:srgbClr val="303030"/>
                          </a:solidFill>
                          <a:effectLst/>
                          <a:latin typeface="Times New Roman" panose="02020603050405020304" pitchFamily="18" charset="0"/>
                          <a:cs typeface="Times New Roman" panose="02020603050405020304" pitchFamily="18" charset="0"/>
                        </a:rPr>
                        <a:t>), Modified Mountain Gazelle Optimizer (M-MGO), and Quantum-inspired Adaptive </a:t>
                      </a:r>
                      <a:r>
                        <a:rPr lang="en-IN" sz="1600" b="0" i="0" u="none" strike="noStrike" dirty="0" err="1">
                          <a:solidFill>
                            <a:srgbClr val="303030"/>
                          </a:solidFill>
                          <a:effectLst/>
                          <a:latin typeface="Times New Roman" panose="02020603050405020304" pitchFamily="18" charset="0"/>
                          <a:cs typeface="Times New Roman" panose="02020603050405020304" pitchFamily="18" charset="0"/>
                        </a:rPr>
                        <a:t>TabNet</a:t>
                      </a:r>
                      <a:r>
                        <a:rPr lang="en-IN" sz="1600" b="0" i="0" u="none" strike="noStrike" dirty="0">
                          <a:solidFill>
                            <a:srgbClr val="303030"/>
                          </a:solidFill>
                          <a:effectLst/>
                          <a:latin typeface="Times New Roman" panose="02020603050405020304" pitchFamily="18" charset="0"/>
                          <a:cs typeface="Times New Roman" panose="02020603050405020304" pitchFamily="18" charset="0"/>
                        </a:rPr>
                        <a:t> (QI-</a:t>
                      </a:r>
                      <a:r>
                        <a:rPr lang="en-IN" sz="1600" b="0" i="0" u="none" strike="noStrike" dirty="0" err="1">
                          <a:solidFill>
                            <a:srgbClr val="303030"/>
                          </a:solidFill>
                          <a:effectLst/>
                          <a:latin typeface="Times New Roman" panose="02020603050405020304" pitchFamily="18" charset="0"/>
                          <a:cs typeface="Times New Roman" panose="02020603050405020304" pitchFamily="18" charset="0"/>
                        </a:rPr>
                        <a:t>TabNet</a:t>
                      </a:r>
                      <a:r>
                        <a:rPr lang="en-IN" sz="1600" b="0" i="0" u="none" strike="noStrike" dirty="0">
                          <a:solidFill>
                            <a:srgbClr val="303030"/>
                          </a:solidFill>
                          <a:effectLst/>
                          <a:latin typeface="Times New Roman" panose="02020603050405020304" pitchFamily="18" charset="0"/>
                          <a:cs typeface="Times New Roman" panose="02020603050405020304" pitchFamily="18" charset="0"/>
                        </a:rPr>
                        <a:t>)</a:t>
                      </a:r>
                    </a:p>
                  </a:txBody>
                  <a:tcPr marL="7620" marR="7620" marT="7620" marB="0" anchor="ctr"/>
                </a:tc>
                <a:tc>
                  <a:txBody>
                    <a:bodyPr/>
                    <a:lstStyle/>
                    <a:p>
                      <a:pPr algn="ctr"/>
                      <a:r>
                        <a:rPr lang="en-IN" sz="1600" b="0" dirty="0">
                          <a:latin typeface="Times New Roman" panose="02020603050405020304" pitchFamily="18" charset="0"/>
                          <a:cs typeface="Times New Roman" panose="02020603050405020304" pitchFamily="18" charset="0"/>
                        </a:rPr>
                        <a:t>Proposed an improved </a:t>
                      </a:r>
                      <a:r>
                        <a:rPr lang="en-IN" sz="1600" b="0" dirty="0" err="1">
                          <a:latin typeface="Times New Roman" panose="02020603050405020304" pitchFamily="18" charset="0"/>
                          <a:cs typeface="Times New Roman" panose="02020603050405020304" pitchFamily="18" charset="0"/>
                        </a:rPr>
                        <a:t>ResNet</a:t>
                      </a:r>
                      <a:r>
                        <a:rPr lang="en-IN" sz="1600" b="0" dirty="0">
                          <a:latin typeface="Times New Roman" panose="02020603050405020304" pitchFamily="18" charset="0"/>
                          <a:cs typeface="Times New Roman" panose="02020603050405020304" pitchFamily="18" charset="0"/>
                        </a:rPr>
                        <a:t>-based model combined with a Modified Mountain Gazelle Optimization algorithm to enhance feature optimization and improve the classification of gastrointestinal diseases.</a:t>
                      </a:r>
                    </a:p>
                  </a:txBody>
                  <a:tcPr marT="45721" marB="45721" anchor="ctr"/>
                </a:tc>
                <a:tc>
                  <a:txBody>
                    <a:bodyPr/>
                    <a:lstStyle/>
                    <a:p>
                      <a:pPr algn="ctr"/>
                      <a:r>
                        <a:rPr lang="en-US" sz="1600" b="0" dirty="0">
                          <a:latin typeface="Times New Roman" panose="02020603050405020304" pitchFamily="18" charset="0"/>
                          <a:cs typeface="Times New Roman" panose="02020603050405020304" pitchFamily="18" charset="0"/>
                        </a:rPr>
                        <a:t>96.75%</a:t>
                      </a:r>
                      <a:endParaRPr lang="en-IN" sz="1600" b="0" dirty="0">
                        <a:latin typeface="Times New Roman" panose="02020603050405020304" pitchFamily="18" charset="0"/>
                        <a:cs typeface="Times New Roman" panose="02020603050405020304" pitchFamily="18" charset="0"/>
                      </a:endParaRPr>
                    </a:p>
                  </a:txBody>
                  <a:tcPr marT="45721" marB="45721" anchor="ctr"/>
                </a:tc>
                <a:extLst>
                  <a:ext uri="{0D108BD9-81ED-4DB2-BD59-A6C34878D82A}">
                    <a16:rowId xmlns:a16="http://schemas.microsoft.com/office/drawing/2014/main" val="1471610887"/>
                  </a:ext>
                </a:extLst>
              </a:tr>
              <a:tr h="2370745">
                <a:tc>
                  <a:txBody>
                    <a:bodyPr/>
                    <a:lstStyle/>
                    <a:p>
                      <a:pPr algn="ctr" fontAlgn="ctr">
                        <a:buNone/>
                      </a:pPr>
                      <a:r>
                        <a:rPr lang="en-IN" sz="1600" b="0" i="0" u="none" strike="noStrike" dirty="0" err="1">
                          <a:solidFill>
                            <a:srgbClr val="303030"/>
                          </a:solidFill>
                          <a:effectLst/>
                          <a:latin typeface="Times New Roman" panose="02020603050405020304" pitchFamily="18" charset="0"/>
                          <a:cs typeface="Times New Roman" panose="02020603050405020304" pitchFamily="18" charset="0"/>
                        </a:rPr>
                        <a:t>GastricNet</a:t>
                      </a:r>
                      <a:r>
                        <a:rPr lang="en-IN" sz="1600" b="0" i="0" u="none" strike="noStrike" dirty="0">
                          <a:solidFill>
                            <a:srgbClr val="303030"/>
                          </a:solidFill>
                          <a:effectLst/>
                          <a:latin typeface="Times New Roman" panose="02020603050405020304" pitchFamily="18" charset="0"/>
                          <a:cs typeface="Times New Roman" panose="02020603050405020304" pitchFamily="18" charset="0"/>
                        </a:rPr>
                        <a:t>: an efficient and lightweight deep neural network in mobile edge computing for gastrointestinal disease detection</a:t>
                      </a:r>
                    </a:p>
                  </a:txBody>
                  <a:tcPr marL="7620" marR="7620" marT="7620" marB="0" anchor="ctr"/>
                </a:tc>
                <a:tc>
                  <a:txBody>
                    <a:bodyPr/>
                    <a:lstStyle/>
                    <a:p>
                      <a:pPr algn="ctr"/>
                      <a:r>
                        <a:rPr lang="en-US" sz="1600" b="0" dirty="0">
                          <a:latin typeface="Times New Roman" panose="02020603050405020304" pitchFamily="18" charset="0"/>
                          <a:cs typeface="Times New Roman" panose="02020603050405020304" pitchFamily="18" charset="0"/>
                        </a:rPr>
                        <a:t>2026</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lvl="0" algn="ctr"/>
                      <a:r>
                        <a:rPr lang="en-IN" sz="1600" b="0" dirty="0">
                          <a:latin typeface="Times New Roman" panose="02020603050405020304" pitchFamily="18" charset="0"/>
                          <a:cs typeface="Times New Roman" panose="02020603050405020304" pitchFamily="18" charset="0"/>
                        </a:rPr>
                        <a:t>Sohaib Asif </a:t>
                      </a:r>
                    </a:p>
                    <a:p>
                      <a:pPr lvl="0" algn="ctr"/>
                      <a:r>
                        <a:rPr lang="en-IN" sz="1600" b="0" dirty="0" err="1">
                          <a:latin typeface="Times New Roman" panose="02020603050405020304" pitchFamily="18" charset="0"/>
                          <a:cs typeface="Times New Roman" panose="02020603050405020304" pitchFamily="18" charset="0"/>
                        </a:rPr>
                        <a:t>Rongbiao</a:t>
                      </a:r>
                      <a:r>
                        <a:rPr lang="en-IN" sz="1600" b="0" dirty="0">
                          <a:latin typeface="Times New Roman" panose="02020603050405020304" pitchFamily="18" charset="0"/>
                          <a:cs typeface="Times New Roman" panose="02020603050405020304" pitchFamily="18" charset="0"/>
                        </a:rPr>
                        <a:t> Ying </a:t>
                      </a:r>
                    </a:p>
                    <a:p>
                      <a:pPr lvl="0" algn="ctr"/>
                      <a:r>
                        <a:rPr lang="en-IN" sz="1600" b="0" dirty="0" err="1">
                          <a:latin typeface="Times New Roman" panose="02020603050405020304" pitchFamily="18" charset="0"/>
                          <a:cs typeface="Times New Roman" panose="02020603050405020304" pitchFamily="18" charset="0"/>
                        </a:rPr>
                        <a:t>Jinjie</a:t>
                      </a:r>
                      <a:r>
                        <a:rPr lang="en-IN" sz="1600" b="0" dirty="0">
                          <a:latin typeface="Times New Roman" panose="02020603050405020304" pitchFamily="18" charset="0"/>
                          <a:cs typeface="Times New Roman" panose="02020603050405020304" pitchFamily="18" charset="0"/>
                        </a:rPr>
                        <a:t> Qu </a:t>
                      </a:r>
                    </a:p>
                    <a:p>
                      <a:pPr lvl="0" algn="ctr"/>
                      <a:r>
                        <a:rPr lang="en-IN" sz="1600" b="0" dirty="0">
                          <a:latin typeface="Times New Roman" panose="02020603050405020304" pitchFamily="18" charset="0"/>
                          <a:cs typeface="Times New Roman" panose="02020603050405020304" pitchFamily="18" charset="0"/>
                        </a:rPr>
                        <a:t>Vicky Yang Wang </a:t>
                      </a:r>
                    </a:p>
                    <a:p>
                      <a:pPr lvl="0" algn="ctr"/>
                      <a:r>
                        <a:rPr lang="en-IN" sz="1600" b="0" dirty="0">
                          <a:latin typeface="Times New Roman" panose="02020603050405020304" pitchFamily="18" charset="0"/>
                          <a:cs typeface="Times New Roman" panose="02020603050405020304" pitchFamily="18" charset="0"/>
                        </a:rPr>
                        <a:t>Jun Yao </a:t>
                      </a:r>
                    </a:p>
                    <a:p>
                      <a:pPr lvl="0" algn="ctr"/>
                      <a:r>
                        <a:rPr lang="en-IN" sz="1600" b="0" dirty="0">
                          <a:latin typeface="Times New Roman" panose="02020603050405020304" pitchFamily="18" charset="0"/>
                          <a:cs typeface="Times New Roman" panose="02020603050405020304" pitchFamily="18" charset="0"/>
                        </a:rPr>
                        <a:t>Dong Xu</a:t>
                      </a:r>
                    </a:p>
                  </a:txBody>
                  <a:tcPr marT="45721" marB="45721" anchor="ctr"/>
                </a:tc>
                <a:tc>
                  <a:txBody>
                    <a:bodyPr/>
                    <a:lstStyle/>
                    <a:p>
                      <a:pPr algn="ctr" fontAlgn="ctr">
                        <a:buNone/>
                      </a:pPr>
                      <a:r>
                        <a:rPr lang="en-IN" sz="1600" b="0" i="0" u="none" strike="noStrike" dirty="0" err="1">
                          <a:solidFill>
                            <a:srgbClr val="303030"/>
                          </a:solidFill>
                          <a:effectLst/>
                          <a:latin typeface="Times New Roman" panose="02020603050405020304" pitchFamily="18" charset="0"/>
                          <a:cs typeface="Times New Roman" panose="02020603050405020304" pitchFamily="18" charset="0"/>
                        </a:rPr>
                        <a:t>GastricNet</a:t>
                      </a:r>
                      <a:r>
                        <a:rPr lang="en-IN" sz="1600" b="0" i="0" u="none" strike="noStrike" dirty="0">
                          <a:solidFill>
                            <a:srgbClr val="303030"/>
                          </a:solidFill>
                          <a:effectLst/>
                          <a:latin typeface="Times New Roman" panose="02020603050405020304" pitchFamily="18" charset="0"/>
                          <a:cs typeface="Times New Roman" panose="02020603050405020304" pitchFamily="18" charset="0"/>
                        </a:rPr>
                        <a:t> (incorporating Lite-</a:t>
                      </a:r>
                      <a:r>
                        <a:rPr lang="en-IN" sz="1600" b="0" i="0" u="none" strike="noStrike" dirty="0" err="1">
                          <a:solidFill>
                            <a:srgbClr val="303030"/>
                          </a:solidFill>
                          <a:effectLst/>
                          <a:latin typeface="Times New Roman" panose="02020603050405020304" pitchFamily="18" charset="0"/>
                          <a:cs typeface="Times New Roman" panose="02020603050405020304" pitchFamily="18" charset="0"/>
                        </a:rPr>
                        <a:t>ResB</a:t>
                      </a:r>
                      <a:r>
                        <a:rPr lang="en-IN" sz="1600" b="0" i="0" u="none" strike="noStrike" dirty="0">
                          <a:solidFill>
                            <a:srgbClr val="303030"/>
                          </a:solidFill>
                          <a:effectLst/>
                          <a:latin typeface="Times New Roman" panose="02020603050405020304" pitchFamily="18" charset="0"/>
                          <a:cs typeface="Times New Roman" panose="02020603050405020304" pitchFamily="18" charset="0"/>
                        </a:rPr>
                        <a:t>, </a:t>
                      </a:r>
                      <a:r>
                        <a:rPr lang="en-IN" sz="1600" b="0" i="0" u="none" strike="noStrike" dirty="0" err="1">
                          <a:solidFill>
                            <a:srgbClr val="303030"/>
                          </a:solidFill>
                          <a:effectLst/>
                          <a:latin typeface="Times New Roman" panose="02020603050405020304" pitchFamily="18" charset="0"/>
                          <a:cs typeface="Times New Roman" panose="02020603050405020304" pitchFamily="18" charset="0"/>
                        </a:rPr>
                        <a:t>ConvMixer</a:t>
                      </a:r>
                      <a:r>
                        <a:rPr lang="en-IN" sz="1600" b="0" i="0" u="none" strike="noStrike" dirty="0">
                          <a:solidFill>
                            <a:srgbClr val="303030"/>
                          </a:solidFill>
                          <a:effectLst/>
                          <a:latin typeface="Times New Roman" panose="02020603050405020304" pitchFamily="18" charset="0"/>
                          <a:cs typeface="Times New Roman" panose="02020603050405020304" pitchFamily="18" charset="0"/>
                        </a:rPr>
                        <a:t>, Squeeze-and-Excitation, and </a:t>
                      </a:r>
                      <a:r>
                        <a:rPr lang="en-IN" sz="1600" b="0" i="0" u="none" strike="noStrike" dirty="0" err="1">
                          <a:solidFill>
                            <a:srgbClr val="303030"/>
                          </a:solidFill>
                          <a:effectLst/>
                          <a:latin typeface="Times New Roman" panose="02020603050405020304" pitchFamily="18" charset="0"/>
                          <a:cs typeface="Times New Roman" panose="02020603050405020304" pitchFamily="18" charset="0"/>
                        </a:rPr>
                        <a:t>Hypercolumn</a:t>
                      </a:r>
                      <a:r>
                        <a:rPr lang="en-IN" sz="1600" b="0" i="0" u="none" strike="noStrike" dirty="0">
                          <a:solidFill>
                            <a:srgbClr val="303030"/>
                          </a:solidFill>
                          <a:effectLst/>
                          <a:latin typeface="Times New Roman" panose="02020603050405020304" pitchFamily="18" charset="0"/>
                          <a:cs typeface="Times New Roman" panose="02020603050405020304" pitchFamily="18" charset="0"/>
                        </a:rPr>
                        <a:t> technique), compressed via Knowledge Distillation (KD) using MobileNetV2 as teacher</a:t>
                      </a:r>
                    </a:p>
                  </a:txBody>
                  <a:tcPr marL="7620" marR="7620" marT="7620" marB="0" anchor="ctr"/>
                </a:tc>
                <a:tc>
                  <a:txBody>
                    <a:bodyPr/>
                    <a:lstStyle/>
                    <a:p>
                      <a:pPr algn="ctr"/>
                      <a:r>
                        <a:rPr lang="en-IN" sz="1600" b="0" dirty="0">
                          <a:latin typeface="Times New Roman" panose="02020603050405020304" pitchFamily="18" charset="0"/>
                          <a:cs typeface="Times New Roman" panose="02020603050405020304" pitchFamily="18" charset="0"/>
                        </a:rPr>
                        <a:t>Proposed </a:t>
                      </a:r>
                      <a:r>
                        <a:rPr lang="en-IN" sz="1600" b="0" dirty="0" err="1">
                          <a:latin typeface="Times New Roman" panose="02020603050405020304" pitchFamily="18" charset="0"/>
                          <a:cs typeface="Times New Roman" panose="02020603050405020304" pitchFamily="18" charset="0"/>
                        </a:rPr>
                        <a:t>GastricNet</a:t>
                      </a:r>
                      <a:r>
                        <a:rPr lang="en-IN" sz="1600" b="0" dirty="0">
                          <a:latin typeface="Times New Roman" panose="02020603050405020304" pitchFamily="18" charset="0"/>
                          <a:cs typeface="Times New Roman" panose="02020603050405020304" pitchFamily="18" charset="0"/>
                        </a:rPr>
                        <a:t>, a lightweight and efficient deep learning model for gastrointestinal disease detection, designed to reduce computational complexity and support deployment in mobile edge computing environments.</a:t>
                      </a:r>
                    </a:p>
                  </a:txBody>
                  <a:tcPr marT="45721" marB="45721" anchor="ctr"/>
                </a:tc>
                <a:tc>
                  <a:txBody>
                    <a:bodyPr/>
                    <a:lstStyle/>
                    <a:p>
                      <a:pPr algn="ctr"/>
                      <a:r>
                        <a:rPr lang="en-US" sz="1600" b="0" dirty="0">
                          <a:latin typeface="Times New Roman" panose="02020603050405020304" pitchFamily="18" charset="0"/>
                          <a:cs typeface="Times New Roman" panose="02020603050405020304" pitchFamily="18" charset="0"/>
                        </a:rPr>
                        <a:t>98%</a:t>
                      </a:r>
                      <a:endParaRPr lang="en-IN" sz="1600" b="0" dirty="0">
                        <a:latin typeface="Times New Roman" panose="02020603050405020304" pitchFamily="18" charset="0"/>
                        <a:cs typeface="Times New Roman" panose="02020603050405020304" pitchFamily="18" charset="0"/>
                      </a:endParaRPr>
                    </a:p>
                  </a:txBody>
                  <a:tcPr marT="45721" marB="45721" anchor="ctr"/>
                </a:tc>
                <a:extLst>
                  <a:ext uri="{0D108BD9-81ED-4DB2-BD59-A6C34878D82A}">
                    <a16:rowId xmlns:a16="http://schemas.microsoft.com/office/drawing/2014/main" val="509738353"/>
                  </a:ext>
                </a:extLst>
              </a:tr>
            </a:tbl>
          </a:graphicData>
        </a:graphic>
      </p:graphicFrame>
    </p:spTree>
    <p:extLst>
      <p:ext uri="{BB962C8B-B14F-4D97-AF65-F5344CB8AC3E}">
        <p14:creationId xmlns:p14="http://schemas.microsoft.com/office/powerpoint/2010/main" val="1227032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42066-6992-37FB-891F-9DE23036B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A4FDC-1FE3-EC69-8025-69755FC1CE14}"/>
              </a:ext>
            </a:extLst>
          </p:cNvPr>
          <p:cNvSpPr>
            <a:spLocks noGrp="1"/>
          </p:cNvSpPr>
          <p:nvPr>
            <p:ph type="title" idx="4294967295"/>
          </p:nvPr>
        </p:nvSpPr>
        <p:spPr>
          <a:xfrm>
            <a:off x="310771" y="164783"/>
            <a:ext cx="9604375" cy="1049337"/>
          </a:xfrm>
        </p:spPr>
        <p:txBody>
          <a:bodyPr>
            <a:normAutofit/>
          </a:bodyPr>
          <a:lstStyle/>
          <a:p>
            <a:r>
              <a:rPr lang="en-US" sz="3600" dirty="0">
                <a:latin typeface="Times New Roman" panose="02020603050405020304" pitchFamily="18" charset="0"/>
                <a:cs typeface="Times New Roman" panose="02020603050405020304" pitchFamily="18" charset="0"/>
              </a:rPr>
              <a:t>Literature survey</a:t>
            </a: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AE78E9A3-36BB-E8BD-519E-7AAC73CA940A}"/>
              </a:ext>
            </a:extLst>
          </p:cNvPr>
          <p:cNvGraphicFramePr>
            <a:graphicFrameLocks noGrp="1"/>
          </p:cNvGraphicFramePr>
          <p:nvPr>
            <p:ph idx="4294967295"/>
            <p:extLst>
              <p:ext uri="{D42A27DB-BD31-4B8C-83A1-F6EECF244321}">
                <p14:modId xmlns:p14="http://schemas.microsoft.com/office/powerpoint/2010/main" val="1354865497"/>
              </p:ext>
            </p:extLst>
          </p:nvPr>
        </p:nvGraphicFramePr>
        <p:xfrm>
          <a:off x="310770" y="689452"/>
          <a:ext cx="11695301" cy="5245003"/>
        </p:xfrm>
        <a:graphic>
          <a:graphicData uri="http://schemas.openxmlformats.org/drawingml/2006/table">
            <a:tbl>
              <a:tblPr firstRow="1" bandRow="1">
                <a:tableStyleId>{5C22544A-7EE6-4342-B048-85BDC9FD1C3A}</a:tableStyleId>
              </a:tblPr>
              <a:tblGrid>
                <a:gridCol w="1952567">
                  <a:extLst>
                    <a:ext uri="{9D8B030D-6E8A-4147-A177-3AD203B41FA5}">
                      <a16:colId xmlns:a16="http://schemas.microsoft.com/office/drawing/2014/main" val="326303387"/>
                    </a:ext>
                  </a:extLst>
                </a:gridCol>
                <a:gridCol w="996298">
                  <a:extLst>
                    <a:ext uri="{9D8B030D-6E8A-4147-A177-3AD203B41FA5}">
                      <a16:colId xmlns:a16="http://schemas.microsoft.com/office/drawing/2014/main" val="3632733575"/>
                    </a:ext>
                  </a:extLst>
                </a:gridCol>
                <a:gridCol w="1638767">
                  <a:extLst>
                    <a:ext uri="{9D8B030D-6E8A-4147-A177-3AD203B41FA5}">
                      <a16:colId xmlns:a16="http://schemas.microsoft.com/office/drawing/2014/main" val="3171047884"/>
                    </a:ext>
                  </a:extLst>
                </a:gridCol>
                <a:gridCol w="2458153">
                  <a:extLst>
                    <a:ext uri="{9D8B030D-6E8A-4147-A177-3AD203B41FA5}">
                      <a16:colId xmlns:a16="http://schemas.microsoft.com/office/drawing/2014/main" val="1790441633"/>
                    </a:ext>
                  </a:extLst>
                </a:gridCol>
                <a:gridCol w="3210417">
                  <a:extLst>
                    <a:ext uri="{9D8B030D-6E8A-4147-A177-3AD203B41FA5}">
                      <a16:colId xmlns:a16="http://schemas.microsoft.com/office/drawing/2014/main" val="4045360695"/>
                    </a:ext>
                  </a:extLst>
                </a:gridCol>
                <a:gridCol w="1439099">
                  <a:extLst>
                    <a:ext uri="{9D8B030D-6E8A-4147-A177-3AD203B41FA5}">
                      <a16:colId xmlns:a16="http://schemas.microsoft.com/office/drawing/2014/main" val="3509273707"/>
                    </a:ext>
                  </a:extLst>
                </a:gridCol>
              </a:tblGrid>
              <a:tr h="612166">
                <a:tc>
                  <a:txBody>
                    <a:bodyPr/>
                    <a:lstStyle/>
                    <a:p>
                      <a:r>
                        <a:rPr lang="en-US" sz="1600" dirty="0">
                          <a:latin typeface="Times New Roman" panose="02020603050405020304" pitchFamily="18" charset="0"/>
                          <a:cs typeface="Times New Roman" panose="02020603050405020304" pitchFamily="18" charset="0"/>
                        </a:rPr>
                        <a:t>TITLE </a:t>
                      </a:r>
                      <a:endParaRPr lang="en-IN" sz="1600" dirty="0">
                        <a:latin typeface="Times New Roman" panose="02020603050405020304" pitchFamily="18" charset="0"/>
                        <a:cs typeface="Times New Roman" panose="02020603050405020304" pitchFamily="18" charset="0"/>
                      </a:endParaRPr>
                    </a:p>
                  </a:txBody>
                  <a:tcPr marT="45721" marB="45721"/>
                </a:tc>
                <a:tc>
                  <a:txBody>
                    <a:bodyPr/>
                    <a:lstStyle/>
                    <a:p>
                      <a:r>
                        <a:rPr lang="en-US" sz="1600" dirty="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marT="45721" marB="45721"/>
                </a:tc>
                <a:tc>
                  <a:txBody>
                    <a:bodyPr/>
                    <a:lstStyle/>
                    <a:p>
                      <a:r>
                        <a:rPr lang="en-US" sz="1600" dirty="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marT="45721" marB="45721"/>
                </a:tc>
                <a:tc>
                  <a:txBody>
                    <a:bodyPr/>
                    <a:lstStyle/>
                    <a:p>
                      <a:r>
                        <a:rPr lang="en-US" sz="1600" dirty="0">
                          <a:latin typeface="Times New Roman" panose="02020603050405020304" pitchFamily="18" charset="0"/>
                          <a:cs typeface="Times New Roman" panose="02020603050405020304" pitchFamily="18" charset="0"/>
                        </a:rPr>
                        <a:t>MODELS USED</a:t>
                      </a:r>
                      <a:endParaRPr lang="en-IN" sz="1600" dirty="0">
                        <a:latin typeface="Times New Roman" panose="02020603050405020304" pitchFamily="18" charset="0"/>
                        <a:cs typeface="Times New Roman" panose="02020603050405020304" pitchFamily="18" charset="0"/>
                      </a:endParaRPr>
                    </a:p>
                  </a:txBody>
                  <a:tcPr marT="45721" marB="45721"/>
                </a:tc>
                <a:tc>
                  <a:txBody>
                    <a:bodyPr/>
                    <a:lstStyle/>
                    <a:p>
                      <a:pPr algn="l"/>
                      <a:r>
                        <a:rPr lang="en-US" sz="1600" dirty="0">
                          <a:latin typeface="Times New Roman" panose="02020603050405020304" pitchFamily="18" charset="0"/>
                          <a:cs typeface="Times New Roman" panose="02020603050405020304" pitchFamily="18" charset="0"/>
                        </a:rPr>
                        <a:t>KEY CONTRIBUTION</a:t>
                      </a:r>
                      <a:endParaRPr lang="en-IN" sz="1600" dirty="0">
                        <a:latin typeface="Times New Roman" panose="02020603050405020304" pitchFamily="18" charset="0"/>
                        <a:cs typeface="Times New Roman" panose="02020603050405020304" pitchFamily="18" charset="0"/>
                      </a:endParaRPr>
                    </a:p>
                  </a:txBody>
                  <a:tcPr marT="45721" marB="45721"/>
                </a:tc>
                <a:tc>
                  <a:txBody>
                    <a:bodyPr/>
                    <a:lstStyle/>
                    <a:p>
                      <a:r>
                        <a:rPr lang="en-US" sz="1600" dirty="0">
                          <a:latin typeface="Times New Roman" panose="02020603050405020304" pitchFamily="18" charset="0"/>
                          <a:cs typeface="Times New Roman" panose="02020603050405020304" pitchFamily="18" charset="0"/>
                        </a:rPr>
                        <a:t>ACCURACY</a:t>
                      </a:r>
                      <a:endParaRPr lang="en-IN" sz="1600" dirty="0">
                        <a:latin typeface="Times New Roman" panose="02020603050405020304" pitchFamily="18" charset="0"/>
                        <a:cs typeface="Times New Roman" panose="02020603050405020304" pitchFamily="18" charset="0"/>
                      </a:endParaRPr>
                    </a:p>
                  </a:txBody>
                  <a:tcPr marT="45721" marB="45721"/>
                </a:tc>
                <a:extLst>
                  <a:ext uri="{0D108BD9-81ED-4DB2-BD59-A6C34878D82A}">
                    <a16:rowId xmlns:a16="http://schemas.microsoft.com/office/drawing/2014/main" val="602732761"/>
                  </a:ext>
                </a:extLst>
              </a:tr>
              <a:tr h="25635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Enhanced DINOv2-Based Framework for Multi-Class Gastrointestinal Abnormality Classification in Capsule Endoscopy</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algn="ctr"/>
                      <a:r>
                        <a:rPr lang="en-US" sz="1600" b="0" dirty="0">
                          <a:latin typeface="Times New Roman" panose="02020603050405020304" pitchFamily="18" charset="0"/>
                          <a:cs typeface="Times New Roman" panose="02020603050405020304" pitchFamily="18" charset="0"/>
                        </a:rPr>
                        <a:t>2025</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algn="ct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Manav Anand,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Pradneya</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Prabhudesai</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Pranav Kumar, Geeta Sikka, and Arjun Singh Rawat</a:t>
                      </a:r>
                      <a:br>
                        <a:rPr lang="en-IN" sz="1600" b="0" dirty="0">
                          <a:latin typeface="Times New Roman" panose="02020603050405020304" pitchFamily="18" charset="0"/>
                          <a:cs typeface="Times New Roman" panose="02020603050405020304" pitchFamily="18" charset="0"/>
                        </a:rPr>
                      </a:b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DINOv2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ViT</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-B/14 encoder, lightweight classifier head (dense layers with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ReLU</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and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Softmax</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and Adam optimizer</a:t>
                      </a:r>
                      <a:endParaRPr lang="en-IN"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T="45721" marB="45721" anchor="ctr"/>
                </a:tc>
                <a:tc>
                  <a:txBody>
                    <a:bodyPr/>
                    <a:lstStyle/>
                    <a:p>
                      <a:pPr algn="ct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It uses a frozen pre-trained Vision Transformer (DINOv2) with a lightweight classification head to highly accurately and efficiently categorize ten distinct gastrointestinal abnormalities from video capsule endoscopy images without the need for extensive fine-tuning</a:t>
                      </a:r>
                      <a:br>
                        <a:rPr lang="en-IN" sz="1600" b="0" dirty="0">
                          <a:latin typeface="Times New Roman" panose="02020603050405020304" pitchFamily="18" charset="0"/>
                          <a:cs typeface="Times New Roman" panose="02020603050405020304" pitchFamily="18" charset="0"/>
                        </a:rPr>
                      </a:b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algn="ctr"/>
                      <a:r>
                        <a:rPr lang="en-US" sz="1600" b="0" dirty="0">
                          <a:latin typeface="Times New Roman" panose="02020603050405020304" pitchFamily="18" charset="0"/>
                          <a:cs typeface="Times New Roman" panose="02020603050405020304" pitchFamily="18" charset="0"/>
                        </a:rPr>
                        <a:t>93.31%</a:t>
                      </a:r>
                      <a:endParaRPr lang="en-IN" sz="1600" b="0" dirty="0">
                        <a:latin typeface="Times New Roman" panose="02020603050405020304" pitchFamily="18" charset="0"/>
                        <a:cs typeface="Times New Roman" panose="02020603050405020304" pitchFamily="18" charset="0"/>
                      </a:endParaRPr>
                    </a:p>
                  </a:txBody>
                  <a:tcPr marT="45721" marB="45721" anchor="ctr"/>
                </a:tc>
                <a:extLst>
                  <a:ext uri="{0D108BD9-81ED-4DB2-BD59-A6C34878D82A}">
                    <a16:rowId xmlns:a16="http://schemas.microsoft.com/office/drawing/2014/main" val="1471610887"/>
                  </a:ext>
                </a:extLst>
              </a:tr>
              <a:tr h="20693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i="0" u="none" strike="noStrike" dirty="0">
                          <a:solidFill>
                            <a:srgbClr val="1F1F1F"/>
                          </a:solidFill>
                          <a:effectLst/>
                          <a:latin typeface="Times New Roman" panose="02020603050405020304" pitchFamily="18" charset="0"/>
                          <a:cs typeface="Times New Roman" panose="02020603050405020304" pitchFamily="18" charset="0"/>
                        </a:rPr>
                        <a:t>A Novel Random Forest-SMOTE Framework With Polynomial Feature Engineering for Early Detection of Gastrointestinal Disorders</a:t>
                      </a:r>
                    </a:p>
                  </a:txBody>
                  <a:tcPr marT="45721" marB="45721" anchor="ctr"/>
                </a:tc>
                <a:tc>
                  <a:txBody>
                    <a:bodyPr/>
                    <a:lstStyle/>
                    <a:p>
                      <a:pPr algn="ctr"/>
                      <a:r>
                        <a:rPr lang="en-US" sz="1600" dirty="0">
                          <a:latin typeface="Times New Roman" panose="02020603050405020304" pitchFamily="18" charset="0"/>
                          <a:cs typeface="Times New Roman" panose="02020603050405020304" pitchFamily="18" charset="0"/>
                        </a:rPr>
                        <a:t>2025</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ct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Parvez Rahi, Mohammad Rashid Hussain, Salem Alqahtani, Mohammad Husain, Ajay Pal Singh, and Inderjeet Singh</a:t>
                      </a:r>
                      <a:endParaRPr lang="en-IN" sz="1600" b="0" dirty="0">
                        <a:latin typeface="Times New Roman" panose="02020603050405020304" pitchFamily="18" charset="0"/>
                        <a:cs typeface="Times New Roman" panose="02020603050405020304" pitchFamily="18" charset="0"/>
                      </a:endParaRPr>
                    </a:p>
                  </a:txBody>
                  <a:tcPr marT="45721" marB="4572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strike="noStrike" dirty="0">
                          <a:solidFill>
                            <a:srgbClr val="1F1F1F"/>
                          </a:solidFill>
                          <a:effectLst/>
                          <a:latin typeface="Times New Roman" panose="02020603050405020304" pitchFamily="18" charset="0"/>
                          <a:cs typeface="Times New Roman" panose="02020603050405020304" pitchFamily="18" charset="0"/>
                        </a:rPr>
                        <a:t>Random Forest (RF), Synthetic Minority Oversampling Techni-</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que</a:t>
                      </a:r>
                      <a:r>
                        <a:rPr lang="en-US" sz="1600" b="0" i="0" u="none" strike="noStrike" dirty="0">
                          <a:solidFill>
                            <a:srgbClr val="1F1F1F"/>
                          </a:solidFill>
                          <a:effectLst/>
                          <a:latin typeface="Times New Roman" panose="02020603050405020304" pitchFamily="18" charset="0"/>
                          <a:cs typeface="Times New Roman" panose="02020603050405020304" pitchFamily="18" charset="0"/>
                        </a:rPr>
                        <a:t>(SMOTE), </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GridSearchCV</a:t>
                      </a:r>
                      <a:r>
                        <a:rPr lang="en-US" sz="1600" b="0" i="0" u="none" strike="noStrike" dirty="0">
                          <a:solidFill>
                            <a:srgbClr val="1F1F1F"/>
                          </a:solidFill>
                          <a:effectLst/>
                          <a:latin typeface="Times New Roman" panose="02020603050405020304" pitchFamily="18" charset="0"/>
                          <a:cs typeface="Times New Roman" panose="02020603050405020304" pitchFamily="18" charset="0"/>
                        </a:rPr>
                        <a:t>,  Polynomial Feature Engineer-</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ing</a:t>
                      </a:r>
                      <a:r>
                        <a:rPr lang="en-US" sz="1600" b="0" i="0" u="none" strike="noStrike" dirty="0">
                          <a:solidFill>
                            <a:srgbClr val="1F1F1F"/>
                          </a:solidFill>
                          <a:effectLst/>
                          <a:latin typeface="Times New Roman" panose="02020603050405020304" pitchFamily="18" charset="0"/>
                          <a:cs typeface="Times New Roman" panose="02020603050405020304" pitchFamily="18" charset="0"/>
                        </a:rPr>
                        <a:t>, CNN, </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LightGBM</a:t>
                      </a:r>
                      <a:r>
                        <a:rPr lang="en-US" sz="1600" b="0" i="0" u="none" strike="noStrike" dirty="0">
                          <a:solidFill>
                            <a:srgbClr val="1F1F1F"/>
                          </a:solidFill>
                          <a:effectLst/>
                          <a:latin typeface="Times New Roman" panose="02020603050405020304" pitchFamily="18" charset="0"/>
                          <a:cs typeface="Times New Roman" panose="02020603050405020304" pitchFamily="18" charset="0"/>
                        </a:rPr>
                        <a:t>, and </a:t>
                      </a:r>
                      <a:r>
                        <a:rPr lang="en-US" sz="1600" b="0" i="0" u="none" strike="noStrike" dirty="0" err="1">
                          <a:solidFill>
                            <a:srgbClr val="1F1F1F"/>
                          </a:solidFill>
                          <a:effectLst/>
                          <a:latin typeface="Times New Roman" panose="02020603050405020304" pitchFamily="18" charset="0"/>
                          <a:cs typeface="Times New Roman" panose="02020603050405020304" pitchFamily="18" charset="0"/>
                        </a:rPr>
                        <a:t>TabNet</a:t>
                      </a:r>
                      <a:endParaRPr lang="en-IN"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T="45721" marB="45721" anchor="ctr"/>
                </a:tc>
                <a:tc>
                  <a:txBody>
                    <a:bodyPr/>
                    <a:lstStyle/>
                    <a:p>
                      <a:pPr algn="ct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It introduces a highly accurate, non-invasive system that predicts gastrointestinal diseases based on a patient's tabular clinical, lifestyle, and genetic symptom data rather than relying on images</a:t>
                      </a:r>
                      <a:endParaRPr lang="en-IN" sz="1600" dirty="0">
                        <a:latin typeface="Times New Roman" panose="02020603050405020304" pitchFamily="18" charset="0"/>
                        <a:cs typeface="Times New Roman" panose="02020603050405020304" pitchFamily="18" charset="0"/>
                      </a:endParaRPr>
                    </a:p>
                  </a:txBody>
                  <a:tcPr marT="45721" marB="45721" anchor="ctr"/>
                </a:tc>
                <a:tc>
                  <a:txBody>
                    <a:bodyPr/>
                    <a:lstStyle/>
                    <a:p>
                      <a:pPr algn="ctr"/>
                      <a:r>
                        <a:rPr lang="en-US" sz="1600" dirty="0">
                          <a:latin typeface="Times New Roman" panose="02020603050405020304" pitchFamily="18" charset="0"/>
                          <a:cs typeface="Times New Roman" panose="02020603050405020304" pitchFamily="18" charset="0"/>
                        </a:rPr>
                        <a:t>96.61%</a:t>
                      </a:r>
                      <a:endParaRPr lang="en-IN" sz="1600" dirty="0">
                        <a:latin typeface="Times New Roman" panose="02020603050405020304" pitchFamily="18" charset="0"/>
                        <a:cs typeface="Times New Roman" panose="02020603050405020304" pitchFamily="18" charset="0"/>
                      </a:endParaRPr>
                    </a:p>
                  </a:txBody>
                  <a:tcPr marT="45721" marB="45721" anchor="ctr"/>
                </a:tc>
                <a:extLst>
                  <a:ext uri="{0D108BD9-81ED-4DB2-BD59-A6C34878D82A}">
                    <a16:rowId xmlns:a16="http://schemas.microsoft.com/office/drawing/2014/main" val="509738353"/>
                  </a:ext>
                </a:extLst>
              </a:tr>
            </a:tbl>
          </a:graphicData>
        </a:graphic>
      </p:graphicFrame>
    </p:spTree>
    <p:extLst>
      <p:ext uri="{BB962C8B-B14F-4D97-AF65-F5344CB8AC3E}">
        <p14:creationId xmlns:p14="http://schemas.microsoft.com/office/powerpoint/2010/main" val="264715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551C4-6411-48A3-E617-0305D230C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C9F40-FD45-541D-7C49-C30D20143E5E}"/>
              </a:ext>
            </a:extLst>
          </p:cNvPr>
          <p:cNvSpPr>
            <a:spLocks noGrp="1"/>
          </p:cNvSpPr>
          <p:nvPr>
            <p:ph type="title"/>
          </p:nvPr>
        </p:nvSpPr>
        <p:spPr/>
        <p:txBody>
          <a:bodyPr>
            <a:normAutofit/>
          </a:bodyPr>
          <a:lstStyle/>
          <a:p>
            <a:pPr algn="just"/>
            <a:r>
              <a:rPr lang="en-US" sz="3600" dirty="0">
                <a:latin typeface="Times New Roman" panose="02020603050405020304" pitchFamily="18" charset="0"/>
                <a:cs typeface="Times New Roman" panose="02020603050405020304" pitchFamily="18" charset="0"/>
              </a:rPr>
              <a:t>DATASET INFORMATION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141C52-C2C5-1733-C4A3-EB4020F64E9F}"/>
              </a:ext>
            </a:extLst>
          </p:cNvPr>
          <p:cNvSpPr>
            <a:spLocks noGrp="1"/>
          </p:cNvSpPr>
          <p:nvPr>
            <p:ph idx="1"/>
          </p:nvPr>
        </p:nvSpPr>
        <p:spPr>
          <a:xfrm>
            <a:off x="1451580" y="1853755"/>
            <a:ext cx="9603275" cy="4199725"/>
          </a:xfrm>
        </p:spPr>
        <p:txBody>
          <a:bodyPr>
            <a:noAutofit/>
          </a:bodyPr>
          <a:lstStyle/>
          <a:p>
            <a:pPr algn="just">
              <a:lnSpc>
                <a:spcPct val="150000"/>
              </a:lnSpc>
            </a:pPr>
            <a:r>
              <a:rPr lang="en-US" dirty="0" err="1">
                <a:latin typeface="Times New Roman" panose="02020603050405020304" pitchFamily="18" charset="0"/>
                <a:cs typeface="Times New Roman" panose="02020603050405020304" pitchFamily="18" charset="0"/>
              </a:rPr>
              <a:t>GastroVision</a:t>
            </a:r>
            <a:r>
              <a:rPr lang="en-US" dirty="0">
                <a:latin typeface="Times New Roman" panose="02020603050405020304" pitchFamily="18" charset="0"/>
                <a:cs typeface="Times New Roman" panose="02020603050405020304" pitchFamily="18" charset="0"/>
              </a:rPr>
              <a:t> Dataset</a:t>
            </a:r>
          </a:p>
          <a:p>
            <a:pPr algn="just">
              <a:lnSpc>
                <a:spcPct val="150000"/>
              </a:lnSpc>
            </a:pPr>
            <a:r>
              <a:rPr lang="en-US" dirty="0">
                <a:latin typeface="Times New Roman" panose="02020603050405020304" pitchFamily="18" charset="0"/>
                <a:cs typeface="Times New Roman" panose="02020603050405020304" pitchFamily="18" charset="0"/>
              </a:rPr>
              <a:t>8,000 GI endoscopy images with 27 classes</a:t>
            </a:r>
          </a:p>
          <a:p>
            <a:pPr algn="just">
              <a:lnSpc>
                <a:spcPct val="150000"/>
              </a:lnSpc>
            </a:pPr>
            <a:r>
              <a:rPr lang="en-US" dirty="0">
                <a:latin typeface="Times New Roman" panose="02020603050405020304" pitchFamily="18" charset="0"/>
                <a:cs typeface="Times New Roman" panose="02020603050405020304" pitchFamily="18" charset="0"/>
              </a:rPr>
              <a:t>Covers upper and lower GI tract findings</a:t>
            </a:r>
          </a:p>
          <a:p>
            <a:pPr algn="just">
              <a:lnSpc>
                <a:spcPct val="150000"/>
              </a:lnSpc>
            </a:pPr>
            <a:r>
              <a:rPr lang="en-US" dirty="0">
                <a:latin typeface="Times New Roman" panose="02020603050405020304" pitchFamily="18" charset="0"/>
                <a:cs typeface="Times New Roman" panose="02020603050405020304" pitchFamily="18" charset="0"/>
              </a:rPr>
              <a:t>Includes normal and pathological conditions</a:t>
            </a:r>
          </a:p>
          <a:p>
            <a:pPr algn="just">
              <a:lnSpc>
                <a:spcPct val="150000"/>
              </a:lnSpc>
            </a:pPr>
            <a:r>
              <a:rPr lang="en-US" dirty="0">
                <a:latin typeface="Times New Roman" panose="02020603050405020304" pitchFamily="18" charset="0"/>
                <a:cs typeface="Times New Roman" panose="02020603050405020304" pitchFamily="18" charset="0"/>
              </a:rPr>
              <a:t>Images collected from hospitals in Norway and Sweden</a:t>
            </a:r>
          </a:p>
          <a:p>
            <a:pPr algn="just">
              <a:lnSpc>
                <a:spcPct val="150000"/>
              </a:lnSpc>
            </a:pPr>
            <a:r>
              <a:rPr lang="en-US" dirty="0">
                <a:latin typeface="Times New Roman" panose="02020603050405020304" pitchFamily="18" charset="0"/>
                <a:cs typeface="Times New Roman" panose="02020603050405020304" pitchFamily="18" charset="0"/>
              </a:rPr>
              <a:t>Expert-annotated by GI endoscopists</a:t>
            </a:r>
          </a:p>
          <a:p>
            <a:pPr algn="just">
              <a:lnSpc>
                <a:spcPct val="150000"/>
              </a:lnSpc>
            </a:pPr>
            <a:r>
              <a:rPr lang="en-US" dirty="0">
                <a:latin typeface="Times New Roman" panose="02020603050405020304" pitchFamily="18" charset="0"/>
                <a:cs typeface="Times New Roman" panose="02020603050405020304" pitchFamily="18" charset="0"/>
              </a:rPr>
              <a:t>Used for automated GI disease classification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8410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9C1B-4FC7-BA38-0699-406BB39DC643}"/>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CONCLUSION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22864F-B798-985B-21A2-98E4CBBF1515}"/>
              </a:ext>
            </a:extLst>
          </p:cNvPr>
          <p:cNvSpPr>
            <a:spLocks noGrp="1"/>
          </p:cNvSpPr>
          <p:nvPr>
            <p:ph idx="1"/>
          </p:nvPr>
        </p:nvSpPr>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hybrid CNN–Transformer model provides an effective approach for gastrointestinal disease classification using capsule endoscopy images. By combining local and global feature extraction, it overcomes the limitations of the existing single-model approach. The use of the </a:t>
            </a:r>
            <a:r>
              <a:rPr lang="en-US">
                <a:latin typeface="Times New Roman" panose="02020603050405020304" pitchFamily="18" charset="0"/>
                <a:cs typeface="Times New Roman" panose="02020603050405020304" pitchFamily="18" charset="0"/>
              </a:rPr>
              <a:t>Gastro Vision dataset </a:t>
            </a:r>
            <a:r>
              <a:rPr lang="en-US" dirty="0">
                <a:latin typeface="Times New Roman" panose="02020603050405020304" pitchFamily="18" charset="0"/>
                <a:cs typeface="Times New Roman" panose="02020603050405020304" pitchFamily="18" charset="0"/>
              </a:rPr>
              <a:t>enables reliable model training and evaluation. This approach is expected to improve disease classification and support faster, more accurate clinical diagnosis.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5884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C28BD9B-ED78-EA16-4774-EAC14716ACD1}"/>
              </a:ext>
            </a:extLst>
          </p:cNvPr>
          <p:cNvSpPr txBox="1"/>
          <p:nvPr/>
        </p:nvSpPr>
        <p:spPr>
          <a:xfrm>
            <a:off x="2314937" y="2505670"/>
            <a:ext cx="8518967" cy="1569660"/>
          </a:xfrm>
          <a:prstGeom prst="rect">
            <a:avLst/>
          </a:prstGeom>
          <a:noFill/>
        </p:spPr>
        <p:txBody>
          <a:bodyPr wrap="square" rtlCol="0">
            <a:spAutoFit/>
          </a:bodyPr>
          <a:lstStyle/>
          <a:p>
            <a:r>
              <a:rPr lang="en-US" sz="9600" dirty="0">
                <a:latin typeface="Times New Roman" panose="02020603050405020304" pitchFamily="18" charset="0"/>
                <a:cs typeface="Times New Roman" panose="02020603050405020304" pitchFamily="18" charset="0"/>
              </a:rPr>
              <a:t>Thank you..</a:t>
            </a:r>
            <a:endParaRPr lang="en-IN" sz="9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703403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2527</TotalTime>
  <Words>1130</Words>
  <Application>Microsoft Office PowerPoint</Application>
  <PresentationFormat>Widescreen</PresentationFormat>
  <Paragraphs>109</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Cambria Math</vt:lpstr>
      <vt:lpstr>Gill Sans MT</vt:lpstr>
      <vt:lpstr>Times New Roman</vt:lpstr>
      <vt:lpstr>Gallery</vt:lpstr>
      <vt:lpstr>Title: Automated Classification Of   Gastrointestinal Tract Diseases Using Hybrid Model</vt:lpstr>
      <vt:lpstr>    domain:</vt:lpstr>
      <vt:lpstr>  ABSTRACT:</vt:lpstr>
      <vt:lpstr>System design </vt:lpstr>
      <vt:lpstr>Implementation</vt:lpstr>
      <vt:lpstr> EXISTING SYSTEM:</vt:lpstr>
      <vt:lpstr>DRAWBACKS OF EXISTING SYSTEM:</vt:lpstr>
      <vt:lpstr>PRoPOSED SYSTEM:</vt:lpstr>
      <vt:lpstr>ADVANTAGES OF PRoPOSED SYSTEM:</vt:lpstr>
      <vt:lpstr>ADVANTAGES OF PRoPOSED SYSTEM:</vt:lpstr>
      <vt:lpstr>Literature survey</vt:lpstr>
      <vt:lpstr>Literature survey</vt:lpstr>
      <vt:lpstr>DATASET INFORMATION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Akireddy Varaprasad</dc:creator>
  <cp:lastModifiedBy>jyothi swarupa</cp:lastModifiedBy>
  <cp:revision>31</cp:revision>
  <dcterms:created xsi:type="dcterms:W3CDTF">2026-07-12T14:48:06Z</dcterms:created>
  <dcterms:modified xsi:type="dcterms:W3CDTF">2026-09-29T15:56:29Z</dcterms:modified>
</cp:coreProperties>
</file>