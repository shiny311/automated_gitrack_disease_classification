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embeddedFontLst>
    <p:embeddedFont>
      <p:font typeface="Gill Sans"/>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gslWhUSAW0/rrM/AHGXOmnbJx4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7E1E49C-4630-47F6-959F-E29E5168019A}">
  <a:tblStyle styleId="{A7E1E49C-4630-47F6-959F-E29E5168019A}" styleName="Table_0">
    <a:wholeTbl>
      <a:tcTxStyle b="off" i="off">
        <a:font>
          <a:latin typeface="Gill Sans MT"/>
          <a:ea typeface="Gill Sans MT"/>
          <a:cs typeface="Gill Sans M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3E7E8"/>
          </a:solidFill>
        </a:fill>
      </a:tcStyle>
    </a:wholeTbl>
    <a:band1H>
      <a:tcTxStyle/>
      <a:tcStyle>
        <a:fill>
          <a:solidFill>
            <a:srgbClr val="E5CBCD"/>
          </a:solidFill>
        </a:fill>
      </a:tcStyle>
    </a:band1H>
    <a:band2H>
      <a:tcTxStyle/>
    </a:band2H>
    <a:band1V>
      <a:tcTxStyle/>
      <a:tcStyle>
        <a:fill>
          <a:solidFill>
            <a:srgbClr val="E5CBCD"/>
          </a:solidFill>
        </a:fill>
      </a:tcStyle>
    </a:band1V>
    <a:band2V>
      <a:tcTxStyle/>
    </a:band2V>
    <a:lastCol>
      <a:tcTxStyle b="on" i="off">
        <a:font>
          <a:latin typeface="Gill Sans MT"/>
          <a:ea typeface="Gill Sans MT"/>
          <a:cs typeface="Gill Sans MT"/>
        </a:font>
        <a:schemeClr val="lt1"/>
      </a:tcTxStyle>
      <a:tcStyle>
        <a:fill>
          <a:solidFill>
            <a:schemeClr val="accent1"/>
          </a:solidFill>
        </a:fill>
      </a:tcStyle>
    </a:lastCol>
    <a:firstCol>
      <a:tcTxStyle b="on" i="off">
        <a:font>
          <a:latin typeface="Gill Sans MT"/>
          <a:ea typeface="Gill Sans MT"/>
          <a:cs typeface="Gill Sans MT"/>
        </a:font>
        <a:schemeClr val="lt1"/>
      </a:tcTxStyle>
      <a:tcStyle>
        <a:fill>
          <a:solidFill>
            <a:schemeClr val="accent1"/>
          </a:solidFill>
        </a:fill>
      </a:tcStyle>
    </a:firstCol>
    <a:lastRow>
      <a:tcTxStyle b="on" i="off">
        <a:font>
          <a:latin typeface="Gill Sans MT"/>
          <a:ea typeface="Gill Sans MT"/>
          <a:cs typeface="Gill Sans MT"/>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Gill Sans MT"/>
          <a:ea typeface="Gill Sans MT"/>
          <a:cs typeface="Gill Sans MT"/>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GillSans-bold.fntdata"/><Relationship Id="rId6" Type="http://schemas.openxmlformats.org/officeDocument/2006/relationships/slide" Target="slides/slide1.xml"/><Relationship Id="rId18" Type="http://schemas.openxmlformats.org/officeDocument/2006/relationships/font" Target="fonts/GillSans-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1"/>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1"/>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49"/>
            <a:ext cx="5486400" cy="3600451"/>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notes"/>
          <p:cNvSpPr txBox="1"/>
          <p:nvPr>
            <p:ph idx="1" type="body"/>
          </p:nvPr>
        </p:nvSpPr>
        <p:spPr>
          <a:xfrm>
            <a:off x="685800" y="4400549"/>
            <a:ext cx="5486400" cy="3600451"/>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685800" y="4400549"/>
            <a:ext cx="5486400" cy="3600451"/>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400549"/>
            <a:ext cx="5486400" cy="3600451"/>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p:nvPr>
            <p:ph idx="2" type="sldImg"/>
          </p:nvPr>
        </p:nvSpPr>
        <p:spPr>
          <a:xfrm>
            <a:off x="687388" y="1143000"/>
            <a:ext cx="5484812"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4:notes"/>
          <p:cNvSpPr txBox="1"/>
          <p:nvPr>
            <p:ph idx="1" type="body"/>
          </p:nvPr>
        </p:nvSpPr>
        <p:spPr>
          <a:xfrm>
            <a:off x="685800" y="4400549"/>
            <a:ext cx="5486400" cy="360045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txBox="1"/>
          <p:nvPr>
            <p:ph idx="1" type="body"/>
          </p:nvPr>
        </p:nvSpPr>
        <p:spPr>
          <a:xfrm>
            <a:off x="685800" y="4400549"/>
            <a:ext cx="5486400" cy="3600451"/>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txBox="1"/>
          <p:nvPr>
            <p:ph idx="1" type="body"/>
          </p:nvPr>
        </p:nvSpPr>
        <p:spPr>
          <a:xfrm>
            <a:off x="685800" y="4400549"/>
            <a:ext cx="5486400" cy="3600451"/>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7:notes"/>
          <p:cNvSpPr txBox="1"/>
          <p:nvPr>
            <p:ph idx="1" type="body"/>
          </p:nvPr>
        </p:nvSpPr>
        <p:spPr>
          <a:xfrm>
            <a:off x="685800" y="4400549"/>
            <a:ext cx="5486400" cy="3600451"/>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txBox="1"/>
          <p:nvPr>
            <p:ph idx="1" type="body"/>
          </p:nvPr>
        </p:nvSpPr>
        <p:spPr>
          <a:xfrm>
            <a:off x="685800" y="4400549"/>
            <a:ext cx="5486400" cy="3600451"/>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txBox="1"/>
          <p:nvPr>
            <p:ph idx="1" type="body"/>
          </p:nvPr>
        </p:nvSpPr>
        <p:spPr>
          <a:xfrm>
            <a:off x="685800" y="4400549"/>
            <a:ext cx="5486400" cy="3600451"/>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0:notes"/>
          <p:cNvSpPr txBox="1"/>
          <p:nvPr>
            <p:ph idx="1" type="body"/>
          </p:nvPr>
        </p:nvSpPr>
        <p:spPr>
          <a:xfrm>
            <a:off x="685800" y="4400549"/>
            <a:ext cx="5486400" cy="3600451"/>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1:notes"/>
          <p:cNvSpPr txBox="1"/>
          <p:nvPr>
            <p:ph idx="1" type="body"/>
          </p:nvPr>
        </p:nvSpPr>
        <p:spPr>
          <a:xfrm>
            <a:off x="685800" y="4400549"/>
            <a:ext cx="5486400" cy="3600451"/>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2:notes"/>
          <p:cNvSpPr txBox="1"/>
          <p:nvPr>
            <p:ph idx="1" type="body"/>
          </p:nvPr>
        </p:nvSpPr>
        <p:spPr>
          <a:xfrm>
            <a:off x="685800" y="4400549"/>
            <a:ext cx="5486400" cy="3600451"/>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14"/>
          <p:cNvSpPr txBox="1"/>
          <p:nvPr>
            <p:ph type="ctrTitle"/>
          </p:nvPr>
        </p:nvSpPr>
        <p:spPr>
          <a:xfrm>
            <a:off x="2417779" y="802298"/>
            <a:ext cx="8637074" cy="2541431"/>
          </a:xfrm>
          <a:prstGeom prst="rect">
            <a:avLst/>
          </a:prstGeom>
          <a:noFill/>
          <a:ln>
            <a:noFill/>
          </a:ln>
        </p:spPr>
        <p:txBody>
          <a:bodyPr anchorCtr="0" anchor="b" bIns="0" lIns="91425" spcFirstLastPara="1" rIns="91425" wrap="square" tIns="45700">
            <a:normAutofit/>
          </a:bodyPr>
          <a:lstStyle>
            <a:lvl1pPr lvl="0" algn="l">
              <a:lnSpc>
                <a:spcPct val="90000"/>
              </a:lnSpc>
              <a:spcBef>
                <a:spcPts val="0"/>
              </a:spcBef>
              <a:spcAft>
                <a:spcPts val="0"/>
              </a:spcAft>
              <a:buClr>
                <a:schemeClr val="dk1"/>
              </a:buClr>
              <a:buSzPts val="6601"/>
              <a:buFont typeface="Gill Sans"/>
              <a:buNone/>
              <a:defRPr sz="660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4"/>
          <p:cNvSpPr txBox="1"/>
          <p:nvPr>
            <p:ph idx="1" type="subTitle"/>
          </p:nvPr>
        </p:nvSpPr>
        <p:spPr>
          <a:xfrm>
            <a:off x="2417780" y="3531205"/>
            <a:ext cx="8637072" cy="977621"/>
          </a:xfrm>
          <a:prstGeom prst="rect">
            <a:avLst/>
          </a:prstGeom>
          <a:noFill/>
          <a:ln>
            <a:noFill/>
          </a:ln>
        </p:spPr>
        <p:txBody>
          <a:bodyPr anchorCtr="0" anchor="t" bIns="91425" lIns="91425" spcFirstLastPara="1" rIns="91425" wrap="square" tIns="91425">
            <a:normAutofit/>
          </a:bodyPr>
          <a:lstStyle>
            <a:lvl1pPr lvl="0" algn="l">
              <a:lnSpc>
                <a:spcPct val="120000"/>
              </a:lnSpc>
              <a:spcBef>
                <a:spcPts val="1001"/>
              </a:spcBef>
              <a:spcAft>
                <a:spcPts val="0"/>
              </a:spcAft>
              <a:buSzPts val="1801"/>
              <a:buNone/>
              <a:defRPr b="0" sz="1801" cap="none">
                <a:solidFill>
                  <a:schemeClr val="dk1"/>
                </a:solidFill>
              </a:defRPr>
            </a:lvl1pPr>
            <a:lvl2pPr lvl="1" algn="ctr">
              <a:lnSpc>
                <a:spcPct val="120000"/>
              </a:lnSpc>
              <a:spcBef>
                <a:spcPts val="500"/>
              </a:spcBef>
              <a:spcAft>
                <a:spcPts val="0"/>
              </a:spcAft>
              <a:buSzPts val="1801"/>
              <a:buNone/>
              <a:defRPr sz="1801"/>
            </a:lvl2pPr>
            <a:lvl3pPr lvl="2" algn="ctr">
              <a:lnSpc>
                <a:spcPct val="120000"/>
              </a:lnSpc>
              <a:spcBef>
                <a:spcPts val="500"/>
              </a:spcBef>
              <a:spcAft>
                <a:spcPts val="0"/>
              </a:spcAft>
              <a:buSzPts val="1801"/>
              <a:buNone/>
              <a:defRPr sz="1801"/>
            </a:lvl3pPr>
            <a:lvl4pPr lvl="3" algn="ctr">
              <a:lnSpc>
                <a:spcPct val="120000"/>
              </a:lnSpc>
              <a:spcBef>
                <a:spcPts val="500"/>
              </a:spcBef>
              <a:spcAft>
                <a:spcPts val="0"/>
              </a:spcAft>
              <a:buSzPts val="1600"/>
              <a:buNone/>
              <a:defRPr sz="1600"/>
            </a:lvl4pPr>
            <a:lvl5pPr lvl="4" algn="ctr">
              <a:lnSpc>
                <a:spcPct val="120000"/>
              </a:lnSpc>
              <a:spcBef>
                <a:spcPts val="500"/>
              </a:spcBef>
              <a:spcAft>
                <a:spcPts val="0"/>
              </a:spcAft>
              <a:buSzPts val="1600"/>
              <a:buNone/>
              <a:defRPr sz="1600"/>
            </a:lvl5pPr>
            <a:lvl6pPr lvl="5" algn="ctr">
              <a:lnSpc>
                <a:spcPct val="120000"/>
              </a:lnSpc>
              <a:spcBef>
                <a:spcPts val="500"/>
              </a:spcBef>
              <a:spcAft>
                <a:spcPts val="0"/>
              </a:spcAft>
              <a:buSzPts val="1600"/>
              <a:buNone/>
              <a:defRPr sz="1600"/>
            </a:lvl6pPr>
            <a:lvl7pPr lvl="6" algn="ctr">
              <a:lnSpc>
                <a:spcPct val="120000"/>
              </a:lnSpc>
              <a:spcBef>
                <a:spcPts val="500"/>
              </a:spcBef>
              <a:spcAft>
                <a:spcPts val="0"/>
              </a:spcAft>
              <a:buSzPts val="1600"/>
              <a:buNone/>
              <a:defRPr sz="1600"/>
            </a:lvl7pPr>
            <a:lvl8pPr lvl="7" algn="ctr">
              <a:lnSpc>
                <a:spcPct val="120000"/>
              </a:lnSpc>
              <a:spcBef>
                <a:spcPts val="500"/>
              </a:spcBef>
              <a:spcAft>
                <a:spcPts val="0"/>
              </a:spcAft>
              <a:buSzPts val="1600"/>
              <a:buNone/>
              <a:defRPr sz="1600"/>
            </a:lvl8pPr>
            <a:lvl9pPr lvl="8" algn="ctr">
              <a:lnSpc>
                <a:spcPct val="120000"/>
              </a:lnSpc>
              <a:spcBef>
                <a:spcPts val="500"/>
              </a:spcBef>
              <a:spcAft>
                <a:spcPts val="0"/>
              </a:spcAft>
              <a:buSzPts val="1600"/>
              <a:buNone/>
              <a:defRPr sz="1600"/>
            </a:lvl9pPr>
          </a:lstStyle>
          <a:p/>
        </p:txBody>
      </p:sp>
      <p:sp>
        <p:nvSpPr>
          <p:cNvPr id="21" name="Google Shape;21;p14"/>
          <p:cNvSpPr txBox="1"/>
          <p:nvPr>
            <p:ph idx="10" type="dt"/>
          </p:nvPr>
        </p:nvSpPr>
        <p:spPr>
          <a:xfrm>
            <a:off x="7554139" y="330371"/>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4"/>
          <p:cNvSpPr txBox="1"/>
          <p:nvPr>
            <p:ph idx="11" type="ftr"/>
          </p:nvPr>
        </p:nvSpPr>
        <p:spPr>
          <a:xfrm>
            <a:off x="2416502" y="329308"/>
            <a:ext cx="4973915"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4"/>
          <p:cNvSpPr txBox="1"/>
          <p:nvPr>
            <p:ph idx="12" type="sldNum"/>
          </p:nvPr>
        </p:nvSpPr>
        <p:spPr>
          <a:xfrm>
            <a:off x="1437664"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cxnSp>
        <p:nvCxnSpPr>
          <p:cNvPr id="24" name="Google Shape;24;p14"/>
          <p:cNvCxnSpPr/>
          <p:nvPr/>
        </p:nvCxnSpPr>
        <p:spPr>
          <a:xfrm>
            <a:off x="2417780" y="3528542"/>
            <a:ext cx="863707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5"/>
          <p:cNvSpPr txBox="1"/>
          <p:nvPr>
            <p:ph type="title"/>
          </p:nvPr>
        </p:nvSpPr>
        <p:spPr>
          <a:xfrm>
            <a:off x="1451580" y="804520"/>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5"/>
          <p:cNvSpPr txBox="1"/>
          <p:nvPr>
            <p:ph idx="1" type="body"/>
          </p:nvPr>
        </p:nvSpPr>
        <p:spPr>
          <a:xfrm>
            <a:off x="1451580" y="2015733"/>
            <a:ext cx="9603275" cy="3450613"/>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1"/>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28" name="Google Shape;28;p15"/>
          <p:cNvSpPr txBox="1"/>
          <p:nvPr>
            <p:ph idx="10" type="dt"/>
          </p:nvPr>
        </p:nvSpPr>
        <p:spPr>
          <a:xfrm>
            <a:off x="7554139" y="330371"/>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5"/>
          <p:cNvSpPr txBox="1"/>
          <p:nvPr>
            <p:ph idx="11" type="ftr"/>
          </p:nvPr>
        </p:nvSpPr>
        <p:spPr>
          <a:xfrm>
            <a:off x="1451579" y="329308"/>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5"/>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cxnSp>
        <p:nvCxnSpPr>
          <p:cNvPr id="31" name="Google Shape;31;p15"/>
          <p:cNvCxnSpPr/>
          <p:nvPr/>
        </p:nvCxnSpPr>
        <p:spPr>
          <a:xfrm>
            <a:off x="1453898"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sp>
        <p:nvSpPr>
          <p:cNvPr id="33" name="Google Shape;33;p16"/>
          <p:cNvSpPr txBox="1"/>
          <p:nvPr>
            <p:ph type="title"/>
          </p:nvPr>
        </p:nvSpPr>
        <p:spPr>
          <a:xfrm>
            <a:off x="1449218" y="804890"/>
            <a:ext cx="9605636" cy="105930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6"/>
          <p:cNvSpPr txBox="1"/>
          <p:nvPr>
            <p:ph idx="1" type="body"/>
          </p:nvPr>
        </p:nvSpPr>
        <p:spPr>
          <a:xfrm>
            <a:off x="1447332" y="2010879"/>
            <a:ext cx="4645152" cy="344859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1"/>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35" name="Google Shape;35;p16"/>
          <p:cNvSpPr txBox="1"/>
          <p:nvPr>
            <p:ph idx="2" type="body"/>
          </p:nvPr>
        </p:nvSpPr>
        <p:spPr>
          <a:xfrm>
            <a:off x="6413771" y="2017343"/>
            <a:ext cx="4645152" cy="344152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1"/>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36" name="Google Shape;36;p16"/>
          <p:cNvSpPr txBox="1"/>
          <p:nvPr>
            <p:ph idx="10" type="dt"/>
          </p:nvPr>
        </p:nvSpPr>
        <p:spPr>
          <a:xfrm>
            <a:off x="7554139" y="330371"/>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6"/>
          <p:cNvSpPr txBox="1"/>
          <p:nvPr>
            <p:ph idx="11" type="ftr"/>
          </p:nvPr>
        </p:nvSpPr>
        <p:spPr>
          <a:xfrm>
            <a:off x="1451579" y="329308"/>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cxnSp>
        <p:nvCxnSpPr>
          <p:cNvPr id="39" name="Google Shape;39;p16"/>
          <p:cNvCxnSpPr/>
          <p:nvPr/>
        </p:nvCxnSpPr>
        <p:spPr>
          <a:xfrm>
            <a:off x="1453898"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0" name="Shape 40"/>
        <p:cNvGrpSpPr/>
        <p:nvPr/>
      </p:nvGrpSpPr>
      <p:grpSpPr>
        <a:xfrm>
          <a:off x="0" y="0"/>
          <a:ext cx="0" cy="0"/>
          <a:chOff x="0" y="0"/>
          <a:chExt cx="0" cy="0"/>
        </a:xfrm>
      </p:grpSpPr>
      <p:sp>
        <p:nvSpPr>
          <p:cNvPr id="41" name="Google Shape;41;p17"/>
          <p:cNvSpPr txBox="1"/>
          <p:nvPr>
            <p:ph idx="10" type="dt"/>
          </p:nvPr>
        </p:nvSpPr>
        <p:spPr>
          <a:xfrm>
            <a:off x="7554139" y="330371"/>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7"/>
          <p:cNvSpPr txBox="1"/>
          <p:nvPr>
            <p:ph idx="11" type="ftr"/>
          </p:nvPr>
        </p:nvSpPr>
        <p:spPr>
          <a:xfrm>
            <a:off x="1451579" y="329308"/>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7"/>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 name="Shape 44"/>
        <p:cNvGrpSpPr/>
        <p:nvPr/>
      </p:nvGrpSpPr>
      <p:grpSpPr>
        <a:xfrm>
          <a:off x="0" y="0"/>
          <a:ext cx="0" cy="0"/>
          <a:chOff x="0" y="0"/>
          <a:chExt cx="0" cy="0"/>
        </a:xfrm>
      </p:grpSpPr>
      <p:sp>
        <p:nvSpPr>
          <p:cNvPr id="45" name="Google Shape;45;p18"/>
          <p:cNvSpPr txBox="1"/>
          <p:nvPr>
            <p:ph type="title"/>
          </p:nvPr>
        </p:nvSpPr>
        <p:spPr>
          <a:xfrm>
            <a:off x="1454240" y="1756130"/>
            <a:ext cx="8643154" cy="18879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18"/>
          <p:cNvSpPr txBox="1"/>
          <p:nvPr>
            <p:ph idx="1" type="body"/>
          </p:nvPr>
        </p:nvSpPr>
        <p:spPr>
          <a:xfrm>
            <a:off x="1454238" y="3806196"/>
            <a:ext cx="8630446" cy="1012929"/>
          </a:xfrm>
          <a:prstGeom prst="rect">
            <a:avLst/>
          </a:prstGeom>
          <a:noFill/>
          <a:ln>
            <a:noFill/>
          </a:ln>
        </p:spPr>
        <p:txBody>
          <a:bodyPr anchorCtr="0" anchor="t" bIns="45700" lIns="91425" spcFirstLastPara="1" rIns="91425" wrap="square" tIns="91425">
            <a:normAutofit/>
          </a:bodyPr>
          <a:lstStyle>
            <a:lvl1pPr indent="-228600" lvl="0" marL="457200" algn="l">
              <a:lnSpc>
                <a:spcPct val="120000"/>
              </a:lnSpc>
              <a:spcBef>
                <a:spcPts val="1001"/>
              </a:spcBef>
              <a:spcAft>
                <a:spcPts val="0"/>
              </a:spcAft>
              <a:buSzPts val="1801"/>
              <a:buNone/>
              <a:defRPr sz="1801">
                <a:solidFill>
                  <a:schemeClr val="dk1"/>
                </a:solidFill>
              </a:defRPr>
            </a:lvl1pPr>
            <a:lvl2pPr indent="-228600" lvl="1" marL="914400" algn="l">
              <a:lnSpc>
                <a:spcPct val="120000"/>
              </a:lnSpc>
              <a:spcBef>
                <a:spcPts val="500"/>
              </a:spcBef>
              <a:spcAft>
                <a:spcPts val="0"/>
              </a:spcAft>
              <a:buSzPts val="1801"/>
              <a:buNone/>
              <a:defRPr sz="1801">
                <a:solidFill>
                  <a:srgbClr val="888888"/>
                </a:solidFill>
              </a:defRPr>
            </a:lvl2pPr>
            <a:lvl3pPr indent="-228600" lvl="2" marL="1371600" algn="l">
              <a:lnSpc>
                <a:spcPct val="120000"/>
              </a:lnSpc>
              <a:spcBef>
                <a:spcPts val="500"/>
              </a:spcBef>
              <a:spcAft>
                <a:spcPts val="0"/>
              </a:spcAft>
              <a:buSzPts val="1801"/>
              <a:buNone/>
              <a:defRPr sz="1801">
                <a:solidFill>
                  <a:srgbClr val="888888"/>
                </a:solidFill>
              </a:defRPr>
            </a:lvl3pPr>
            <a:lvl4pPr indent="-228600" lvl="3" marL="1828800" algn="l">
              <a:lnSpc>
                <a:spcPct val="120000"/>
              </a:lnSpc>
              <a:spcBef>
                <a:spcPts val="500"/>
              </a:spcBef>
              <a:spcAft>
                <a:spcPts val="0"/>
              </a:spcAft>
              <a:buSzPts val="1600"/>
              <a:buNone/>
              <a:defRPr sz="1600">
                <a:solidFill>
                  <a:srgbClr val="888888"/>
                </a:solidFill>
              </a:defRPr>
            </a:lvl4pPr>
            <a:lvl5pPr indent="-228600" lvl="4" marL="2286000" algn="l">
              <a:lnSpc>
                <a:spcPct val="120000"/>
              </a:lnSpc>
              <a:spcBef>
                <a:spcPts val="500"/>
              </a:spcBef>
              <a:spcAft>
                <a:spcPts val="0"/>
              </a:spcAft>
              <a:buSzPts val="1600"/>
              <a:buNone/>
              <a:defRPr sz="1600">
                <a:solidFill>
                  <a:srgbClr val="888888"/>
                </a:solidFill>
              </a:defRPr>
            </a:lvl5pPr>
            <a:lvl6pPr indent="-228600" lvl="5" marL="2743200" algn="l">
              <a:lnSpc>
                <a:spcPct val="120000"/>
              </a:lnSpc>
              <a:spcBef>
                <a:spcPts val="500"/>
              </a:spcBef>
              <a:spcAft>
                <a:spcPts val="0"/>
              </a:spcAft>
              <a:buSzPts val="1600"/>
              <a:buNone/>
              <a:defRPr sz="1600">
                <a:solidFill>
                  <a:srgbClr val="888888"/>
                </a:solidFill>
              </a:defRPr>
            </a:lvl6pPr>
            <a:lvl7pPr indent="-228600" lvl="6" marL="3200400" algn="l">
              <a:lnSpc>
                <a:spcPct val="120000"/>
              </a:lnSpc>
              <a:spcBef>
                <a:spcPts val="500"/>
              </a:spcBef>
              <a:spcAft>
                <a:spcPts val="0"/>
              </a:spcAft>
              <a:buSzPts val="1600"/>
              <a:buNone/>
              <a:defRPr sz="1600">
                <a:solidFill>
                  <a:srgbClr val="888888"/>
                </a:solidFill>
              </a:defRPr>
            </a:lvl7pPr>
            <a:lvl8pPr indent="-228600" lvl="7" marL="3657600" algn="l">
              <a:lnSpc>
                <a:spcPct val="120000"/>
              </a:lnSpc>
              <a:spcBef>
                <a:spcPts val="500"/>
              </a:spcBef>
              <a:spcAft>
                <a:spcPts val="0"/>
              </a:spcAft>
              <a:buSzPts val="1600"/>
              <a:buNone/>
              <a:defRPr sz="1600">
                <a:solidFill>
                  <a:srgbClr val="888888"/>
                </a:solidFill>
              </a:defRPr>
            </a:lvl8pPr>
            <a:lvl9pPr indent="-228600" lvl="8" marL="4114800" algn="l">
              <a:lnSpc>
                <a:spcPct val="120000"/>
              </a:lnSpc>
              <a:spcBef>
                <a:spcPts val="500"/>
              </a:spcBef>
              <a:spcAft>
                <a:spcPts val="0"/>
              </a:spcAft>
              <a:buSzPts val="1600"/>
              <a:buNone/>
              <a:defRPr sz="1600">
                <a:solidFill>
                  <a:srgbClr val="888888"/>
                </a:solidFill>
              </a:defRPr>
            </a:lvl9pPr>
          </a:lstStyle>
          <a:p/>
        </p:txBody>
      </p:sp>
      <p:sp>
        <p:nvSpPr>
          <p:cNvPr id="47" name="Google Shape;47;p18"/>
          <p:cNvSpPr txBox="1"/>
          <p:nvPr>
            <p:ph idx="10" type="dt"/>
          </p:nvPr>
        </p:nvSpPr>
        <p:spPr>
          <a:xfrm>
            <a:off x="7554139" y="330371"/>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1" type="ftr"/>
          </p:nvPr>
        </p:nvSpPr>
        <p:spPr>
          <a:xfrm>
            <a:off x="1451579" y="329308"/>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8"/>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cxnSp>
        <p:nvCxnSpPr>
          <p:cNvPr id="50" name="Google Shape;50;p18"/>
          <p:cNvCxnSpPr/>
          <p:nvPr/>
        </p:nvCxnSpPr>
        <p:spPr>
          <a:xfrm>
            <a:off x="1454238" y="3804985"/>
            <a:ext cx="8630446"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1" name="Shape 51"/>
        <p:cNvGrpSpPr/>
        <p:nvPr/>
      </p:nvGrpSpPr>
      <p:grpSpPr>
        <a:xfrm>
          <a:off x="0" y="0"/>
          <a:ext cx="0" cy="0"/>
          <a:chOff x="0" y="0"/>
          <a:chExt cx="0" cy="0"/>
        </a:xfrm>
      </p:grpSpPr>
      <p:sp>
        <p:nvSpPr>
          <p:cNvPr id="52" name="Google Shape;52;p19"/>
          <p:cNvSpPr txBox="1"/>
          <p:nvPr>
            <p:ph type="title"/>
          </p:nvPr>
        </p:nvSpPr>
        <p:spPr>
          <a:xfrm>
            <a:off x="1447192" y="804163"/>
            <a:ext cx="9607660" cy="1056319"/>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19"/>
          <p:cNvSpPr txBox="1"/>
          <p:nvPr>
            <p:ph idx="1" type="body"/>
          </p:nvPr>
        </p:nvSpPr>
        <p:spPr>
          <a:xfrm>
            <a:off x="1447191" y="2019549"/>
            <a:ext cx="4645152" cy="801943"/>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1"/>
              </a:spcBef>
              <a:spcAft>
                <a:spcPts val="0"/>
              </a:spcAft>
              <a:buSzPts val="2201"/>
              <a:buNone/>
              <a:defRPr b="0" sz="2201" cap="none">
                <a:solidFill>
                  <a:schemeClr val="accent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1"/>
              <a:buNone/>
              <a:defRPr b="1" sz="1801"/>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54" name="Google Shape;54;p19"/>
          <p:cNvSpPr txBox="1"/>
          <p:nvPr>
            <p:ph idx="2" type="body"/>
          </p:nvPr>
        </p:nvSpPr>
        <p:spPr>
          <a:xfrm>
            <a:off x="1447191" y="2824270"/>
            <a:ext cx="4645152" cy="264445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1"/>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55" name="Google Shape;55;p19"/>
          <p:cNvSpPr txBox="1"/>
          <p:nvPr>
            <p:ph idx="3" type="body"/>
          </p:nvPr>
        </p:nvSpPr>
        <p:spPr>
          <a:xfrm>
            <a:off x="6412363" y="2023004"/>
            <a:ext cx="4645152" cy="80223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1"/>
              </a:spcBef>
              <a:spcAft>
                <a:spcPts val="0"/>
              </a:spcAft>
              <a:buSzPts val="2201"/>
              <a:buNone/>
              <a:defRPr b="0" sz="2201" cap="none">
                <a:solidFill>
                  <a:schemeClr val="accent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1"/>
              <a:buNone/>
              <a:defRPr b="1" sz="1801"/>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56" name="Google Shape;56;p19"/>
          <p:cNvSpPr txBox="1"/>
          <p:nvPr>
            <p:ph idx="4" type="body"/>
          </p:nvPr>
        </p:nvSpPr>
        <p:spPr>
          <a:xfrm>
            <a:off x="6412363" y="2821492"/>
            <a:ext cx="4645152" cy="2637371"/>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1"/>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57" name="Google Shape;57;p19"/>
          <p:cNvSpPr txBox="1"/>
          <p:nvPr>
            <p:ph idx="10" type="dt"/>
          </p:nvPr>
        </p:nvSpPr>
        <p:spPr>
          <a:xfrm>
            <a:off x="7554139" y="330371"/>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9"/>
          <p:cNvSpPr txBox="1"/>
          <p:nvPr>
            <p:ph idx="11" type="ftr"/>
          </p:nvPr>
        </p:nvSpPr>
        <p:spPr>
          <a:xfrm>
            <a:off x="1451579" y="329308"/>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cxnSp>
        <p:nvCxnSpPr>
          <p:cNvPr id="60" name="Google Shape;60;p19"/>
          <p:cNvCxnSpPr/>
          <p:nvPr/>
        </p:nvCxnSpPr>
        <p:spPr>
          <a:xfrm>
            <a:off x="1453898"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20"/>
          <p:cNvSpPr txBox="1"/>
          <p:nvPr>
            <p:ph type="title"/>
          </p:nvPr>
        </p:nvSpPr>
        <p:spPr>
          <a:xfrm>
            <a:off x="1451580" y="804520"/>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0"/>
          <p:cNvSpPr txBox="1"/>
          <p:nvPr>
            <p:ph idx="10" type="dt"/>
          </p:nvPr>
        </p:nvSpPr>
        <p:spPr>
          <a:xfrm>
            <a:off x="7554139" y="330371"/>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0"/>
          <p:cNvSpPr txBox="1"/>
          <p:nvPr>
            <p:ph idx="11" type="ftr"/>
          </p:nvPr>
        </p:nvSpPr>
        <p:spPr>
          <a:xfrm>
            <a:off x="1451579" y="329308"/>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0"/>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cxnSp>
        <p:nvCxnSpPr>
          <p:cNvPr id="66" name="Google Shape;66;p20"/>
          <p:cNvCxnSpPr/>
          <p:nvPr/>
        </p:nvCxnSpPr>
        <p:spPr>
          <a:xfrm>
            <a:off x="1453898"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7" name="Shape 67"/>
        <p:cNvGrpSpPr/>
        <p:nvPr/>
      </p:nvGrpSpPr>
      <p:grpSpPr>
        <a:xfrm>
          <a:off x="0" y="0"/>
          <a:ext cx="0" cy="0"/>
          <a:chOff x="0" y="0"/>
          <a:chExt cx="0" cy="0"/>
        </a:xfrm>
      </p:grpSpPr>
      <p:sp>
        <p:nvSpPr>
          <p:cNvPr id="68" name="Google Shape;68;p21"/>
          <p:cNvSpPr txBox="1"/>
          <p:nvPr>
            <p:ph type="title"/>
          </p:nvPr>
        </p:nvSpPr>
        <p:spPr>
          <a:xfrm>
            <a:off x="1444672" y="798974"/>
            <a:ext cx="3273099" cy="224711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Gill Sans"/>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21"/>
          <p:cNvSpPr txBox="1"/>
          <p:nvPr>
            <p:ph idx="1" type="body"/>
          </p:nvPr>
        </p:nvSpPr>
        <p:spPr>
          <a:xfrm>
            <a:off x="5043714" y="798974"/>
            <a:ext cx="6012469" cy="4658826"/>
          </a:xfrm>
          <a:prstGeom prst="rect">
            <a:avLst/>
          </a:prstGeom>
          <a:noFill/>
          <a:ln>
            <a:noFill/>
          </a:ln>
        </p:spPr>
        <p:txBody>
          <a:bodyPr anchorCtr="0" anchor="ctr" bIns="45700" lIns="91425" spcFirstLastPara="1" rIns="91425" wrap="square" tIns="45700">
            <a:normAutofit/>
          </a:bodyPr>
          <a:lstStyle>
            <a:lvl1pPr indent="-342900" lvl="0" marL="457200" algn="l">
              <a:lnSpc>
                <a:spcPct val="120000"/>
              </a:lnSpc>
              <a:spcBef>
                <a:spcPts val="1001"/>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70" name="Google Shape;70;p21"/>
          <p:cNvSpPr txBox="1"/>
          <p:nvPr>
            <p:ph idx="2" type="body"/>
          </p:nvPr>
        </p:nvSpPr>
        <p:spPr>
          <a:xfrm>
            <a:off x="1444673" y="3205492"/>
            <a:ext cx="3275013" cy="2248181"/>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1"/>
              </a:spcBef>
              <a:spcAft>
                <a:spcPts val="0"/>
              </a:spcAft>
              <a:buSzPts val="1600"/>
              <a:buNone/>
              <a:defRPr sz="1600"/>
            </a:lvl1pPr>
            <a:lvl2pPr indent="-228600" lvl="1" marL="914400" algn="l">
              <a:lnSpc>
                <a:spcPct val="120000"/>
              </a:lnSpc>
              <a:spcBef>
                <a:spcPts val="500"/>
              </a:spcBef>
              <a:spcAft>
                <a:spcPts val="0"/>
              </a:spcAft>
              <a:buSzPts val="1401"/>
              <a:buNone/>
              <a:defRPr sz="1401"/>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1"/>
              <a:buNone/>
              <a:defRPr sz="1001"/>
            </a:lvl4pPr>
            <a:lvl5pPr indent="-228600" lvl="4" marL="2286000" algn="l">
              <a:lnSpc>
                <a:spcPct val="120000"/>
              </a:lnSpc>
              <a:spcBef>
                <a:spcPts val="500"/>
              </a:spcBef>
              <a:spcAft>
                <a:spcPts val="0"/>
              </a:spcAft>
              <a:buSzPts val="1001"/>
              <a:buNone/>
              <a:defRPr sz="1001"/>
            </a:lvl5pPr>
            <a:lvl6pPr indent="-228600" lvl="5" marL="2743200" algn="l">
              <a:lnSpc>
                <a:spcPct val="120000"/>
              </a:lnSpc>
              <a:spcBef>
                <a:spcPts val="500"/>
              </a:spcBef>
              <a:spcAft>
                <a:spcPts val="0"/>
              </a:spcAft>
              <a:buSzPts val="1001"/>
              <a:buNone/>
              <a:defRPr sz="1001"/>
            </a:lvl6pPr>
            <a:lvl7pPr indent="-228600" lvl="6" marL="3200400" algn="l">
              <a:lnSpc>
                <a:spcPct val="120000"/>
              </a:lnSpc>
              <a:spcBef>
                <a:spcPts val="500"/>
              </a:spcBef>
              <a:spcAft>
                <a:spcPts val="0"/>
              </a:spcAft>
              <a:buSzPts val="1001"/>
              <a:buNone/>
              <a:defRPr sz="1001"/>
            </a:lvl7pPr>
            <a:lvl8pPr indent="-228600" lvl="7" marL="3657600" algn="l">
              <a:lnSpc>
                <a:spcPct val="120000"/>
              </a:lnSpc>
              <a:spcBef>
                <a:spcPts val="500"/>
              </a:spcBef>
              <a:spcAft>
                <a:spcPts val="0"/>
              </a:spcAft>
              <a:buSzPts val="1001"/>
              <a:buNone/>
              <a:defRPr sz="1001"/>
            </a:lvl8pPr>
            <a:lvl9pPr indent="-228600" lvl="8" marL="4114800" algn="l">
              <a:lnSpc>
                <a:spcPct val="120000"/>
              </a:lnSpc>
              <a:spcBef>
                <a:spcPts val="500"/>
              </a:spcBef>
              <a:spcAft>
                <a:spcPts val="0"/>
              </a:spcAft>
              <a:buSzPts val="1001"/>
              <a:buNone/>
              <a:defRPr sz="1001"/>
            </a:lvl9pPr>
          </a:lstStyle>
          <a:p/>
        </p:txBody>
      </p:sp>
      <p:sp>
        <p:nvSpPr>
          <p:cNvPr id="71" name="Google Shape;71;p21"/>
          <p:cNvSpPr txBox="1"/>
          <p:nvPr>
            <p:ph idx="10" type="dt"/>
          </p:nvPr>
        </p:nvSpPr>
        <p:spPr>
          <a:xfrm>
            <a:off x="7554139" y="330371"/>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1" type="ftr"/>
          </p:nvPr>
        </p:nvSpPr>
        <p:spPr>
          <a:xfrm>
            <a:off x="1451579" y="329308"/>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cxnSp>
        <p:nvCxnSpPr>
          <p:cNvPr id="74" name="Google Shape;74;p21"/>
          <p:cNvCxnSpPr/>
          <p:nvPr/>
        </p:nvCxnSpPr>
        <p:spPr>
          <a:xfrm>
            <a:off x="1448281" y="3205491"/>
            <a:ext cx="3269490"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5" name="Shape 75"/>
        <p:cNvGrpSpPr/>
        <p:nvPr/>
      </p:nvGrpSpPr>
      <p:grpSpPr>
        <a:xfrm>
          <a:off x="0" y="0"/>
          <a:ext cx="0" cy="0"/>
          <a:chOff x="0" y="0"/>
          <a:chExt cx="0" cy="0"/>
        </a:xfrm>
      </p:grpSpPr>
      <p:grpSp>
        <p:nvGrpSpPr>
          <p:cNvPr id="76" name="Google Shape;76;p22"/>
          <p:cNvGrpSpPr/>
          <p:nvPr/>
        </p:nvGrpSpPr>
        <p:grpSpPr>
          <a:xfrm>
            <a:off x="7477388" y="482171"/>
            <a:ext cx="4074533" cy="5149101"/>
            <a:chOff x="7477387" y="482170"/>
            <a:chExt cx="4074533" cy="5149101"/>
          </a:xfrm>
        </p:grpSpPr>
        <p:sp>
          <p:nvSpPr>
            <p:cNvPr id="77" name="Google Shape;77;p22"/>
            <p:cNvSpPr/>
            <p:nvPr/>
          </p:nvSpPr>
          <p:spPr>
            <a:xfrm>
              <a:off x="7477387" y="482170"/>
              <a:ext cx="4074533" cy="5149101"/>
            </a:xfrm>
            <a:prstGeom prst="rect">
              <a:avLst/>
            </a:prstGeom>
            <a:gradFill>
              <a:gsLst>
                <a:gs pos="0">
                  <a:srgbClr val="000001"/>
                </a:gs>
                <a:gs pos="100000">
                  <a:srgbClr val="191919"/>
                </a:gs>
              </a:gsLst>
              <a:lin ang="5400000" scaled="0"/>
            </a:gradFill>
            <a:ln>
              <a:noFill/>
            </a:ln>
            <a:effectLst>
              <a:outerShdw blurRad="127000" sx="98000" rotWithShape="0" algn="tl" dir="4740000" dist="228600" sy="98000">
                <a:srgbClr val="000000">
                  <a:alpha val="3411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2"/>
            <p:cNvSpPr/>
            <p:nvPr/>
          </p:nvSpPr>
          <p:spPr>
            <a:xfrm>
              <a:off x="7790446" y="812506"/>
              <a:ext cx="3450289" cy="4466452"/>
            </a:xfrm>
            <a:prstGeom prst="rect">
              <a:avLst/>
            </a:prstGeom>
            <a:gradFill>
              <a:gsLst>
                <a:gs pos="0">
                  <a:srgbClr val="DADADA"/>
                </a:gs>
                <a:gs pos="100000">
                  <a:srgbClr val="FFFFFE"/>
                </a:gs>
              </a:gsLst>
              <a:lin ang="16200000" scaled="0"/>
            </a:gradFill>
            <a:ln cap="flat" cmpd="sng" w="50800">
              <a:solidFill>
                <a:srgbClr val="191919"/>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 name="Google Shape;79;p22"/>
          <p:cNvSpPr txBox="1"/>
          <p:nvPr>
            <p:ph type="title"/>
          </p:nvPr>
        </p:nvSpPr>
        <p:spPr>
          <a:xfrm>
            <a:off x="1451206" y="1129513"/>
            <a:ext cx="5532329" cy="18305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Gill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2"/>
          <p:cNvSpPr/>
          <p:nvPr>
            <p:ph idx="2" type="pic"/>
          </p:nvPr>
        </p:nvSpPr>
        <p:spPr>
          <a:xfrm>
            <a:off x="8124389" y="1122542"/>
            <a:ext cx="2791172" cy="3866327"/>
          </a:xfrm>
          <a:prstGeom prst="rect">
            <a:avLst/>
          </a:prstGeom>
          <a:solidFill>
            <a:srgbClr val="D8D8D8"/>
          </a:solidFill>
          <a:ln>
            <a:noFill/>
          </a:ln>
        </p:spPr>
      </p:sp>
      <p:sp>
        <p:nvSpPr>
          <p:cNvPr id="81" name="Google Shape;81;p22"/>
          <p:cNvSpPr txBox="1"/>
          <p:nvPr>
            <p:ph idx="1" type="body"/>
          </p:nvPr>
        </p:nvSpPr>
        <p:spPr>
          <a:xfrm>
            <a:off x="1450330" y="3145992"/>
            <a:ext cx="5524404" cy="200374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1"/>
              </a:spcBef>
              <a:spcAft>
                <a:spcPts val="0"/>
              </a:spcAft>
              <a:buSzPts val="1801"/>
              <a:buNone/>
              <a:defRPr sz="1801"/>
            </a:lvl1pPr>
            <a:lvl2pPr indent="-228600" lvl="1" marL="914400" algn="l">
              <a:lnSpc>
                <a:spcPct val="120000"/>
              </a:lnSpc>
              <a:spcBef>
                <a:spcPts val="500"/>
              </a:spcBef>
              <a:spcAft>
                <a:spcPts val="0"/>
              </a:spcAft>
              <a:buSzPts val="1401"/>
              <a:buNone/>
              <a:defRPr sz="1401"/>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1"/>
              <a:buNone/>
              <a:defRPr sz="1001"/>
            </a:lvl4pPr>
            <a:lvl5pPr indent="-228600" lvl="4" marL="2286000" algn="l">
              <a:lnSpc>
                <a:spcPct val="120000"/>
              </a:lnSpc>
              <a:spcBef>
                <a:spcPts val="500"/>
              </a:spcBef>
              <a:spcAft>
                <a:spcPts val="0"/>
              </a:spcAft>
              <a:buSzPts val="1001"/>
              <a:buNone/>
              <a:defRPr sz="1001"/>
            </a:lvl5pPr>
            <a:lvl6pPr indent="-228600" lvl="5" marL="2743200" algn="l">
              <a:lnSpc>
                <a:spcPct val="120000"/>
              </a:lnSpc>
              <a:spcBef>
                <a:spcPts val="500"/>
              </a:spcBef>
              <a:spcAft>
                <a:spcPts val="0"/>
              </a:spcAft>
              <a:buSzPts val="1001"/>
              <a:buNone/>
              <a:defRPr sz="1001"/>
            </a:lvl6pPr>
            <a:lvl7pPr indent="-228600" lvl="6" marL="3200400" algn="l">
              <a:lnSpc>
                <a:spcPct val="120000"/>
              </a:lnSpc>
              <a:spcBef>
                <a:spcPts val="500"/>
              </a:spcBef>
              <a:spcAft>
                <a:spcPts val="0"/>
              </a:spcAft>
              <a:buSzPts val="1001"/>
              <a:buNone/>
              <a:defRPr sz="1001"/>
            </a:lvl7pPr>
            <a:lvl8pPr indent="-228600" lvl="7" marL="3657600" algn="l">
              <a:lnSpc>
                <a:spcPct val="120000"/>
              </a:lnSpc>
              <a:spcBef>
                <a:spcPts val="500"/>
              </a:spcBef>
              <a:spcAft>
                <a:spcPts val="0"/>
              </a:spcAft>
              <a:buSzPts val="1001"/>
              <a:buNone/>
              <a:defRPr sz="1001"/>
            </a:lvl8pPr>
            <a:lvl9pPr indent="-228600" lvl="8" marL="4114800" algn="l">
              <a:lnSpc>
                <a:spcPct val="120000"/>
              </a:lnSpc>
              <a:spcBef>
                <a:spcPts val="500"/>
              </a:spcBef>
              <a:spcAft>
                <a:spcPts val="0"/>
              </a:spcAft>
              <a:buSzPts val="1001"/>
              <a:buNone/>
              <a:defRPr sz="1001"/>
            </a:lvl9pPr>
          </a:lstStyle>
          <a:p/>
        </p:txBody>
      </p:sp>
      <p:sp>
        <p:nvSpPr>
          <p:cNvPr id="82" name="Google Shape;82;p22"/>
          <p:cNvSpPr txBox="1"/>
          <p:nvPr>
            <p:ph idx="10" type="dt"/>
          </p:nvPr>
        </p:nvSpPr>
        <p:spPr>
          <a:xfrm>
            <a:off x="1447384" y="5469856"/>
            <a:ext cx="5527351" cy="32012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2"/>
          <p:cNvSpPr txBox="1"/>
          <p:nvPr>
            <p:ph idx="11" type="ftr"/>
          </p:nvPr>
        </p:nvSpPr>
        <p:spPr>
          <a:xfrm>
            <a:off x="1447382" y="318641"/>
            <a:ext cx="5541004" cy="32093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2"/>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cxnSp>
        <p:nvCxnSpPr>
          <p:cNvPr id="85" name="Google Shape;85;p22"/>
          <p:cNvCxnSpPr/>
          <p:nvPr/>
        </p:nvCxnSpPr>
        <p:spPr>
          <a:xfrm>
            <a:off x="1447384" y="3143605"/>
            <a:ext cx="5527351"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6" name="Shape 86"/>
        <p:cNvGrpSpPr/>
        <p:nvPr/>
      </p:nvGrpSpPr>
      <p:grpSpPr>
        <a:xfrm>
          <a:off x="0" y="0"/>
          <a:ext cx="0" cy="0"/>
          <a:chOff x="0" y="0"/>
          <a:chExt cx="0" cy="0"/>
        </a:xfrm>
      </p:grpSpPr>
      <p:sp>
        <p:nvSpPr>
          <p:cNvPr id="87" name="Google Shape;87;p23"/>
          <p:cNvSpPr txBox="1"/>
          <p:nvPr>
            <p:ph type="title"/>
          </p:nvPr>
        </p:nvSpPr>
        <p:spPr>
          <a:xfrm>
            <a:off x="1451580" y="804520"/>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23"/>
          <p:cNvSpPr txBox="1"/>
          <p:nvPr>
            <p:ph idx="1" type="body"/>
          </p:nvPr>
        </p:nvSpPr>
        <p:spPr>
          <a:xfrm rot="5400000">
            <a:off x="4527911" y="-1060598"/>
            <a:ext cx="3450613" cy="960327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1"/>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89" name="Google Shape;89;p23"/>
          <p:cNvSpPr txBox="1"/>
          <p:nvPr>
            <p:ph idx="10" type="dt"/>
          </p:nvPr>
        </p:nvSpPr>
        <p:spPr>
          <a:xfrm>
            <a:off x="7554139" y="330371"/>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3"/>
          <p:cNvSpPr txBox="1"/>
          <p:nvPr>
            <p:ph idx="11" type="ftr"/>
          </p:nvPr>
        </p:nvSpPr>
        <p:spPr>
          <a:xfrm>
            <a:off x="1451579" y="329308"/>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3"/>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cxnSp>
        <p:nvCxnSpPr>
          <p:cNvPr id="92" name="Google Shape;92;p23"/>
          <p:cNvCxnSpPr/>
          <p:nvPr/>
        </p:nvCxnSpPr>
        <p:spPr>
          <a:xfrm>
            <a:off x="1453898"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3" name="Shape 93"/>
        <p:cNvGrpSpPr/>
        <p:nvPr/>
      </p:nvGrpSpPr>
      <p:grpSpPr>
        <a:xfrm>
          <a:off x="0" y="0"/>
          <a:ext cx="0" cy="0"/>
          <a:chOff x="0" y="0"/>
          <a:chExt cx="0" cy="0"/>
        </a:xfrm>
      </p:grpSpPr>
      <p:sp>
        <p:nvSpPr>
          <p:cNvPr id="94" name="Google Shape;94;p24"/>
          <p:cNvSpPr txBox="1"/>
          <p:nvPr>
            <p:ph type="title"/>
          </p:nvPr>
        </p:nvSpPr>
        <p:spPr>
          <a:xfrm rot="5400000">
            <a:off x="7917038" y="2321048"/>
            <a:ext cx="4659889" cy="1615742"/>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20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24"/>
          <p:cNvSpPr txBox="1"/>
          <p:nvPr>
            <p:ph idx="1" type="body"/>
          </p:nvPr>
        </p:nvSpPr>
        <p:spPr>
          <a:xfrm rot="5400000">
            <a:off x="3029143" y="-785497"/>
            <a:ext cx="4659889" cy="782883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1"/>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96" name="Google Shape;96;p24"/>
          <p:cNvSpPr txBox="1"/>
          <p:nvPr>
            <p:ph idx="10" type="dt"/>
          </p:nvPr>
        </p:nvSpPr>
        <p:spPr>
          <a:xfrm>
            <a:off x="7554139" y="330371"/>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4"/>
          <p:cNvSpPr txBox="1"/>
          <p:nvPr>
            <p:ph idx="11" type="ftr"/>
          </p:nvPr>
        </p:nvSpPr>
        <p:spPr>
          <a:xfrm>
            <a:off x="1451579" y="329308"/>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4"/>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cxnSp>
        <p:nvCxnSpPr>
          <p:cNvPr id="99" name="Google Shape;99;p24"/>
          <p:cNvCxnSpPr/>
          <p:nvPr/>
        </p:nvCxnSpPr>
        <p:spPr>
          <a:xfrm>
            <a:off x="9439111" y="798974"/>
            <a:ext cx="0" cy="4659889"/>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BE9E6"/>
            </a:gs>
            <a:gs pos="100000">
              <a:srgbClr val="C9C5C0"/>
            </a:gs>
          </a:gsLst>
          <a:path path="circle">
            <a:fillToRect b="50%" l="50%" r="50%" t="50%"/>
          </a:path>
          <a:tileRect/>
        </a:gradFill>
      </p:bgPr>
    </p:bg>
    <p:spTree>
      <p:nvGrpSpPr>
        <p:cNvPr id="9" name="Shape 9"/>
        <p:cNvGrpSpPr/>
        <p:nvPr/>
      </p:nvGrpSpPr>
      <p:grpSpPr>
        <a:xfrm>
          <a:off x="0" y="0"/>
          <a:ext cx="0" cy="0"/>
          <a:chOff x="0" y="0"/>
          <a:chExt cx="0" cy="0"/>
        </a:xfrm>
      </p:grpSpPr>
      <p:sp>
        <p:nvSpPr>
          <p:cNvPr id="10" name="Google Shape;10;p13"/>
          <p:cNvSpPr/>
          <p:nvPr/>
        </p:nvSpPr>
        <p:spPr>
          <a:xfrm>
            <a:off x="0" y="2019477"/>
            <a:ext cx="12192000" cy="4105941"/>
          </a:xfrm>
          <a:prstGeom prst="rect">
            <a:avLst/>
          </a:prstGeom>
          <a:gradFill>
            <a:gsLst>
              <a:gs pos="0">
                <a:srgbClr val="DFDBD5">
                  <a:alpha val="0"/>
                </a:srgbClr>
              </a:gs>
              <a:gs pos="100000">
                <a:schemeClr val="lt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 name="Google Shape;11;p13"/>
          <p:cNvPicPr preferRelativeResize="0"/>
          <p:nvPr/>
        </p:nvPicPr>
        <p:blipFill rotWithShape="1">
          <a:blip r:embed="rId1">
            <a:alphaModFix/>
          </a:blip>
          <a:srcRect b="-1538" l="0" r="0" t="1538"/>
          <a:stretch/>
        </p:blipFill>
        <p:spPr>
          <a:xfrm>
            <a:off x="0" y="6126480"/>
            <a:ext cx="12192000" cy="742950"/>
          </a:xfrm>
          <a:prstGeom prst="rect">
            <a:avLst/>
          </a:prstGeom>
          <a:noFill/>
          <a:ln>
            <a:noFill/>
          </a:ln>
        </p:spPr>
      </p:pic>
      <p:sp>
        <p:nvSpPr>
          <p:cNvPr id="12" name="Google Shape;12;p13"/>
          <p:cNvSpPr txBox="1"/>
          <p:nvPr>
            <p:ph type="title"/>
          </p:nvPr>
        </p:nvSpPr>
        <p:spPr>
          <a:xfrm>
            <a:off x="1451580" y="804520"/>
            <a:ext cx="9603275" cy="104923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1"/>
              </a:buClr>
              <a:buSzPts val="3200"/>
              <a:buFont typeface="Gill Sans"/>
              <a:buNone/>
              <a:defRPr b="0" i="0" sz="3200" u="none" cap="none" strike="noStrike">
                <a:solidFill>
                  <a:schemeClr val="dk1"/>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3"/>
          <p:cNvSpPr txBox="1"/>
          <p:nvPr>
            <p:ph idx="1" type="body"/>
          </p:nvPr>
        </p:nvSpPr>
        <p:spPr>
          <a:xfrm>
            <a:off x="1451580" y="2015733"/>
            <a:ext cx="9603275" cy="3450613"/>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20000"/>
              </a:lnSpc>
              <a:spcBef>
                <a:spcPts val="1001"/>
              </a:spcBef>
              <a:spcAft>
                <a:spcPts val="0"/>
              </a:spcAft>
              <a:buClr>
                <a:schemeClr val="accent1"/>
              </a:buClr>
              <a:buSzPts val="2000"/>
              <a:buFont typeface="Arial"/>
              <a:buChar char="•"/>
              <a:defRPr b="0" i="0" sz="2000" u="none" cap="none" strike="noStrike">
                <a:solidFill>
                  <a:schemeClr val="dk1"/>
                </a:solidFill>
                <a:latin typeface="Gill Sans"/>
                <a:ea typeface="Gill Sans"/>
                <a:cs typeface="Gill Sans"/>
                <a:sym typeface="Gill Sans"/>
              </a:defRPr>
            </a:lvl1pPr>
            <a:lvl2pPr indent="-342964" lvl="1" marL="914400" marR="0" rtl="0" algn="l">
              <a:lnSpc>
                <a:spcPct val="120000"/>
              </a:lnSpc>
              <a:spcBef>
                <a:spcPts val="500"/>
              </a:spcBef>
              <a:spcAft>
                <a:spcPts val="0"/>
              </a:spcAft>
              <a:buClr>
                <a:schemeClr val="accent1"/>
              </a:buClr>
              <a:buSzPts val="1801"/>
              <a:buFont typeface="Arial"/>
              <a:buChar char="•"/>
              <a:defRPr b="0" i="0" sz="1801" u="none" cap="none" strike="noStrike">
                <a:solidFill>
                  <a:schemeClr val="dk1"/>
                </a:solidFill>
                <a:latin typeface="Gill Sans"/>
                <a:ea typeface="Gill Sans"/>
                <a:cs typeface="Gill Sans"/>
                <a:sym typeface="Gill Sans"/>
              </a:defRPr>
            </a:lvl2pPr>
            <a:lvl3pPr indent="-330200" lvl="2" marL="1371600" marR="0" rtl="0" algn="l">
              <a:lnSpc>
                <a:spcPct val="120000"/>
              </a:lnSpc>
              <a:spcBef>
                <a:spcPts val="500"/>
              </a:spcBef>
              <a:spcAft>
                <a:spcPts val="0"/>
              </a:spcAft>
              <a:buClr>
                <a:schemeClr val="accent1"/>
              </a:buClr>
              <a:buSzPts val="1600"/>
              <a:buFont typeface="Arial"/>
              <a:buChar char="•"/>
              <a:defRPr b="0" i="0" sz="1600" u="none" cap="none" strike="noStrike">
                <a:solidFill>
                  <a:schemeClr val="dk1"/>
                </a:solidFill>
                <a:latin typeface="Gill Sans"/>
                <a:ea typeface="Gill Sans"/>
                <a:cs typeface="Gill Sans"/>
                <a:sym typeface="Gill Sans"/>
              </a:defRPr>
            </a:lvl3pPr>
            <a:lvl4pPr indent="-317563" lvl="3" marL="1828800" marR="0" rtl="0" algn="l">
              <a:lnSpc>
                <a:spcPct val="120000"/>
              </a:lnSpc>
              <a:spcBef>
                <a:spcPts val="500"/>
              </a:spcBef>
              <a:spcAft>
                <a:spcPts val="0"/>
              </a:spcAft>
              <a:buClr>
                <a:schemeClr val="accent1"/>
              </a:buClr>
              <a:buSzPts val="1401"/>
              <a:buFont typeface="Arial"/>
              <a:buChar char="•"/>
              <a:defRPr b="0" i="0" sz="1401" u="none" cap="none" strike="noStrike">
                <a:solidFill>
                  <a:schemeClr val="dk1"/>
                </a:solidFill>
                <a:latin typeface="Gill Sans"/>
                <a:ea typeface="Gill Sans"/>
                <a:cs typeface="Gill Sans"/>
                <a:sym typeface="Gill Sans"/>
              </a:defRPr>
            </a:lvl4pPr>
            <a:lvl5pPr indent="-304800" lvl="4" marL="22860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5pPr>
            <a:lvl6pPr indent="-304800" lvl="5" marL="27432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6pPr>
            <a:lvl7pPr indent="-304800" lvl="6" marL="32004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7pPr>
            <a:lvl8pPr indent="-304800" lvl="7" marL="36576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8pPr>
            <a:lvl9pPr indent="-304800" lvl="8" marL="41148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9pPr>
          </a:lstStyle>
          <a:p/>
        </p:txBody>
      </p:sp>
      <p:sp>
        <p:nvSpPr>
          <p:cNvPr id="14" name="Google Shape;14;p13"/>
          <p:cNvSpPr txBox="1"/>
          <p:nvPr>
            <p:ph idx="10" type="dt"/>
          </p:nvPr>
        </p:nvSpPr>
        <p:spPr>
          <a:xfrm>
            <a:off x="7554139" y="330371"/>
            <a:ext cx="3500715" cy="309201"/>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1" u="none" cap="none" strike="noStrike">
                <a:solidFill>
                  <a:srgbClr val="888888"/>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5" name="Google Shape;15;p13"/>
          <p:cNvSpPr txBox="1"/>
          <p:nvPr>
            <p:ph idx="11" type="ftr"/>
          </p:nvPr>
        </p:nvSpPr>
        <p:spPr>
          <a:xfrm>
            <a:off x="1451579" y="329308"/>
            <a:ext cx="5938836" cy="309201"/>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1" u="none" cap="none" strike="noStrike">
                <a:solidFill>
                  <a:srgbClr val="888888"/>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6" name="Google Shape;16;p13"/>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2800" u="none" cap="none" strike="noStrike">
                <a:solidFill>
                  <a:schemeClr val="accent1"/>
                </a:solidFill>
                <a:latin typeface="Gill Sans"/>
                <a:ea typeface="Gill Sans"/>
                <a:cs typeface="Gill Sans"/>
                <a:sym typeface="Gill Sans"/>
              </a:defRPr>
            </a:lvl1pPr>
            <a:lvl2pPr indent="0" lvl="1" marL="0" marR="0" rtl="0" algn="r">
              <a:spcBef>
                <a:spcPts val="0"/>
              </a:spcBef>
              <a:buNone/>
              <a:defRPr b="0" i="0" sz="2800" u="none" cap="none" strike="noStrike">
                <a:solidFill>
                  <a:schemeClr val="accent1"/>
                </a:solidFill>
                <a:latin typeface="Gill Sans"/>
                <a:ea typeface="Gill Sans"/>
                <a:cs typeface="Gill Sans"/>
                <a:sym typeface="Gill Sans"/>
              </a:defRPr>
            </a:lvl2pPr>
            <a:lvl3pPr indent="0" lvl="2" marL="0" marR="0" rtl="0" algn="r">
              <a:spcBef>
                <a:spcPts val="0"/>
              </a:spcBef>
              <a:buNone/>
              <a:defRPr b="0" i="0" sz="2800" u="none" cap="none" strike="noStrike">
                <a:solidFill>
                  <a:schemeClr val="accent1"/>
                </a:solidFill>
                <a:latin typeface="Gill Sans"/>
                <a:ea typeface="Gill Sans"/>
                <a:cs typeface="Gill Sans"/>
                <a:sym typeface="Gill Sans"/>
              </a:defRPr>
            </a:lvl3pPr>
            <a:lvl4pPr indent="0" lvl="3" marL="0" marR="0" rtl="0" algn="r">
              <a:spcBef>
                <a:spcPts val="0"/>
              </a:spcBef>
              <a:buNone/>
              <a:defRPr b="0" i="0" sz="2800" u="none" cap="none" strike="noStrike">
                <a:solidFill>
                  <a:schemeClr val="accent1"/>
                </a:solidFill>
                <a:latin typeface="Gill Sans"/>
                <a:ea typeface="Gill Sans"/>
                <a:cs typeface="Gill Sans"/>
                <a:sym typeface="Gill Sans"/>
              </a:defRPr>
            </a:lvl4pPr>
            <a:lvl5pPr indent="0" lvl="4" marL="0" marR="0" rtl="0" algn="r">
              <a:spcBef>
                <a:spcPts val="0"/>
              </a:spcBef>
              <a:buNone/>
              <a:defRPr b="0" i="0" sz="2800" u="none" cap="none" strike="noStrike">
                <a:solidFill>
                  <a:schemeClr val="accent1"/>
                </a:solidFill>
                <a:latin typeface="Gill Sans"/>
                <a:ea typeface="Gill Sans"/>
                <a:cs typeface="Gill Sans"/>
                <a:sym typeface="Gill Sans"/>
              </a:defRPr>
            </a:lvl5pPr>
            <a:lvl6pPr indent="0" lvl="5" marL="0" marR="0" rtl="0" algn="r">
              <a:spcBef>
                <a:spcPts val="0"/>
              </a:spcBef>
              <a:buNone/>
              <a:defRPr b="0" i="0" sz="2800" u="none" cap="none" strike="noStrike">
                <a:solidFill>
                  <a:schemeClr val="accent1"/>
                </a:solidFill>
                <a:latin typeface="Gill Sans"/>
                <a:ea typeface="Gill Sans"/>
                <a:cs typeface="Gill Sans"/>
                <a:sym typeface="Gill Sans"/>
              </a:defRPr>
            </a:lvl6pPr>
            <a:lvl7pPr indent="0" lvl="6" marL="0" marR="0" rtl="0" algn="r">
              <a:spcBef>
                <a:spcPts val="0"/>
              </a:spcBef>
              <a:buNone/>
              <a:defRPr b="0" i="0" sz="2800" u="none" cap="none" strike="noStrike">
                <a:solidFill>
                  <a:schemeClr val="accent1"/>
                </a:solidFill>
                <a:latin typeface="Gill Sans"/>
                <a:ea typeface="Gill Sans"/>
                <a:cs typeface="Gill Sans"/>
                <a:sym typeface="Gill Sans"/>
              </a:defRPr>
            </a:lvl7pPr>
            <a:lvl8pPr indent="0" lvl="7" marL="0" marR="0" rtl="0" algn="r">
              <a:spcBef>
                <a:spcPts val="0"/>
              </a:spcBef>
              <a:buNone/>
              <a:defRPr b="0" i="0" sz="2800" u="none" cap="none" strike="noStrike">
                <a:solidFill>
                  <a:schemeClr val="accent1"/>
                </a:solidFill>
                <a:latin typeface="Gill Sans"/>
                <a:ea typeface="Gill Sans"/>
                <a:cs typeface="Gill Sans"/>
                <a:sym typeface="Gill Sans"/>
              </a:defRPr>
            </a:lvl8pPr>
            <a:lvl9pPr indent="0" lvl="8" marL="0" marR="0" rtl="0" algn="r">
              <a:spcBef>
                <a:spcPts val="0"/>
              </a:spcBef>
              <a:buNone/>
              <a:defRPr b="0" i="0" sz="2800" u="none" cap="none" strike="noStrike">
                <a:solidFill>
                  <a:schemeClr val="accen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IN"/>
              <a:t>‹#›</a:t>
            </a:fld>
            <a:endParaRPr/>
          </a:p>
        </p:txBody>
      </p:sp>
      <p:cxnSp>
        <p:nvCxnSpPr>
          <p:cNvPr id="17" name="Google Shape;17;p13"/>
          <p:cNvCxnSpPr/>
          <p:nvPr/>
        </p:nvCxnSpPr>
        <p:spPr>
          <a:xfrm>
            <a:off x="0" y="6128413"/>
            <a:ext cx="12192000" cy="0"/>
          </a:xfrm>
          <a:prstGeom prst="straightConnector1">
            <a:avLst/>
          </a:prstGeom>
          <a:noFill/>
          <a:ln cap="flat" cmpd="sng" w="12700">
            <a:solidFill>
              <a:srgbClr val="000001">
                <a:alpha val="20000"/>
              </a:srgbClr>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
          <p:cNvSpPr txBox="1"/>
          <p:nvPr>
            <p:ph type="ctrTitle"/>
          </p:nvPr>
        </p:nvSpPr>
        <p:spPr>
          <a:xfrm>
            <a:off x="1956124" y="2"/>
            <a:ext cx="9444940" cy="2939970"/>
          </a:xfrm>
          <a:prstGeom prst="rect">
            <a:avLst/>
          </a:prstGeom>
          <a:noFill/>
          <a:ln>
            <a:noFill/>
          </a:ln>
        </p:spPr>
        <p:txBody>
          <a:bodyPr anchorCtr="0" anchor="b" bIns="0" lIns="91425" spcFirstLastPara="1" rIns="91425" wrap="square" tIns="45700">
            <a:noAutofit/>
          </a:bodyPr>
          <a:lstStyle/>
          <a:p>
            <a:pPr indent="0" lvl="0" marL="0" rtl="0" algn="l">
              <a:lnSpc>
                <a:spcPct val="90000"/>
              </a:lnSpc>
              <a:spcBef>
                <a:spcPts val="0"/>
              </a:spcBef>
              <a:spcAft>
                <a:spcPts val="0"/>
              </a:spcAft>
              <a:buClr>
                <a:schemeClr val="dk1"/>
              </a:buClr>
              <a:buSzPts val="3600"/>
              <a:buFont typeface="Times New Roman"/>
              <a:buNone/>
            </a:pPr>
            <a:r>
              <a:rPr b="1" lang="en-IN" sz="3600" cap="none">
                <a:latin typeface="Times New Roman"/>
                <a:ea typeface="Times New Roman"/>
                <a:cs typeface="Times New Roman"/>
                <a:sym typeface="Times New Roman"/>
              </a:rPr>
              <a:t>Title: </a:t>
            </a:r>
            <a:r>
              <a:rPr lang="en-IN" sz="3600" cap="none">
                <a:latin typeface="Times New Roman"/>
                <a:ea typeface="Times New Roman"/>
                <a:cs typeface="Times New Roman"/>
                <a:sym typeface="Times New Roman"/>
              </a:rPr>
              <a:t>Automated Classification Of   Gastrointestinal Tract Diseases Using Hybrid Model</a:t>
            </a:r>
            <a:endParaRPr b="1" sz="3600" cap="none">
              <a:latin typeface="Times New Roman"/>
              <a:ea typeface="Times New Roman"/>
              <a:cs typeface="Times New Roman"/>
              <a:sym typeface="Times New Roman"/>
            </a:endParaRPr>
          </a:p>
        </p:txBody>
      </p:sp>
      <p:sp>
        <p:nvSpPr>
          <p:cNvPr id="105" name="Google Shape;105;p1"/>
          <p:cNvSpPr txBox="1"/>
          <p:nvPr>
            <p:ph idx="1" type="subTitle"/>
          </p:nvPr>
        </p:nvSpPr>
        <p:spPr>
          <a:xfrm>
            <a:off x="1477925" y="4305783"/>
            <a:ext cx="10377376" cy="2193403"/>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SzPts val="1800"/>
              <a:buNone/>
            </a:pPr>
            <a:r>
              <a:rPr lang="en-IN" sz="1800">
                <a:latin typeface="Times New Roman"/>
                <a:ea typeface="Times New Roman"/>
                <a:cs typeface="Times New Roman"/>
                <a:sym typeface="Times New Roman"/>
              </a:rPr>
              <a:t>UNDER THE GUIDANCE OF                                                      PRESENTED BY – BATCH 29</a:t>
            </a:r>
            <a:endParaRPr/>
          </a:p>
          <a:p>
            <a:pPr indent="0" lvl="0" marL="0" rtl="0" algn="l">
              <a:lnSpc>
                <a:spcPct val="120000"/>
              </a:lnSpc>
              <a:spcBef>
                <a:spcPts val="1001"/>
              </a:spcBef>
              <a:spcAft>
                <a:spcPts val="0"/>
              </a:spcAft>
              <a:buSzPts val="1800"/>
              <a:buNone/>
            </a:pPr>
            <a:r>
              <a:rPr lang="en-IN" sz="1800" cap="none">
                <a:latin typeface="Times New Roman"/>
                <a:ea typeface="Times New Roman"/>
                <a:cs typeface="Times New Roman"/>
                <a:sym typeface="Times New Roman"/>
              </a:rPr>
              <a:t>Mrs. D. Vijaya sri                                                                             </a:t>
            </a:r>
            <a:r>
              <a:rPr lang="en-IN" sz="1800">
                <a:latin typeface="Times New Roman"/>
                <a:ea typeface="Times New Roman"/>
                <a:cs typeface="Times New Roman"/>
                <a:sym typeface="Times New Roman"/>
              </a:rPr>
              <a:t>23761A1267 – A. </a:t>
            </a:r>
            <a:r>
              <a:rPr lang="en-IN" sz="1800" cap="none">
                <a:latin typeface="Times New Roman"/>
                <a:ea typeface="Times New Roman"/>
                <a:cs typeface="Times New Roman"/>
                <a:sym typeface="Times New Roman"/>
              </a:rPr>
              <a:t>Anuradha</a:t>
            </a:r>
            <a:endParaRPr sz="1800">
              <a:latin typeface="Times New Roman"/>
              <a:ea typeface="Times New Roman"/>
              <a:cs typeface="Times New Roman"/>
              <a:sym typeface="Times New Roman"/>
            </a:endParaRPr>
          </a:p>
          <a:p>
            <a:pPr indent="0" lvl="0" marL="0" rtl="0" algn="l">
              <a:lnSpc>
                <a:spcPct val="120000"/>
              </a:lnSpc>
              <a:spcBef>
                <a:spcPts val="1001"/>
              </a:spcBef>
              <a:spcAft>
                <a:spcPts val="0"/>
              </a:spcAft>
              <a:buSzPts val="1800"/>
              <a:buNone/>
            </a:pPr>
            <a:r>
              <a:rPr lang="en-IN" sz="1800" cap="none">
                <a:latin typeface="Times New Roman"/>
                <a:ea typeface="Times New Roman"/>
                <a:cs typeface="Times New Roman"/>
                <a:sym typeface="Times New Roman"/>
              </a:rPr>
              <a:t>Sr. Asst. Professor                                                                            </a:t>
            </a:r>
            <a:r>
              <a:rPr lang="en-IN" sz="1800">
                <a:latin typeface="Times New Roman"/>
                <a:ea typeface="Times New Roman"/>
                <a:cs typeface="Times New Roman"/>
                <a:sym typeface="Times New Roman"/>
              </a:rPr>
              <a:t>23761A12C8 – U. </a:t>
            </a:r>
            <a:r>
              <a:rPr lang="en-IN" sz="1800" cap="none">
                <a:latin typeface="Times New Roman"/>
                <a:ea typeface="Times New Roman"/>
                <a:cs typeface="Times New Roman"/>
                <a:sym typeface="Times New Roman"/>
              </a:rPr>
              <a:t>Pravallika</a:t>
            </a:r>
            <a:endParaRPr/>
          </a:p>
          <a:p>
            <a:pPr indent="0" lvl="0" marL="0" rtl="0" algn="l">
              <a:lnSpc>
                <a:spcPct val="120000"/>
              </a:lnSpc>
              <a:spcBef>
                <a:spcPts val="1001"/>
              </a:spcBef>
              <a:spcAft>
                <a:spcPts val="0"/>
              </a:spcAft>
              <a:buSzPts val="1800"/>
              <a:buNone/>
            </a:pPr>
            <a:r>
              <a:rPr lang="en-IN" sz="1800">
                <a:latin typeface="Times New Roman"/>
                <a:ea typeface="Times New Roman"/>
                <a:cs typeface="Times New Roman"/>
                <a:sym typeface="Times New Roman"/>
              </a:rPr>
              <a:t>                                                                                                         23761A1290 – J. </a:t>
            </a:r>
            <a:r>
              <a:rPr lang="en-IN" sz="1800" cap="none">
                <a:latin typeface="Times New Roman"/>
                <a:ea typeface="Times New Roman"/>
                <a:cs typeface="Times New Roman"/>
                <a:sym typeface="Times New Roman"/>
              </a:rPr>
              <a:t>Gopi chandu</a:t>
            </a:r>
            <a:endParaRPr sz="180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
          <p:cNvSpPr txBox="1"/>
          <p:nvPr>
            <p:ph type="title"/>
          </p:nvPr>
        </p:nvSpPr>
        <p:spPr>
          <a:xfrm>
            <a:off x="1451580" y="804520"/>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IN" sz="3600">
                <a:latin typeface="Times New Roman"/>
                <a:ea typeface="Times New Roman"/>
                <a:cs typeface="Times New Roman"/>
                <a:sym typeface="Times New Roman"/>
              </a:rPr>
              <a:t>    DOMAIN:</a:t>
            </a:r>
            <a:endParaRPr/>
          </a:p>
        </p:txBody>
      </p:sp>
      <p:sp>
        <p:nvSpPr>
          <p:cNvPr id="111" name="Google Shape;111;p2"/>
          <p:cNvSpPr txBox="1"/>
          <p:nvPr>
            <p:ph idx="1" type="body"/>
          </p:nvPr>
        </p:nvSpPr>
        <p:spPr>
          <a:xfrm>
            <a:off x="1451580" y="2015733"/>
            <a:ext cx="9603275" cy="3450613"/>
          </a:xfrm>
          <a:prstGeom prst="rect">
            <a:avLst/>
          </a:prstGeom>
          <a:noFill/>
          <a:ln>
            <a:noFill/>
          </a:ln>
        </p:spPr>
        <p:txBody>
          <a:bodyPr anchorCtr="0" anchor="t" bIns="45700" lIns="91425" spcFirstLastPara="1" rIns="91425" wrap="square" tIns="45700">
            <a:normAutofit/>
          </a:bodyPr>
          <a:lstStyle/>
          <a:p>
            <a:pPr indent="-228604" lvl="0" marL="228604" rtl="0" algn="l">
              <a:lnSpc>
                <a:spcPct val="150000"/>
              </a:lnSpc>
              <a:spcBef>
                <a:spcPts val="0"/>
              </a:spcBef>
              <a:spcAft>
                <a:spcPts val="0"/>
              </a:spcAft>
              <a:buSzPts val="2000"/>
              <a:buChar char="•"/>
            </a:pPr>
            <a:r>
              <a:rPr b="1" lang="en-IN">
                <a:latin typeface="Times New Roman"/>
                <a:ea typeface="Times New Roman"/>
                <a:cs typeface="Times New Roman"/>
                <a:sym typeface="Times New Roman"/>
              </a:rPr>
              <a:t>Artificial Intelligence (AI) – Deep Learning: </a:t>
            </a:r>
            <a:r>
              <a:rPr lang="en-IN">
                <a:latin typeface="Times New Roman"/>
                <a:ea typeface="Times New Roman"/>
                <a:cs typeface="Times New Roman"/>
                <a:sym typeface="Times New Roman"/>
              </a:rPr>
              <a:t> Enables computers to perform tasks that normally require human intelligence. Deep Learning, a branch of AI, uses neural networks to automatically learn features from medical images and improve disease classification.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3"/>
          <p:cNvSpPr txBox="1"/>
          <p:nvPr>
            <p:ph type="title"/>
          </p:nvPr>
        </p:nvSpPr>
        <p:spPr>
          <a:xfrm>
            <a:off x="1451580" y="804520"/>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IN" sz="3600">
                <a:latin typeface="Times New Roman"/>
                <a:ea typeface="Times New Roman"/>
                <a:cs typeface="Times New Roman"/>
                <a:sym typeface="Times New Roman"/>
              </a:rPr>
              <a:t>  ABSTRACT:</a:t>
            </a:r>
            <a:endParaRPr/>
          </a:p>
        </p:txBody>
      </p:sp>
      <p:sp>
        <p:nvSpPr>
          <p:cNvPr id="117" name="Google Shape;117;p3"/>
          <p:cNvSpPr txBox="1"/>
          <p:nvPr>
            <p:ph idx="1" type="body"/>
          </p:nvPr>
        </p:nvSpPr>
        <p:spPr>
          <a:xfrm>
            <a:off x="1451580" y="2015733"/>
            <a:ext cx="9603275" cy="3450613"/>
          </a:xfrm>
          <a:prstGeom prst="rect">
            <a:avLst/>
          </a:prstGeom>
          <a:noFill/>
          <a:ln>
            <a:noFill/>
          </a:ln>
        </p:spPr>
        <p:txBody>
          <a:bodyPr anchorCtr="0" anchor="t" bIns="45700" lIns="91425" spcFirstLastPara="1" rIns="91425" wrap="square" tIns="45700">
            <a:normAutofit/>
          </a:bodyPr>
          <a:lstStyle/>
          <a:p>
            <a:pPr indent="-228604" lvl="0" marL="228604" rtl="0" algn="just">
              <a:lnSpc>
                <a:spcPct val="100000"/>
              </a:lnSpc>
              <a:spcBef>
                <a:spcPts val="0"/>
              </a:spcBef>
              <a:spcAft>
                <a:spcPts val="0"/>
              </a:spcAft>
              <a:buSzPts val="2000"/>
              <a:buChar char="•"/>
            </a:pPr>
            <a:r>
              <a:rPr lang="en-IN">
                <a:latin typeface="Times New Roman"/>
                <a:ea typeface="Times New Roman"/>
                <a:cs typeface="Times New Roman"/>
                <a:sym typeface="Times New Roman"/>
              </a:rPr>
              <a:t>Gastrointestinal diseases can cause serious health problems if they are not identified at the right time. In recent years, many deep learning methods have been developed to classify these diseases from endoscopic images, but most of them use a single type of model for feature extraction. As a result, some important image information may not be captured effectively. This project extends the existing work by combining a CNN-based model with a transformer-based model to make better use of the information present in endoscopic images. The proposed approach is expected to learn both detailed and overall image features, which can help improve disease classification.</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4"/>
          <p:cNvSpPr txBox="1"/>
          <p:nvPr>
            <p:ph type="title"/>
          </p:nvPr>
        </p:nvSpPr>
        <p:spPr>
          <a:xfrm>
            <a:off x="1451580" y="804520"/>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IN" sz="3600">
                <a:latin typeface="Times New Roman"/>
                <a:ea typeface="Times New Roman"/>
                <a:cs typeface="Times New Roman"/>
                <a:sym typeface="Times New Roman"/>
              </a:rPr>
              <a:t> EXISTING SYSTEM:</a:t>
            </a:r>
            <a:endParaRPr/>
          </a:p>
        </p:txBody>
      </p:sp>
      <p:sp>
        <p:nvSpPr>
          <p:cNvPr id="124" name="Google Shape;124;p4"/>
          <p:cNvSpPr txBox="1"/>
          <p:nvPr>
            <p:ph idx="1" type="body"/>
          </p:nvPr>
        </p:nvSpPr>
        <p:spPr>
          <a:xfrm>
            <a:off x="1451580" y="2015733"/>
            <a:ext cx="9603275" cy="4037747"/>
          </a:xfrm>
          <a:prstGeom prst="rect">
            <a:avLst/>
          </a:prstGeom>
          <a:noFill/>
          <a:ln>
            <a:noFill/>
          </a:ln>
        </p:spPr>
        <p:txBody>
          <a:bodyPr anchorCtr="0" anchor="t" bIns="45700" lIns="91425" spcFirstLastPara="1" rIns="91425" wrap="square" tIns="45700">
            <a:noAutofit/>
          </a:bodyPr>
          <a:lstStyle/>
          <a:p>
            <a:pPr indent="-228604" lvl="0" marL="228604" rtl="0" algn="l">
              <a:lnSpc>
                <a:spcPct val="150000"/>
              </a:lnSpc>
              <a:spcBef>
                <a:spcPts val="0"/>
              </a:spcBef>
              <a:spcAft>
                <a:spcPts val="0"/>
              </a:spcAft>
              <a:buSzPts val="2000"/>
              <a:buChar char="•"/>
            </a:pPr>
            <a:r>
              <a:rPr lang="en-IN">
                <a:latin typeface="Times New Roman"/>
                <a:ea typeface="Times New Roman"/>
                <a:cs typeface="Times New Roman"/>
                <a:sym typeface="Times New Roman"/>
              </a:rPr>
              <a:t>Uses CSCG-ResNet for gastrointestinal image feature extraction.</a:t>
            </a:r>
            <a:endParaRPr/>
          </a:p>
          <a:p>
            <a:pPr indent="-228604" lvl="0" marL="228604" rtl="0" algn="l">
              <a:lnSpc>
                <a:spcPct val="120000"/>
              </a:lnSpc>
              <a:spcBef>
                <a:spcPts val="1001"/>
              </a:spcBef>
              <a:spcAft>
                <a:spcPts val="0"/>
              </a:spcAft>
              <a:buSzPts val="2000"/>
              <a:buChar char="•"/>
            </a:pPr>
            <a:r>
              <a:rPr lang="en-IN">
                <a:latin typeface="Times New Roman"/>
                <a:ea typeface="Times New Roman"/>
                <a:cs typeface="Times New Roman"/>
                <a:sym typeface="Times New Roman"/>
              </a:rPr>
              <a:t>M-MGO selects important features and removes redundant features.</a:t>
            </a:r>
            <a:endParaRPr/>
          </a:p>
          <a:p>
            <a:pPr indent="-228604" lvl="0" marL="228604" rtl="0" algn="l">
              <a:lnSpc>
                <a:spcPct val="120000"/>
              </a:lnSpc>
              <a:spcBef>
                <a:spcPts val="1001"/>
              </a:spcBef>
              <a:spcAft>
                <a:spcPts val="0"/>
              </a:spcAft>
              <a:buSzPts val="2000"/>
              <a:buChar char="•"/>
            </a:pPr>
            <a:r>
              <a:rPr lang="en-IN">
                <a:latin typeface="Times New Roman"/>
                <a:ea typeface="Times New Roman"/>
                <a:cs typeface="Times New Roman"/>
                <a:sym typeface="Times New Roman"/>
              </a:rPr>
              <a:t>QI-TabNet performs the final disease classification.</a:t>
            </a:r>
            <a:endParaRPr/>
          </a:p>
          <a:p>
            <a:pPr indent="-228604" lvl="0" marL="228604" rtl="0" algn="l">
              <a:lnSpc>
                <a:spcPct val="120000"/>
              </a:lnSpc>
              <a:spcBef>
                <a:spcPts val="1001"/>
              </a:spcBef>
              <a:spcAft>
                <a:spcPts val="0"/>
              </a:spcAft>
              <a:buSzPts val="2000"/>
              <a:buChar char="•"/>
            </a:pPr>
            <a:r>
              <a:rPr lang="en-IN">
                <a:latin typeface="Times New Roman"/>
                <a:ea typeface="Times New Roman"/>
                <a:cs typeface="Times New Roman"/>
                <a:sym typeface="Times New Roman"/>
              </a:rPr>
              <a:t>Uses Kvasir v1 + v2 with 8 gastrointestinal categories.</a:t>
            </a:r>
            <a:endParaRPr/>
          </a:p>
          <a:p>
            <a:pPr indent="-228604" lvl="0" marL="228604" rtl="0" algn="l">
              <a:lnSpc>
                <a:spcPct val="120000"/>
              </a:lnSpc>
              <a:spcBef>
                <a:spcPts val="1001"/>
              </a:spcBef>
              <a:spcAft>
                <a:spcPts val="0"/>
              </a:spcAft>
              <a:buSzPts val="2000"/>
              <a:buChar char="•"/>
            </a:pPr>
            <a:r>
              <a:rPr lang="en-IN">
                <a:latin typeface="Times New Roman"/>
                <a:ea typeface="Times New Roman"/>
                <a:cs typeface="Times New Roman"/>
                <a:sym typeface="Times New Roman"/>
              </a:rPr>
              <a:t>Reported accuracy: 96.75%.</a:t>
            </a:r>
            <a:endParaRPr/>
          </a:p>
          <a:p>
            <a:pPr indent="0" lvl="0" marL="0" rtl="0" algn="l">
              <a:lnSpc>
                <a:spcPct val="120000"/>
              </a:lnSpc>
              <a:spcBef>
                <a:spcPts val="1001"/>
              </a:spcBef>
              <a:spcAft>
                <a:spcPts val="0"/>
              </a:spcAft>
              <a:buSzPts val="2000"/>
              <a:buNone/>
            </a:pPr>
            <a:r>
              <a:rPr b="1" lang="en-IN">
                <a:latin typeface="Times New Roman"/>
                <a:ea typeface="Times New Roman"/>
                <a:cs typeface="Times New Roman"/>
                <a:sym typeface="Times New Roman"/>
              </a:rPr>
              <a:t>Flow:</a:t>
            </a:r>
            <a:endParaRPr/>
          </a:p>
          <a:p>
            <a:pPr indent="-228604" lvl="0" marL="228604" rtl="0" algn="l">
              <a:lnSpc>
                <a:spcPct val="120000"/>
              </a:lnSpc>
              <a:spcBef>
                <a:spcPts val="1001"/>
              </a:spcBef>
              <a:spcAft>
                <a:spcPts val="0"/>
              </a:spcAft>
              <a:buSzPts val="2000"/>
              <a:buChar char="•"/>
            </a:pPr>
            <a:r>
              <a:rPr lang="en-IN">
                <a:latin typeface="Times New Roman"/>
                <a:ea typeface="Times New Roman"/>
                <a:cs typeface="Times New Roman"/>
                <a:sym typeface="Times New Roman"/>
              </a:rPr>
              <a:t>Image → CSCG-ResNet → M-MGO → QI-TabNet → Disease Class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5"/>
          <p:cNvSpPr txBox="1"/>
          <p:nvPr>
            <p:ph type="title"/>
          </p:nvPr>
        </p:nvSpPr>
        <p:spPr>
          <a:xfrm>
            <a:off x="1451580" y="804520"/>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IN" sz="3600">
                <a:latin typeface="Times New Roman"/>
                <a:ea typeface="Times New Roman"/>
                <a:cs typeface="Times New Roman"/>
                <a:sym typeface="Times New Roman"/>
              </a:rPr>
              <a:t>DRAWBACKS OF EXISTING SYSTEM:</a:t>
            </a:r>
            <a:endParaRPr/>
          </a:p>
        </p:txBody>
      </p:sp>
      <p:sp>
        <p:nvSpPr>
          <p:cNvPr id="130" name="Google Shape;130;p5"/>
          <p:cNvSpPr txBox="1"/>
          <p:nvPr>
            <p:ph idx="1" type="body"/>
          </p:nvPr>
        </p:nvSpPr>
        <p:spPr>
          <a:xfrm>
            <a:off x="1451580" y="2015733"/>
            <a:ext cx="9603275" cy="3450613"/>
          </a:xfrm>
          <a:prstGeom prst="rect">
            <a:avLst/>
          </a:prstGeom>
          <a:noFill/>
          <a:ln>
            <a:noFill/>
          </a:ln>
        </p:spPr>
        <p:txBody>
          <a:bodyPr anchorCtr="0" anchor="t" bIns="45700" lIns="91425" spcFirstLastPara="1" rIns="91425" wrap="square" tIns="45700">
            <a:normAutofit fontScale="92500"/>
          </a:bodyPr>
          <a:lstStyle/>
          <a:p>
            <a:pPr indent="-228604" lvl="0" marL="228604" rtl="0" algn="l">
              <a:lnSpc>
                <a:spcPct val="120000"/>
              </a:lnSpc>
              <a:spcBef>
                <a:spcPts val="0"/>
              </a:spcBef>
              <a:spcAft>
                <a:spcPts val="0"/>
              </a:spcAft>
              <a:buSzPct val="100000"/>
              <a:buChar char="•"/>
            </a:pPr>
            <a:r>
              <a:rPr lang="en-IN">
                <a:latin typeface="Times New Roman"/>
                <a:ea typeface="Times New Roman"/>
                <a:cs typeface="Times New Roman"/>
                <a:sym typeface="Times New Roman"/>
              </a:rPr>
              <a:t>The existing model mainly depends on a CNN-based ResNet architecture for extracting image features.</a:t>
            </a:r>
            <a:endParaRPr/>
          </a:p>
          <a:p>
            <a:pPr indent="-228604" lvl="0" marL="228604" rtl="0" algn="l">
              <a:lnSpc>
                <a:spcPct val="120000"/>
              </a:lnSpc>
              <a:spcBef>
                <a:spcPts val="1001"/>
              </a:spcBef>
              <a:spcAft>
                <a:spcPts val="0"/>
              </a:spcAft>
              <a:buSzPct val="100000"/>
              <a:buChar char="•"/>
            </a:pPr>
            <a:r>
              <a:rPr lang="en-IN">
                <a:latin typeface="Times New Roman"/>
                <a:ea typeface="Times New Roman"/>
                <a:cs typeface="Times New Roman"/>
                <a:sym typeface="Times New Roman"/>
              </a:rPr>
              <a:t>CNNs are effective at learning local features such as edges, textures and patterns, but they have limitations in capturing long-range relationships between different regions of an image.</a:t>
            </a:r>
            <a:endParaRPr/>
          </a:p>
          <a:p>
            <a:pPr indent="-228604" lvl="0" marL="228604" rtl="0" algn="l">
              <a:lnSpc>
                <a:spcPct val="120000"/>
              </a:lnSpc>
              <a:spcBef>
                <a:spcPts val="1001"/>
              </a:spcBef>
              <a:spcAft>
                <a:spcPts val="0"/>
              </a:spcAft>
              <a:buSzPct val="100000"/>
              <a:buChar char="•"/>
            </a:pPr>
            <a:r>
              <a:rPr lang="en-IN">
                <a:latin typeface="Times New Roman"/>
                <a:ea typeface="Times New Roman"/>
                <a:cs typeface="Times New Roman"/>
                <a:sym typeface="Times New Roman"/>
              </a:rPr>
              <a:t>The system contains multiple processing stages — CSCG-ResNet, M-MGO and QI-TabNet, making the overall architecture relatively complex.</a:t>
            </a:r>
            <a:endParaRPr/>
          </a:p>
          <a:p>
            <a:pPr indent="-228604" lvl="0" marL="228604" rtl="0" algn="l">
              <a:lnSpc>
                <a:spcPct val="120000"/>
              </a:lnSpc>
              <a:spcBef>
                <a:spcPts val="1001"/>
              </a:spcBef>
              <a:spcAft>
                <a:spcPts val="0"/>
              </a:spcAft>
              <a:buSzPct val="100000"/>
              <a:buChar char="•"/>
            </a:pPr>
            <a:r>
              <a:rPr lang="en-IN">
                <a:latin typeface="Times New Roman"/>
                <a:ea typeface="Times New Roman"/>
                <a:cs typeface="Times New Roman"/>
                <a:sym typeface="Times New Roman"/>
              </a:rPr>
              <a:t>Requires additional feature optimization and classification stages.</a:t>
            </a:r>
            <a:endParaRPr/>
          </a:p>
          <a:p>
            <a:pPr indent="-228604" lvl="0" marL="228604" rtl="0" algn="l">
              <a:lnSpc>
                <a:spcPct val="120000"/>
              </a:lnSpc>
              <a:spcBef>
                <a:spcPts val="1001"/>
              </a:spcBef>
              <a:spcAft>
                <a:spcPts val="0"/>
              </a:spcAft>
              <a:buSzPct val="100000"/>
              <a:buChar char="•"/>
            </a:pPr>
            <a:r>
              <a:rPr lang="en-IN">
                <a:latin typeface="Times New Roman"/>
                <a:ea typeface="Times New Roman"/>
                <a:cs typeface="Times New Roman"/>
                <a:sym typeface="Times New Roman"/>
              </a:rPr>
              <a:t>the multi-stage architecture introduces additional computational complexity.</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6"/>
          <p:cNvSpPr txBox="1"/>
          <p:nvPr>
            <p:ph type="title"/>
          </p:nvPr>
        </p:nvSpPr>
        <p:spPr>
          <a:xfrm>
            <a:off x="798654" y="804890"/>
            <a:ext cx="10256199" cy="80399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IN" sz="3600">
                <a:latin typeface="Times New Roman"/>
                <a:ea typeface="Times New Roman"/>
                <a:cs typeface="Times New Roman"/>
                <a:sym typeface="Times New Roman"/>
              </a:rPr>
              <a:t>PROPOSED SYSTEM:</a:t>
            </a:r>
            <a:endParaRPr/>
          </a:p>
        </p:txBody>
      </p:sp>
      <p:sp>
        <p:nvSpPr>
          <p:cNvPr id="136" name="Google Shape;136;p6"/>
          <p:cNvSpPr txBox="1"/>
          <p:nvPr>
            <p:ph idx="1" type="body"/>
          </p:nvPr>
        </p:nvSpPr>
        <p:spPr>
          <a:xfrm>
            <a:off x="555587" y="2010877"/>
            <a:ext cx="6875362" cy="4042233"/>
          </a:xfrm>
          <a:prstGeom prst="rect">
            <a:avLst/>
          </a:prstGeom>
          <a:noFill/>
          <a:ln>
            <a:noFill/>
          </a:ln>
        </p:spPr>
        <p:txBody>
          <a:bodyPr anchorCtr="0" anchor="t" bIns="45700" lIns="91425" spcFirstLastPara="1" rIns="91425" wrap="square" tIns="45700">
            <a:normAutofit fontScale="92500" lnSpcReduction="10000"/>
          </a:bodyPr>
          <a:lstStyle/>
          <a:p>
            <a:pPr indent="-228604" lvl="0" marL="228604" rtl="0" algn="just">
              <a:lnSpc>
                <a:spcPct val="120000"/>
              </a:lnSpc>
              <a:spcBef>
                <a:spcPts val="0"/>
              </a:spcBef>
              <a:spcAft>
                <a:spcPts val="0"/>
              </a:spcAft>
              <a:buSzPct val="100000"/>
              <a:buChar char="•"/>
            </a:pPr>
            <a:r>
              <a:rPr lang="en-IN">
                <a:latin typeface="Times New Roman"/>
                <a:ea typeface="Times New Roman"/>
                <a:cs typeface="Times New Roman"/>
                <a:sym typeface="Times New Roman"/>
              </a:rPr>
              <a:t>Develop a CNN–Transformer hybrid for GI disease classification.</a:t>
            </a:r>
            <a:endParaRPr/>
          </a:p>
          <a:p>
            <a:pPr indent="-228604" lvl="0" marL="228604" rtl="0" algn="just">
              <a:lnSpc>
                <a:spcPct val="120000"/>
              </a:lnSpc>
              <a:spcBef>
                <a:spcPts val="1001"/>
              </a:spcBef>
              <a:spcAft>
                <a:spcPts val="0"/>
              </a:spcAft>
              <a:buSzPct val="100000"/>
              <a:buChar char="•"/>
            </a:pPr>
            <a:r>
              <a:rPr lang="en-IN">
                <a:latin typeface="Times New Roman"/>
                <a:ea typeface="Times New Roman"/>
                <a:cs typeface="Times New Roman"/>
                <a:sym typeface="Times New Roman"/>
              </a:rPr>
              <a:t>Combine the strengths of CNNs and Transformers.</a:t>
            </a:r>
            <a:endParaRPr/>
          </a:p>
          <a:p>
            <a:pPr indent="-228604" lvl="0" marL="228604" rtl="0" algn="just">
              <a:lnSpc>
                <a:spcPct val="120000"/>
              </a:lnSpc>
              <a:spcBef>
                <a:spcPts val="1001"/>
              </a:spcBef>
              <a:spcAft>
                <a:spcPts val="0"/>
              </a:spcAft>
              <a:buSzPct val="100000"/>
              <a:buChar char="•"/>
            </a:pPr>
            <a:r>
              <a:rPr lang="en-IN">
                <a:latin typeface="Times New Roman"/>
                <a:ea typeface="Times New Roman"/>
                <a:cs typeface="Times New Roman"/>
                <a:sym typeface="Times New Roman"/>
              </a:rPr>
              <a:t>CNN extracts local features such as textures, shapes, and patterns.</a:t>
            </a:r>
            <a:endParaRPr/>
          </a:p>
          <a:p>
            <a:pPr indent="-228604" lvl="0" marL="228604" rtl="0" algn="just">
              <a:lnSpc>
                <a:spcPct val="120000"/>
              </a:lnSpc>
              <a:spcBef>
                <a:spcPts val="1001"/>
              </a:spcBef>
              <a:spcAft>
                <a:spcPts val="0"/>
              </a:spcAft>
              <a:buSzPct val="100000"/>
              <a:buChar char="•"/>
            </a:pPr>
            <a:r>
              <a:rPr lang="en-IN">
                <a:latin typeface="Times New Roman"/>
                <a:ea typeface="Times New Roman"/>
                <a:cs typeface="Times New Roman"/>
                <a:sym typeface="Times New Roman"/>
              </a:rPr>
              <a:t>Transformer captures global features and contextual relationships.</a:t>
            </a:r>
            <a:endParaRPr/>
          </a:p>
          <a:p>
            <a:pPr indent="-228604" lvl="0" marL="228604" rtl="0" algn="just">
              <a:lnSpc>
                <a:spcPct val="120000"/>
              </a:lnSpc>
              <a:spcBef>
                <a:spcPts val="1001"/>
              </a:spcBef>
              <a:spcAft>
                <a:spcPts val="0"/>
              </a:spcAft>
              <a:buSzPct val="100000"/>
              <a:buChar char="•"/>
            </a:pPr>
            <a:r>
              <a:rPr lang="en-IN">
                <a:latin typeface="Times New Roman"/>
                <a:ea typeface="Times New Roman"/>
                <a:cs typeface="Times New Roman"/>
                <a:sym typeface="Times New Roman"/>
              </a:rPr>
              <a:t>Evaluate InceptionNeXt, RepVGG  as CNN backbones.</a:t>
            </a:r>
            <a:endParaRPr/>
          </a:p>
          <a:p>
            <a:pPr indent="-228604" lvl="0" marL="228604" rtl="0" algn="just">
              <a:lnSpc>
                <a:spcPct val="120000"/>
              </a:lnSpc>
              <a:spcBef>
                <a:spcPts val="1001"/>
              </a:spcBef>
              <a:spcAft>
                <a:spcPts val="0"/>
              </a:spcAft>
              <a:buSzPct val="100000"/>
              <a:buChar char="•"/>
            </a:pPr>
            <a:r>
              <a:rPr lang="en-IN">
                <a:latin typeface="Times New Roman"/>
                <a:ea typeface="Times New Roman"/>
                <a:cs typeface="Times New Roman"/>
                <a:sym typeface="Times New Roman"/>
              </a:rPr>
              <a:t>Evaluate Focal Transformer, Twins-SVT as Transformer backbones.</a:t>
            </a:r>
            <a:endParaRPr/>
          </a:p>
          <a:p>
            <a:pPr indent="-228604" lvl="0" marL="228604" rtl="0" algn="just">
              <a:lnSpc>
                <a:spcPct val="120000"/>
              </a:lnSpc>
              <a:spcBef>
                <a:spcPts val="1001"/>
              </a:spcBef>
              <a:spcAft>
                <a:spcPts val="0"/>
              </a:spcAft>
              <a:buSzPct val="100000"/>
              <a:buChar char="•"/>
            </a:pPr>
            <a:r>
              <a:rPr lang="en-IN">
                <a:latin typeface="Times New Roman"/>
                <a:ea typeface="Times New Roman"/>
                <a:cs typeface="Times New Roman"/>
                <a:sym typeface="Times New Roman"/>
              </a:rPr>
              <a:t>Apply feature fusion to combine local and global features.</a:t>
            </a:r>
            <a:endParaRPr/>
          </a:p>
          <a:p>
            <a:pPr indent="-228604" lvl="0" marL="228604" rtl="0" algn="just">
              <a:lnSpc>
                <a:spcPct val="120000"/>
              </a:lnSpc>
              <a:spcBef>
                <a:spcPts val="1001"/>
              </a:spcBef>
              <a:spcAft>
                <a:spcPts val="0"/>
              </a:spcAft>
              <a:buSzPct val="100000"/>
              <a:buChar char="•"/>
            </a:pPr>
            <a:r>
              <a:rPr lang="en-IN">
                <a:latin typeface="Times New Roman"/>
                <a:ea typeface="Times New Roman"/>
                <a:cs typeface="Times New Roman"/>
                <a:sym typeface="Times New Roman"/>
              </a:rPr>
              <a:t>Use the fused features for final disease classification.</a:t>
            </a:r>
            <a:endParaRPr b="1">
              <a:latin typeface="Times New Roman"/>
              <a:ea typeface="Times New Roman"/>
              <a:cs typeface="Times New Roman"/>
              <a:sym typeface="Times New Roman"/>
            </a:endParaRPr>
          </a:p>
        </p:txBody>
      </p:sp>
      <p:pic>
        <p:nvPicPr>
          <p:cNvPr id="137" name="Google Shape;137;p6"/>
          <p:cNvPicPr preferRelativeResize="0"/>
          <p:nvPr>
            <p:ph idx="2" type="body"/>
          </p:nvPr>
        </p:nvPicPr>
        <p:blipFill rotWithShape="1">
          <a:blip r:embed="rId3">
            <a:alphaModFix/>
          </a:blip>
          <a:srcRect b="0" l="0" r="0" t="0"/>
          <a:stretch/>
        </p:blipFill>
        <p:spPr>
          <a:xfrm>
            <a:off x="7611640" y="548640"/>
            <a:ext cx="4437317" cy="534049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7"/>
          <p:cNvSpPr txBox="1"/>
          <p:nvPr>
            <p:ph type="title"/>
          </p:nvPr>
        </p:nvSpPr>
        <p:spPr>
          <a:xfrm>
            <a:off x="1451580" y="804520"/>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IN" sz="3600">
                <a:latin typeface="Times New Roman"/>
                <a:ea typeface="Times New Roman"/>
                <a:cs typeface="Times New Roman"/>
                <a:sym typeface="Times New Roman"/>
              </a:rPr>
              <a:t>ADVANTAGES OF PROPOSED SYSTEM:</a:t>
            </a:r>
            <a:endParaRPr/>
          </a:p>
        </p:txBody>
      </p:sp>
      <p:sp>
        <p:nvSpPr>
          <p:cNvPr id="143" name="Google Shape;143;p7"/>
          <p:cNvSpPr txBox="1"/>
          <p:nvPr>
            <p:ph idx="1" type="body"/>
          </p:nvPr>
        </p:nvSpPr>
        <p:spPr>
          <a:xfrm>
            <a:off x="1451580" y="2015733"/>
            <a:ext cx="9603275" cy="3450613"/>
          </a:xfrm>
          <a:prstGeom prst="rect">
            <a:avLst/>
          </a:prstGeom>
          <a:noFill/>
          <a:ln>
            <a:noFill/>
          </a:ln>
        </p:spPr>
        <p:txBody>
          <a:bodyPr anchorCtr="0" anchor="t" bIns="45700" lIns="91425" spcFirstLastPara="1" rIns="91425" wrap="square" tIns="45700">
            <a:noAutofit/>
          </a:bodyPr>
          <a:lstStyle/>
          <a:p>
            <a:pPr indent="-228604" lvl="0" marL="228604" rtl="0" algn="l">
              <a:lnSpc>
                <a:spcPct val="120000"/>
              </a:lnSpc>
              <a:spcBef>
                <a:spcPts val="0"/>
              </a:spcBef>
              <a:spcAft>
                <a:spcPts val="0"/>
              </a:spcAft>
              <a:buSzPts val="2000"/>
              <a:buChar char="•"/>
            </a:pPr>
            <a:r>
              <a:rPr lang="en-IN">
                <a:latin typeface="Times New Roman"/>
                <a:ea typeface="Times New Roman"/>
                <a:cs typeface="Times New Roman"/>
                <a:sym typeface="Times New Roman"/>
              </a:rPr>
              <a:t>CNN captures local features like edges, textures, shapes, and disease patterns.</a:t>
            </a:r>
            <a:endParaRPr/>
          </a:p>
          <a:p>
            <a:pPr indent="-228604" lvl="0" marL="228604" rtl="0" algn="l">
              <a:lnSpc>
                <a:spcPct val="120000"/>
              </a:lnSpc>
              <a:spcBef>
                <a:spcPts val="1001"/>
              </a:spcBef>
              <a:spcAft>
                <a:spcPts val="0"/>
              </a:spcAft>
              <a:buSzPts val="2000"/>
              <a:buChar char="•"/>
            </a:pPr>
            <a:r>
              <a:rPr lang="en-IN">
                <a:latin typeface="Times New Roman"/>
                <a:ea typeface="Times New Roman"/>
                <a:cs typeface="Times New Roman"/>
                <a:sym typeface="Times New Roman"/>
              </a:rPr>
              <a:t>Transformer captures global features and relationships between different image regions.</a:t>
            </a:r>
            <a:endParaRPr/>
          </a:p>
          <a:p>
            <a:pPr indent="-228604" lvl="0" marL="228604" rtl="0" algn="l">
              <a:lnSpc>
                <a:spcPct val="120000"/>
              </a:lnSpc>
              <a:spcBef>
                <a:spcPts val="1001"/>
              </a:spcBef>
              <a:spcAft>
                <a:spcPts val="0"/>
              </a:spcAft>
              <a:buSzPts val="2000"/>
              <a:buChar char="•"/>
            </a:pPr>
            <a:r>
              <a:rPr lang="en-IN">
                <a:latin typeface="Times New Roman"/>
                <a:ea typeface="Times New Roman"/>
                <a:cs typeface="Times New Roman"/>
                <a:sym typeface="Times New Roman"/>
              </a:rPr>
              <a:t>Combines local and global information for better disease classification.</a:t>
            </a:r>
            <a:endParaRPr/>
          </a:p>
          <a:p>
            <a:pPr indent="-228604" lvl="0" marL="228604" rtl="0" algn="l">
              <a:lnSpc>
                <a:spcPct val="120000"/>
              </a:lnSpc>
              <a:spcBef>
                <a:spcPts val="1001"/>
              </a:spcBef>
              <a:spcAft>
                <a:spcPts val="0"/>
              </a:spcAft>
              <a:buSzPts val="2000"/>
              <a:buChar char="•"/>
            </a:pPr>
            <a:r>
              <a:rPr lang="en-IN">
                <a:latin typeface="Times New Roman"/>
                <a:ea typeface="Times New Roman"/>
                <a:cs typeface="Times New Roman"/>
                <a:sym typeface="Times New Roman"/>
              </a:rPr>
              <a:t>Avoid unnecessary layers and complex operations.</a:t>
            </a:r>
            <a:endParaRPr/>
          </a:p>
          <a:p>
            <a:pPr indent="-228604" lvl="0" marL="228604" rtl="0" algn="l">
              <a:lnSpc>
                <a:spcPct val="120000"/>
              </a:lnSpc>
              <a:spcBef>
                <a:spcPts val="1001"/>
              </a:spcBef>
              <a:spcAft>
                <a:spcPts val="0"/>
              </a:spcAft>
              <a:buSzPts val="2000"/>
              <a:buChar char="•"/>
            </a:pPr>
            <a:r>
              <a:rPr lang="en-IN">
                <a:latin typeface="Times New Roman"/>
                <a:ea typeface="Times New Roman"/>
                <a:cs typeface="Times New Roman"/>
                <a:sym typeface="Times New Roman"/>
              </a:rPr>
              <a:t>Requires less memory and computational power</a:t>
            </a:r>
            <a:endParaRPr>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8"/>
          <p:cNvSpPr txBox="1"/>
          <p:nvPr>
            <p:ph idx="4294967295" type="title"/>
          </p:nvPr>
        </p:nvSpPr>
        <p:spPr>
          <a:xfrm>
            <a:off x="310771" y="164783"/>
            <a:ext cx="9604375" cy="104933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lang="en-IN" sz="3600">
                <a:latin typeface="Times New Roman"/>
                <a:ea typeface="Times New Roman"/>
                <a:cs typeface="Times New Roman"/>
                <a:sym typeface="Times New Roman"/>
              </a:rPr>
              <a:t>LITERATURE SURVEY</a:t>
            </a:r>
            <a:endParaRPr sz="3600">
              <a:latin typeface="Times New Roman"/>
              <a:ea typeface="Times New Roman"/>
              <a:cs typeface="Times New Roman"/>
              <a:sym typeface="Times New Roman"/>
            </a:endParaRPr>
          </a:p>
        </p:txBody>
      </p:sp>
      <p:graphicFrame>
        <p:nvGraphicFramePr>
          <p:cNvPr id="149" name="Google Shape;149;p8"/>
          <p:cNvGraphicFramePr/>
          <p:nvPr/>
        </p:nvGraphicFramePr>
        <p:xfrm>
          <a:off x="310771" y="758952"/>
          <a:ext cx="3000000" cy="3000000"/>
        </p:xfrm>
        <a:graphic>
          <a:graphicData uri="http://schemas.openxmlformats.org/drawingml/2006/table">
            <a:tbl>
              <a:tblPr bandRow="1" firstRow="1">
                <a:noFill/>
                <a:tableStyleId>{A7E1E49C-4630-47F6-959F-E29E5168019A}</a:tableStyleId>
              </a:tblPr>
              <a:tblGrid>
                <a:gridCol w="1955625"/>
                <a:gridCol w="997850"/>
                <a:gridCol w="1641325"/>
                <a:gridCol w="2462000"/>
                <a:gridCol w="2974925"/>
                <a:gridCol w="1681875"/>
              </a:tblGrid>
              <a:tr h="701325">
                <a:tc>
                  <a:txBody>
                    <a:bodyPr/>
                    <a:lstStyle/>
                    <a:p>
                      <a:pPr indent="0" lvl="0" marL="0" marR="0" rtl="0" algn="l">
                        <a:spcBef>
                          <a:spcPts val="0"/>
                        </a:spcBef>
                        <a:spcAft>
                          <a:spcPts val="0"/>
                        </a:spcAft>
                        <a:buNone/>
                      </a:pPr>
                      <a:r>
                        <a:rPr b="0" lang="en-IN" sz="1600" u="none" cap="none" strike="noStrike">
                          <a:latin typeface="Times New Roman"/>
                          <a:ea typeface="Times New Roman"/>
                          <a:cs typeface="Times New Roman"/>
                          <a:sym typeface="Times New Roman"/>
                        </a:rPr>
                        <a:t>TITLE</a:t>
                      </a:r>
                      <a:endParaRPr b="0"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b="0" lang="en-IN" sz="1600">
                          <a:latin typeface="Times New Roman"/>
                          <a:ea typeface="Times New Roman"/>
                          <a:cs typeface="Times New Roman"/>
                          <a:sym typeface="Times New Roman"/>
                        </a:rPr>
                        <a:t>YEAR</a:t>
                      </a:r>
                      <a:endParaRPr b="0"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b="0" lang="en-IN" sz="1600">
                          <a:latin typeface="Times New Roman"/>
                          <a:ea typeface="Times New Roman"/>
                          <a:cs typeface="Times New Roman"/>
                          <a:sym typeface="Times New Roman"/>
                        </a:rPr>
                        <a:t>AUTHOR</a:t>
                      </a:r>
                      <a:endParaRPr b="0"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b="0" lang="en-IN" sz="1600">
                          <a:latin typeface="Times New Roman"/>
                          <a:ea typeface="Times New Roman"/>
                          <a:cs typeface="Times New Roman"/>
                          <a:sym typeface="Times New Roman"/>
                        </a:rPr>
                        <a:t>MODELS USED</a:t>
                      </a:r>
                      <a:endParaRPr b="0"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b="0" lang="en-IN" sz="1600">
                          <a:latin typeface="Times New Roman"/>
                          <a:ea typeface="Times New Roman"/>
                          <a:cs typeface="Times New Roman"/>
                          <a:sym typeface="Times New Roman"/>
                        </a:rPr>
                        <a:t>KEY CONTRIBUTION</a:t>
                      </a:r>
                      <a:endParaRPr b="0"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b="0" lang="en-IN" sz="1600">
                          <a:latin typeface="Times New Roman"/>
                          <a:ea typeface="Times New Roman"/>
                          <a:cs typeface="Times New Roman"/>
                          <a:sym typeface="Times New Roman"/>
                        </a:rPr>
                        <a:t>ACCURACY</a:t>
                      </a:r>
                      <a:endParaRPr b="0" sz="1600">
                        <a:latin typeface="Times New Roman"/>
                        <a:ea typeface="Times New Roman"/>
                        <a:cs typeface="Times New Roman"/>
                        <a:sym typeface="Times New Roman"/>
                      </a:endParaRPr>
                    </a:p>
                  </a:txBody>
                  <a:tcPr marT="45725" marB="45725" marR="91450" marL="91450"/>
                </a:tc>
              </a:tr>
              <a:tr h="2140000">
                <a:tc>
                  <a:txBody>
                    <a:bodyPr/>
                    <a:lstStyle/>
                    <a:p>
                      <a:pPr indent="0" lvl="0" marL="0" marR="0" rtl="0" algn="ctr">
                        <a:spcBef>
                          <a:spcPts val="0"/>
                        </a:spcBef>
                        <a:spcAft>
                          <a:spcPts val="0"/>
                        </a:spcAft>
                        <a:buClr>
                          <a:srgbClr val="000000"/>
                        </a:buClr>
                        <a:buSzPts val="1600"/>
                        <a:buFont typeface="Times New Roman"/>
                        <a:buNone/>
                      </a:pPr>
                      <a:r>
                        <a:rPr b="0" i="0" lang="en-IN" sz="1600" u="none" strike="noStrike">
                          <a:solidFill>
                            <a:srgbClr val="000000"/>
                          </a:solidFill>
                          <a:latin typeface="Times New Roman"/>
                          <a:ea typeface="Times New Roman"/>
                          <a:cs typeface="Times New Roman"/>
                          <a:sym typeface="Times New Roman"/>
                        </a:rPr>
                        <a:t>An Improved ResNet-Based Deep Learning Model with Modified Mountain Gazelle Optimization for Gastrointestinal Disease Classification</a:t>
                      </a:r>
                      <a:endParaRPr/>
                    </a:p>
                  </a:txBody>
                  <a:tcPr marT="7625" marB="0" marR="7625" marL="7625" anchor="ctr"/>
                </a:tc>
                <a:tc>
                  <a:txBody>
                    <a:bodyPr/>
                    <a:lstStyle/>
                    <a:p>
                      <a:pPr indent="0" lvl="0" marL="0" marR="0" rtl="0" algn="ctr">
                        <a:spcBef>
                          <a:spcPts val="0"/>
                        </a:spcBef>
                        <a:spcAft>
                          <a:spcPts val="0"/>
                        </a:spcAft>
                        <a:buNone/>
                      </a:pPr>
                      <a:r>
                        <a:rPr b="0" lang="en-IN" sz="1600">
                          <a:latin typeface="Times New Roman"/>
                          <a:ea typeface="Times New Roman"/>
                          <a:cs typeface="Times New Roman"/>
                          <a:sym typeface="Times New Roman"/>
                        </a:rPr>
                        <a:t>2026</a:t>
                      </a:r>
                      <a:endParaRPr b="0" sz="1600">
                        <a:latin typeface="Times New Roman"/>
                        <a:ea typeface="Times New Roman"/>
                        <a:cs typeface="Times New Roman"/>
                        <a:sym typeface="Times New Roman"/>
                      </a:endParaRPr>
                    </a:p>
                  </a:txBody>
                  <a:tcPr marT="45725" marB="45725" marR="91450" marL="91450" anchor="ctr"/>
                </a:tc>
                <a:tc>
                  <a:txBody>
                    <a:bodyPr/>
                    <a:lstStyle/>
                    <a:p>
                      <a:pPr indent="0" lvl="0" marL="0" marR="0" rtl="0" algn="ctr">
                        <a:spcBef>
                          <a:spcPts val="0"/>
                        </a:spcBef>
                        <a:spcAft>
                          <a:spcPts val="0"/>
                        </a:spcAft>
                        <a:buNone/>
                      </a:pPr>
                      <a:r>
                        <a:rPr b="0" lang="en-IN" sz="1600">
                          <a:latin typeface="Times New Roman"/>
                          <a:ea typeface="Times New Roman"/>
                          <a:cs typeface="Times New Roman"/>
                          <a:sym typeface="Times New Roman"/>
                        </a:rPr>
                        <a:t>Harshitha E.S. </a:t>
                      </a:r>
                      <a:endParaRPr/>
                    </a:p>
                    <a:p>
                      <a:pPr indent="0" lvl="0" marL="0" marR="0" rtl="0" algn="ctr">
                        <a:spcBef>
                          <a:spcPts val="0"/>
                        </a:spcBef>
                        <a:spcAft>
                          <a:spcPts val="0"/>
                        </a:spcAft>
                        <a:buNone/>
                      </a:pPr>
                      <a:r>
                        <a:rPr b="0" lang="en-IN" sz="1600">
                          <a:latin typeface="Times New Roman"/>
                          <a:ea typeface="Times New Roman"/>
                          <a:cs typeface="Times New Roman"/>
                          <a:sym typeface="Times New Roman"/>
                        </a:rPr>
                        <a:t>Narmadha G. </a:t>
                      </a:r>
                      <a:endParaRPr/>
                    </a:p>
                    <a:p>
                      <a:pPr indent="0" lvl="0" marL="0" marR="0" rtl="0" algn="ctr">
                        <a:spcBef>
                          <a:spcPts val="0"/>
                        </a:spcBef>
                        <a:spcAft>
                          <a:spcPts val="0"/>
                        </a:spcAft>
                        <a:buNone/>
                      </a:pPr>
                      <a:r>
                        <a:rPr b="0" lang="en-IN" sz="1600">
                          <a:latin typeface="Times New Roman"/>
                          <a:ea typeface="Times New Roman"/>
                          <a:cs typeface="Times New Roman"/>
                          <a:sym typeface="Times New Roman"/>
                        </a:rPr>
                        <a:t>Sakthivel B. </a:t>
                      </a:r>
                      <a:endParaRPr/>
                    </a:p>
                    <a:p>
                      <a:pPr indent="0" lvl="0" marL="0" marR="0" rtl="0" algn="ctr">
                        <a:spcBef>
                          <a:spcPts val="0"/>
                        </a:spcBef>
                        <a:spcAft>
                          <a:spcPts val="0"/>
                        </a:spcAft>
                        <a:buNone/>
                      </a:pPr>
                      <a:r>
                        <a:rPr b="0" lang="en-IN" sz="1600">
                          <a:latin typeface="Times New Roman"/>
                          <a:ea typeface="Times New Roman"/>
                          <a:cs typeface="Times New Roman"/>
                          <a:sym typeface="Times New Roman"/>
                        </a:rPr>
                        <a:t>Muneeswari B</a:t>
                      </a:r>
                      <a:endParaRPr/>
                    </a:p>
                  </a:txBody>
                  <a:tcPr marT="45725" marB="45725" marR="91450" marL="91450" anchor="ctr"/>
                </a:tc>
                <a:tc>
                  <a:txBody>
                    <a:bodyPr/>
                    <a:lstStyle/>
                    <a:p>
                      <a:pPr indent="0" lvl="0" marL="0" marR="0" rtl="0" algn="ctr">
                        <a:spcBef>
                          <a:spcPts val="0"/>
                        </a:spcBef>
                        <a:spcAft>
                          <a:spcPts val="0"/>
                        </a:spcAft>
                        <a:buClr>
                          <a:srgbClr val="303030"/>
                        </a:buClr>
                        <a:buSzPts val="1600"/>
                        <a:buFont typeface="Times New Roman"/>
                        <a:buNone/>
                      </a:pPr>
                      <a:r>
                        <a:rPr b="0" i="0" lang="en-IN" sz="1600" u="none" strike="noStrike">
                          <a:solidFill>
                            <a:srgbClr val="303030"/>
                          </a:solidFill>
                          <a:latin typeface="Times New Roman"/>
                          <a:ea typeface="Times New Roman"/>
                          <a:cs typeface="Times New Roman"/>
                          <a:sym typeface="Times New Roman"/>
                        </a:rPr>
                        <a:t>CSCG-ResNet (Channel-Spatial Context Gating ResNet), Modified Mountain Gazelle Optimizer (M-MGO), and Quantum-inspired Adaptive TabNet (QI-TabNet)</a:t>
                      </a:r>
                      <a:endParaRPr/>
                    </a:p>
                  </a:txBody>
                  <a:tcPr marT="7625" marB="0" marR="7625" marL="7625" anchor="ctr"/>
                </a:tc>
                <a:tc>
                  <a:txBody>
                    <a:bodyPr/>
                    <a:lstStyle/>
                    <a:p>
                      <a:pPr indent="0" lvl="0" marL="0" marR="0" rtl="0" algn="ctr">
                        <a:spcBef>
                          <a:spcPts val="0"/>
                        </a:spcBef>
                        <a:spcAft>
                          <a:spcPts val="0"/>
                        </a:spcAft>
                        <a:buNone/>
                      </a:pPr>
                      <a:r>
                        <a:rPr b="0" lang="en-IN" sz="1600">
                          <a:latin typeface="Times New Roman"/>
                          <a:ea typeface="Times New Roman"/>
                          <a:cs typeface="Times New Roman"/>
                          <a:sym typeface="Times New Roman"/>
                        </a:rPr>
                        <a:t>Proposed an improved ResNet-based model combined with a Modified Mountain Gazelle Optimization algorithm to enhance feature optimization and improve the classification of gastrointestinal diseases.</a:t>
                      </a:r>
                      <a:endParaRPr/>
                    </a:p>
                  </a:txBody>
                  <a:tcPr marT="45725" marB="45725" marR="91450" marL="91450" anchor="ctr"/>
                </a:tc>
                <a:tc>
                  <a:txBody>
                    <a:bodyPr/>
                    <a:lstStyle/>
                    <a:p>
                      <a:pPr indent="0" lvl="0" marL="0" marR="0" rtl="0" algn="ctr">
                        <a:spcBef>
                          <a:spcPts val="0"/>
                        </a:spcBef>
                        <a:spcAft>
                          <a:spcPts val="0"/>
                        </a:spcAft>
                        <a:buNone/>
                      </a:pPr>
                      <a:r>
                        <a:rPr b="0" lang="en-IN" sz="1600">
                          <a:latin typeface="Times New Roman"/>
                          <a:ea typeface="Times New Roman"/>
                          <a:cs typeface="Times New Roman"/>
                          <a:sym typeface="Times New Roman"/>
                        </a:rPr>
                        <a:t>96.75%</a:t>
                      </a:r>
                      <a:endParaRPr b="0" sz="1600">
                        <a:latin typeface="Times New Roman"/>
                        <a:ea typeface="Times New Roman"/>
                        <a:cs typeface="Times New Roman"/>
                        <a:sym typeface="Times New Roman"/>
                      </a:endParaRPr>
                    </a:p>
                  </a:txBody>
                  <a:tcPr marT="45725" marB="45725" marR="91450" marL="91450" anchor="ctr"/>
                </a:tc>
              </a:tr>
              <a:tr h="2370750">
                <a:tc>
                  <a:txBody>
                    <a:bodyPr/>
                    <a:lstStyle/>
                    <a:p>
                      <a:pPr indent="0" lvl="0" marL="0" marR="0" rtl="0" algn="ctr">
                        <a:spcBef>
                          <a:spcPts val="0"/>
                        </a:spcBef>
                        <a:spcAft>
                          <a:spcPts val="0"/>
                        </a:spcAft>
                        <a:buClr>
                          <a:srgbClr val="303030"/>
                        </a:buClr>
                        <a:buSzPts val="1600"/>
                        <a:buFont typeface="Times New Roman"/>
                        <a:buNone/>
                      </a:pPr>
                      <a:r>
                        <a:rPr b="0" i="0" lang="en-IN" sz="1600" u="none" strike="noStrike">
                          <a:solidFill>
                            <a:srgbClr val="303030"/>
                          </a:solidFill>
                          <a:latin typeface="Times New Roman"/>
                          <a:ea typeface="Times New Roman"/>
                          <a:cs typeface="Times New Roman"/>
                          <a:sym typeface="Times New Roman"/>
                        </a:rPr>
                        <a:t>GastricNet: an efficient and lightweight deep neural network in mobile edge computing for gastrointestinal disease detection</a:t>
                      </a:r>
                      <a:endParaRPr/>
                    </a:p>
                  </a:txBody>
                  <a:tcPr marT="7625" marB="0" marR="7625" marL="7625" anchor="ctr"/>
                </a:tc>
                <a:tc>
                  <a:txBody>
                    <a:bodyPr/>
                    <a:lstStyle/>
                    <a:p>
                      <a:pPr indent="0" lvl="0" marL="0" marR="0" rtl="0" algn="ctr">
                        <a:spcBef>
                          <a:spcPts val="0"/>
                        </a:spcBef>
                        <a:spcAft>
                          <a:spcPts val="0"/>
                        </a:spcAft>
                        <a:buNone/>
                      </a:pPr>
                      <a:r>
                        <a:rPr b="0" lang="en-IN" sz="1600">
                          <a:latin typeface="Times New Roman"/>
                          <a:ea typeface="Times New Roman"/>
                          <a:cs typeface="Times New Roman"/>
                          <a:sym typeface="Times New Roman"/>
                        </a:rPr>
                        <a:t>2026</a:t>
                      </a:r>
                      <a:endParaRPr b="0" sz="1600">
                        <a:latin typeface="Times New Roman"/>
                        <a:ea typeface="Times New Roman"/>
                        <a:cs typeface="Times New Roman"/>
                        <a:sym typeface="Times New Roman"/>
                      </a:endParaRPr>
                    </a:p>
                  </a:txBody>
                  <a:tcPr marT="45725" marB="45725" marR="91450" marL="91450" anchor="ctr"/>
                </a:tc>
                <a:tc>
                  <a:txBody>
                    <a:bodyPr/>
                    <a:lstStyle/>
                    <a:p>
                      <a:pPr indent="0" lvl="0" marL="0" marR="0" rtl="0" algn="ctr">
                        <a:spcBef>
                          <a:spcPts val="0"/>
                        </a:spcBef>
                        <a:spcAft>
                          <a:spcPts val="0"/>
                        </a:spcAft>
                        <a:buNone/>
                      </a:pPr>
                      <a:r>
                        <a:rPr b="0" lang="en-IN" sz="1600">
                          <a:latin typeface="Times New Roman"/>
                          <a:ea typeface="Times New Roman"/>
                          <a:cs typeface="Times New Roman"/>
                          <a:sym typeface="Times New Roman"/>
                        </a:rPr>
                        <a:t>Sohaib Asif </a:t>
                      </a:r>
                      <a:endParaRPr/>
                    </a:p>
                    <a:p>
                      <a:pPr indent="0" lvl="0" marL="0" marR="0" rtl="0" algn="ctr">
                        <a:spcBef>
                          <a:spcPts val="0"/>
                        </a:spcBef>
                        <a:spcAft>
                          <a:spcPts val="0"/>
                        </a:spcAft>
                        <a:buNone/>
                      </a:pPr>
                      <a:r>
                        <a:rPr b="0" lang="en-IN" sz="1600">
                          <a:latin typeface="Times New Roman"/>
                          <a:ea typeface="Times New Roman"/>
                          <a:cs typeface="Times New Roman"/>
                          <a:sym typeface="Times New Roman"/>
                        </a:rPr>
                        <a:t>Rongbiao Ying </a:t>
                      </a:r>
                      <a:endParaRPr/>
                    </a:p>
                    <a:p>
                      <a:pPr indent="0" lvl="0" marL="0" marR="0" rtl="0" algn="ctr">
                        <a:spcBef>
                          <a:spcPts val="0"/>
                        </a:spcBef>
                        <a:spcAft>
                          <a:spcPts val="0"/>
                        </a:spcAft>
                        <a:buNone/>
                      </a:pPr>
                      <a:r>
                        <a:rPr b="0" lang="en-IN" sz="1600">
                          <a:latin typeface="Times New Roman"/>
                          <a:ea typeface="Times New Roman"/>
                          <a:cs typeface="Times New Roman"/>
                          <a:sym typeface="Times New Roman"/>
                        </a:rPr>
                        <a:t>Jinjie Qu </a:t>
                      </a:r>
                      <a:endParaRPr/>
                    </a:p>
                    <a:p>
                      <a:pPr indent="0" lvl="0" marL="0" marR="0" rtl="0" algn="ctr">
                        <a:spcBef>
                          <a:spcPts val="0"/>
                        </a:spcBef>
                        <a:spcAft>
                          <a:spcPts val="0"/>
                        </a:spcAft>
                        <a:buNone/>
                      </a:pPr>
                      <a:r>
                        <a:rPr b="0" lang="en-IN" sz="1600">
                          <a:latin typeface="Times New Roman"/>
                          <a:ea typeface="Times New Roman"/>
                          <a:cs typeface="Times New Roman"/>
                          <a:sym typeface="Times New Roman"/>
                        </a:rPr>
                        <a:t>Vicky Yang Wang </a:t>
                      </a:r>
                      <a:endParaRPr/>
                    </a:p>
                    <a:p>
                      <a:pPr indent="0" lvl="0" marL="0" marR="0" rtl="0" algn="ctr">
                        <a:spcBef>
                          <a:spcPts val="0"/>
                        </a:spcBef>
                        <a:spcAft>
                          <a:spcPts val="0"/>
                        </a:spcAft>
                        <a:buNone/>
                      </a:pPr>
                      <a:r>
                        <a:rPr b="0" lang="en-IN" sz="1600">
                          <a:latin typeface="Times New Roman"/>
                          <a:ea typeface="Times New Roman"/>
                          <a:cs typeface="Times New Roman"/>
                          <a:sym typeface="Times New Roman"/>
                        </a:rPr>
                        <a:t>Jun Yao </a:t>
                      </a:r>
                      <a:endParaRPr/>
                    </a:p>
                    <a:p>
                      <a:pPr indent="0" lvl="0" marL="0" marR="0" rtl="0" algn="ctr">
                        <a:spcBef>
                          <a:spcPts val="0"/>
                        </a:spcBef>
                        <a:spcAft>
                          <a:spcPts val="0"/>
                        </a:spcAft>
                        <a:buNone/>
                      </a:pPr>
                      <a:r>
                        <a:rPr b="0" lang="en-IN" sz="1600">
                          <a:latin typeface="Times New Roman"/>
                          <a:ea typeface="Times New Roman"/>
                          <a:cs typeface="Times New Roman"/>
                          <a:sym typeface="Times New Roman"/>
                        </a:rPr>
                        <a:t>Dong Xu</a:t>
                      </a:r>
                      <a:endParaRPr/>
                    </a:p>
                  </a:txBody>
                  <a:tcPr marT="45725" marB="45725" marR="91450" marL="91450" anchor="ctr"/>
                </a:tc>
                <a:tc>
                  <a:txBody>
                    <a:bodyPr/>
                    <a:lstStyle/>
                    <a:p>
                      <a:pPr indent="0" lvl="0" marL="0" marR="0" rtl="0" algn="ctr">
                        <a:spcBef>
                          <a:spcPts val="0"/>
                        </a:spcBef>
                        <a:spcAft>
                          <a:spcPts val="0"/>
                        </a:spcAft>
                        <a:buClr>
                          <a:srgbClr val="303030"/>
                        </a:buClr>
                        <a:buSzPts val="1600"/>
                        <a:buFont typeface="Times New Roman"/>
                        <a:buNone/>
                      </a:pPr>
                      <a:r>
                        <a:rPr b="0" i="0" lang="en-IN" sz="1600" u="none" strike="noStrike">
                          <a:solidFill>
                            <a:srgbClr val="303030"/>
                          </a:solidFill>
                          <a:latin typeface="Times New Roman"/>
                          <a:ea typeface="Times New Roman"/>
                          <a:cs typeface="Times New Roman"/>
                          <a:sym typeface="Times New Roman"/>
                        </a:rPr>
                        <a:t>GastricNet (incorporating Lite-ResB, ConvMixer, Squeeze-and-Excitation, and Hypercolumn technique), compressed via Knowledge Distillation (KD) using MobileNetV2 as teacher</a:t>
                      </a:r>
                      <a:endParaRPr/>
                    </a:p>
                  </a:txBody>
                  <a:tcPr marT="7625" marB="0" marR="7625" marL="7625" anchor="ctr"/>
                </a:tc>
                <a:tc>
                  <a:txBody>
                    <a:bodyPr/>
                    <a:lstStyle/>
                    <a:p>
                      <a:pPr indent="0" lvl="0" marL="0" marR="0" rtl="0" algn="ctr">
                        <a:spcBef>
                          <a:spcPts val="0"/>
                        </a:spcBef>
                        <a:spcAft>
                          <a:spcPts val="0"/>
                        </a:spcAft>
                        <a:buNone/>
                      </a:pPr>
                      <a:r>
                        <a:rPr b="0" lang="en-IN" sz="1600">
                          <a:latin typeface="Times New Roman"/>
                          <a:ea typeface="Times New Roman"/>
                          <a:cs typeface="Times New Roman"/>
                          <a:sym typeface="Times New Roman"/>
                        </a:rPr>
                        <a:t>Proposed GastricNet, a lightweight and efficient deep learning model for gastrointestinal disease detection, designed to reduce computational complexity and support deployment in mobile edge computing environments.</a:t>
                      </a:r>
                      <a:endParaRPr/>
                    </a:p>
                  </a:txBody>
                  <a:tcPr marT="45725" marB="45725" marR="91450" marL="91450" anchor="ctr"/>
                </a:tc>
                <a:tc>
                  <a:txBody>
                    <a:bodyPr/>
                    <a:lstStyle/>
                    <a:p>
                      <a:pPr indent="0" lvl="0" marL="0" marR="0" rtl="0" algn="ctr">
                        <a:spcBef>
                          <a:spcPts val="0"/>
                        </a:spcBef>
                        <a:spcAft>
                          <a:spcPts val="0"/>
                        </a:spcAft>
                        <a:buNone/>
                      </a:pPr>
                      <a:r>
                        <a:rPr b="0" lang="en-IN" sz="1600">
                          <a:latin typeface="Times New Roman"/>
                          <a:ea typeface="Times New Roman"/>
                          <a:cs typeface="Times New Roman"/>
                          <a:sym typeface="Times New Roman"/>
                        </a:rPr>
                        <a:t>98%</a:t>
                      </a:r>
                      <a:endParaRPr b="0" sz="1600">
                        <a:latin typeface="Times New Roman"/>
                        <a:ea typeface="Times New Roman"/>
                        <a:cs typeface="Times New Roman"/>
                        <a:sym typeface="Times New Roman"/>
                      </a:endParaRPr>
                    </a:p>
                  </a:txBody>
                  <a:tcPr marT="45725" marB="45725" marR="91450" marL="91450" anchor="ct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9"/>
          <p:cNvSpPr txBox="1"/>
          <p:nvPr>
            <p:ph idx="4294967295" type="title"/>
          </p:nvPr>
        </p:nvSpPr>
        <p:spPr>
          <a:xfrm>
            <a:off x="310771" y="164783"/>
            <a:ext cx="9604375" cy="104933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lang="en-IN" sz="3600">
                <a:latin typeface="Times New Roman"/>
                <a:ea typeface="Times New Roman"/>
                <a:cs typeface="Times New Roman"/>
                <a:sym typeface="Times New Roman"/>
              </a:rPr>
              <a:t>LITERATURE SURVEY</a:t>
            </a:r>
            <a:endParaRPr sz="3600">
              <a:latin typeface="Times New Roman"/>
              <a:ea typeface="Times New Roman"/>
              <a:cs typeface="Times New Roman"/>
              <a:sym typeface="Times New Roman"/>
            </a:endParaRPr>
          </a:p>
        </p:txBody>
      </p:sp>
      <p:graphicFrame>
        <p:nvGraphicFramePr>
          <p:cNvPr id="155" name="Google Shape;155;p9"/>
          <p:cNvGraphicFramePr/>
          <p:nvPr/>
        </p:nvGraphicFramePr>
        <p:xfrm>
          <a:off x="310770" y="689452"/>
          <a:ext cx="3000000" cy="3000000"/>
        </p:xfrm>
        <a:graphic>
          <a:graphicData uri="http://schemas.openxmlformats.org/drawingml/2006/table">
            <a:tbl>
              <a:tblPr bandRow="1" firstRow="1">
                <a:noFill/>
                <a:tableStyleId>{A7E1E49C-4630-47F6-959F-E29E5168019A}</a:tableStyleId>
              </a:tblPr>
              <a:tblGrid>
                <a:gridCol w="1952575"/>
                <a:gridCol w="996300"/>
                <a:gridCol w="1638775"/>
                <a:gridCol w="2458150"/>
                <a:gridCol w="3210425"/>
                <a:gridCol w="1439100"/>
              </a:tblGrid>
              <a:tr h="612175">
                <a:tc>
                  <a:txBody>
                    <a:bodyPr/>
                    <a:lstStyle/>
                    <a:p>
                      <a:pPr indent="0" lvl="0" marL="0" marR="0" rtl="0" algn="l">
                        <a:spcBef>
                          <a:spcPts val="0"/>
                        </a:spcBef>
                        <a:spcAft>
                          <a:spcPts val="0"/>
                        </a:spcAft>
                        <a:buNone/>
                      </a:pPr>
                      <a:r>
                        <a:rPr lang="en-IN" sz="1600">
                          <a:latin typeface="Times New Roman"/>
                          <a:ea typeface="Times New Roman"/>
                          <a:cs typeface="Times New Roman"/>
                          <a:sym typeface="Times New Roman"/>
                        </a:rPr>
                        <a:t>TITLE </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IN" sz="1600">
                          <a:latin typeface="Times New Roman"/>
                          <a:ea typeface="Times New Roman"/>
                          <a:cs typeface="Times New Roman"/>
                          <a:sym typeface="Times New Roman"/>
                        </a:rPr>
                        <a:t>YEAR</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IN" sz="1600">
                          <a:latin typeface="Times New Roman"/>
                          <a:ea typeface="Times New Roman"/>
                          <a:cs typeface="Times New Roman"/>
                          <a:sym typeface="Times New Roman"/>
                        </a:rPr>
                        <a:t>AUTHOR</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IN" sz="1600">
                          <a:latin typeface="Times New Roman"/>
                          <a:ea typeface="Times New Roman"/>
                          <a:cs typeface="Times New Roman"/>
                          <a:sym typeface="Times New Roman"/>
                        </a:rPr>
                        <a:t>MODELS USED</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IN" sz="1600">
                          <a:latin typeface="Times New Roman"/>
                          <a:ea typeface="Times New Roman"/>
                          <a:cs typeface="Times New Roman"/>
                          <a:sym typeface="Times New Roman"/>
                        </a:rPr>
                        <a:t>KEY CONTRIBUTION</a:t>
                      </a:r>
                      <a:endParaRPr sz="16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IN" sz="1600">
                          <a:latin typeface="Times New Roman"/>
                          <a:ea typeface="Times New Roman"/>
                          <a:cs typeface="Times New Roman"/>
                          <a:sym typeface="Times New Roman"/>
                        </a:rPr>
                        <a:t>ACCURACY</a:t>
                      </a:r>
                      <a:endParaRPr sz="1600">
                        <a:latin typeface="Times New Roman"/>
                        <a:ea typeface="Times New Roman"/>
                        <a:cs typeface="Times New Roman"/>
                        <a:sym typeface="Times New Roman"/>
                      </a:endParaRPr>
                    </a:p>
                  </a:txBody>
                  <a:tcPr marT="45725" marB="45725" marR="91450" marL="91450"/>
                </a:tc>
              </a:tr>
              <a:tr h="2563500">
                <a:tc>
                  <a:txBody>
                    <a:bodyPr/>
                    <a:lstStyle/>
                    <a:p>
                      <a:pPr indent="0" lvl="0" marL="0" marR="0" rtl="0" algn="ctr">
                        <a:lnSpc>
                          <a:spcPct val="100000"/>
                        </a:lnSpc>
                        <a:spcBef>
                          <a:spcPts val="0"/>
                        </a:spcBef>
                        <a:spcAft>
                          <a:spcPts val="0"/>
                        </a:spcAft>
                        <a:buClr>
                          <a:schemeClr val="dk1"/>
                        </a:buClr>
                        <a:buSzPts val="1600"/>
                        <a:buFont typeface="Times New Roman"/>
                        <a:buNone/>
                      </a:pPr>
                      <a:r>
                        <a:rPr b="0" i="0" lang="en-IN" sz="1600">
                          <a:solidFill>
                            <a:schemeClr val="dk1"/>
                          </a:solidFill>
                          <a:latin typeface="Times New Roman"/>
                          <a:ea typeface="Times New Roman"/>
                          <a:cs typeface="Times New Roman"/>
                          <a:sym typeface="Times New Roman"/>
                        </a:rPr>
                        <a:t>Enhanced DINOv2-Based Framework for Multi-Class Gastrointestinal Abnormality Classification in Capsule Endoscopy</a:t>
                      </a:r>
                      <a:endParaRPr b="0" sz="1600">
                        <a:latin typeface="Times New Roman"/>
                        <a:ea typeface="Times New Roman"/>
                        <a:cs typeface="Times New Roman"/>
                        <a:sym typeface="Times New Roman"/>
                      </a:endParaRPr>
                    </a:p>
                  </a:txBody>
                  <a:tcPr marT="45725" marB="45725" marR="91450" marL="91450" anchor="ctr"/>
                </a:tc>
                <a:tc>
                  <a:txBody>
                    <a:bodyPr/>
                    <a:lstStyle/>
                    <a:p>
                      <a:pPr indent="0" lvl="0" marL="0" marR="0" rtl="0" algn="ctr">
                        <a:spcBef>
                          <a:spcPts val="0"/>
                        </a:spcBef>
                        <a:spcAft>
                          <a:spcPts val="0"/>
                        </a:spcAft>
                        <a:buNone/>
                      </a:pPr>
                      <a:r>
                        <a:rPr b="0" lang="en-IN" sz="1600">
                          <a:latin typeface="Times New Roman"/>
                          <a:ea typeface="Times New Roman"/>
                          <a:cs typeface="Times New Roman"/>
                          <a:sym typeface="Times New Roman"/>
                        </a:rPr>
                        <a:t>2025</a:t>
                      </a:r>
                      <a:endParaRPr b="0" sz="1600">
                        <a:latin typeface="Times New Roman"/>
                        <a:ea typeface="Times New Roman"/>
                        <a:cs typeface="Times New Roman"/>
                        <a:sym typeface="Times New Roman"/>
                      </a:endParaRPr>
                    </a:p>
                  </a:txBody>
                  <a:tcPr marT="45725" marB="45725" marR="91450" marL="91450" anchor="ctr"/>
                </a:tc>
                <a:tc>
                  <a:txBody>
                    <a:bodyPr/>
                    <a:lstStyle/>
                    <a:p>
                      <a:pPr indent="0" lvl="0" marL="0" marR="0" rtl="0" algn="ctr">
                        <a:spcBef>
                          <a:spcPts val="0"/>
                        </a:spcBef>
                        <a:spcAft>
                          <a:spcPts val="0"/>
                        </a:spcAft>
                        <a:buNone/>
                      </a:pPr>
                      <a:r>
                        <a:rPr b="0" i="0" lang="en-IN" sz="1600">
                          <a:solidFill>
                            <a:schemeClr val="dk1"/>
                          </a:solidFill>
                          <a:latin typeface="Times New Roman"/>
                          <a:ea typeface="Times New Roman"/>
                          <a:cs typeface="Times New Roman"/>
                          <a:sym typeface="Times New Roman"/>
                        </a:rPr>
                        <a:t>Manav Anand, Pradneya Prabhudesai, Pranav Kumar, Geeta Sikka, and Arjun Singh Rawat</a:t>
                      </a:r>
                      <a:br>
                        <a:rPr b="0" lang="en-IN" sz="1600">
                          <a:latin typeface="Times New Roman"/>
                          <a:ea typeface="Times New Roman"/>
                          <a:cs typeface="Times New Roman"/>
                          <a:sym typeface="Times New Roman"/>
                        </a:rPr>
                      </a:br>
                      <a:endParaRPr b="0" sz="1600">
                        <a:latin typeface="Times New Roman"/>
                        <a:ea typeface="Times New Roman"/>
                        <a:cs typeface="Times New Roman"/>
                        <a:sym typeface="Times New Roman"/>
                      </a:endParaRPr>
                    </a:p>
                  </a:txBody>
                  <a:tcPr marT="45725" marB="45725" marR="91450" marL="91450" anchor="ctr"/>
                </a:tc>
                <a:tc>
                  <a:txBody>
                    <a:bodyPr/>
                    <a:lstStyle/>
                    <a:p>
                      <a:pPr indent="0" lvl="0" marL="0" marR="0" rtl="0" algn="ctr">
                        <a:lnSpc>
                          <a:spcPct val="100000"/>
                        </a:lnSpc>
                        <a:spcBef>
                          <a:spcPts val="0"/>
                        </a:spcBef>
                        <a:spcAft>
                          <a:spcPts val="0"/>
                        </a:spcAft>
                        <a:buClr>
                          <a:schemeClr val="dk1"/>
                        </a:buClr>
                        <a:buSzPts val="1600"/>
                        <a:buFont typeface="Times New Roman"/>
                        <a:buNone/>
                      </a:pPr>
                      <a:r>
                        <a:rPr b="0" i="0" lang="en-IN" sz="1600">
                          <a:solidFill>
                            <a:schemeClr val="dk1"/>
                          </a:solidFill>
                          <a:latin typeface="Times New Roman"/>
                          <a:ea typeface="Times New Roman"/>
                          <a:cs typeface="Times New Roman"/>
                          <a:sym typeface="Times New Roman"/>
                        </a:rPr>
                        <a:t>DINOv2 ViT-B/14 encoder, lightweight classifier head (dense layers with ReLU and Softmax), and Adam optimizer</a:t>
                      </a:r>
                      <a:endParaRPr b="0" i="0" sz="1600" u="none" strike="noStrike">
                        <a:solidFill>
                          <a:srgbClr val="1F1F1F"/>
                        </a:solidFill>
                        <a:latin typeface="Times New Roman"/>
                        <a:ea typeface="Times New Roman"/>
                        <a:cs typeface="Times New Roman"/>
                        <a:sym typeface="Times New Roman"/>
                      </a:endParaRPr>
                    </a:p>
                  </a:txBody>
                  <a:tcPr marT="45725" marB="45725" marR="91450" marL="91450" anchor="ctr"/>
                </a:tc>
                <a:tc>
                  <a:txBody>
                    <a:bodyPr/>
                    <a:lstStyle/>
                    <a:p>
                      <a:pPr indent="0" lvl="0" marL="0" marR="0" rtl="0" algn="ctr">
                        <a:spcBef>
                          <a:spcPts val="0"/>
                        </a:spcBef>
                        <a:spcAft>
                          <a:spcPts val="0"/>
                        </a:spcAft>
                        <a:buNone/>
                      </a:pPr>
                      <a:r>
                        <a:rPr b="0" i="0" lang="en-IN" sz="1600">
                          <a:solidFill>
                            <a:schemeClr val="dk1"/>
                          </a:solidFill>
                          <a:latin typeface="Times New Roman"/>
                          <a:ea typeface="Times New Roman"/>
                          <a:cs typeface="Times New Roman"/>
                          <a:sym typeface="Times New Roman"/>
                        </a:rPr>
                        <a:t>It uses a frozen pre-trained Vision Transformer (DINOv2) with a lightweight classification head to highly accurately and efficiently categorize ten distinct gastrointestinal abnormalities from video capsule endoscopy images without the need for extensive fine-tuning</a:t>
                      </a:r>
                      <a:br>
                        <a:rPr b="0" lang="en-IN" sz="1600">
                          <a:latin typeface="Times New Roman"/>
                          <a:ea typeface="Times New Roman"/>
                          <a:cs typeface="Times New Roman"/>
                          <a:sym typeface="Times New Roman"/>
                        </a:rPr>
                      </a:br>
                      <a:endParaRPr b="0" sz="1600">
                        <a:latin typeface="Times New Roman"/>
                        <a:ea typeface="Times New Roman"/>
                        <a:cs typeface="Times New Roman"/>
                        <a:sym typeface="Times New Roman"/>
                      </a:endParaRPr>
                    </a:p>
                  </a:txBody>
                  <a:tcPr marT="45725" marB="45725" marR="91450" marL="91450" anchor="ctr"/>
                </a:tc>
                <a:tc>
                  <a:txBody>
                    <a:bodyPr/>
                    <a:lstStyle/>
                    <a:p>
                      <a:pPr indent="0" lvl="0" marL="0" marR="0" rtl="0" algn="ctr">
                        <a:spcBef>
                          <a:spcPts val="0"/>
                        </a:spcBef>
                        <a:spcAft>
                          <a:spcPts val="0"/>
                        </a:spcAft>
                        <a:buNone/>
                      </a:pPr>
                      <a:r>
                        <a:rPr b="0" lang="en-IN" sz="1600">
                          <a:latin typeface="Times New Roman"/>
                          <a:ea typeface="Times New Roman"/>
                          <a:cs typeface="Times New Roman"/>
                          <a:sym typeface="Times New Roman"/>
                        </a:rPr>
                        <a:t>93.31%</a:t>
                      </a:r>
                      <a:endParaRPr b="0" sz="1600">
                        <a:latin typeface="Times New Roman"/>
                        <a:ea typeface="Times New Roman"/>
                        <a:cs typeface="Times New Roman"/>
                        <a:sym typeface="Times New Roman"/>
                      </a:endParaRPr>
                    </a:p>
                  </a:txBody>
                  <a:tcPr marT="45725" marB="45725" marR="91450" marL="91450" anchor="ctr"/>
                </a:tc>
              </a:tr>
              <a:tr h="2069325">
                <a:tc>
                  <a:txBody>
                    <a:bodyPr/>
                    <a:lstStyle/>
                    <a:p>
                      <a:pPr indent="0" lvl="0" marL="0" marR="0" rtl="0" algn="ctr">
                        <a:lnSpc>
                          <a:spcPct val="100000"/>
                        </a:lnSpc>
                        <a:spcBef>
                          <a:spcPts val="0"/>
                        </a:spcBef>
                        <a:spcAft>
                          <a:spcPts val="0"/>
                        </a:spcAft>
                        <a:buClr>
                          <a:srgbClr val="1F1F1F"/>
                        </a:buClr>
                        <a:buSzPts val="1600"/>
                        <a:buFont typeface="Times New Roman"/>
                        <a:buNone/>
                      </a:pPr>
                      <a:r>
                        <a:rPr b="0" i="0" lang="en-IN" sz="1600" u="none" strike="noStrike">
                          <a:solidFill>
                            <a:srgbClr val="1F1F1F"/>
                          </a:solidFill>
                          <a:latin typeface="Times New Roman"/>
                          <a:ea typeface="Times New Roman"/>
                          <a:cs typeface="Times New Roman"/>
                          <a:sym typeface="Times New Roman"/>
                        </a:rPr>
                        <a:t>A Novel Random Forest-SMOTE Framework With Polynomial Feature Engineering for Early Detection of Gastrointestinal Disorders</a:t>
                      </a:r>
                      <a:endParaRPr/>
                    </a:p>
                  </a:txBody>
                  <a:tcPr marT="45725" marB="45725" marR="91450" marL="91450" anchor="ctr"/>
                </a:tc>
                <a:tc>
                  <a:txBody>
                    <a:bodyPr/>
                    <a:lstStyle/>
                    <a:p>
                      <a:pPr indent="0" lvl="0" marL="0" marR="0" rtl="0" algn="ctr">
                        <a:spcBef>
                          <a:spcPts val="0"/>
                        </a:spcBef>
                        <a:spcAft>
                          <a:spcPts val="0"/>
                        </a:spcAft>
                        <a:buNone/>
                      </a:pPr>
                      <a:r>
                        <a:rPr lang="en-IN" sz="1600">
                          <a:latin typeface="Times New Roman"/>
                          <a:ea typeface="Times New Roman"/>
                          <a:cs typeface="Times New Roman"/>
                          <a:sym typeface="Times New Roman"/>
                        </a:rPr>
                        <a:t>2025</a:t>
                      </a:r>
                      <a:endParaRPr sz="1600">
                        <a:latin typeface="Times New Roman"/>
                        <a:ea typeface="Times New Roman"/>
                        <a:cs typeface="Times New Roman"/>
                        <a:sym typeface="Times New Roman"/>
                      </a:endParaRPr>
                    </a:p>
                  </a:txBody>
                  <a:tcPr marT="45725" marB="45725" marR="91450" marL="91450" anchor="ctr"/>
                </a:tc>
                <a:tc>
                  <a:txBody>
                    <a:bodyPr/>
                    <a:lstStyle/>
                    <a:p>
                      <a:pPr indent="0" lvl="0" marL="0" marR="0" rtl="0" algn="ctr">
                        <a:spcBef>
                          <a:spcPts val="0"/>
                        </a:spcBef>
                        <a:spcAft>
                          <a:spcPts val="0"/>
                        </a:spcAft>
                        <a:buNone/>
                      </a:pPr>
                      <a:r>
                        <a:rPr b="0" i="0" lang="en-IN" sz="1600">
                          <a:solidFill>
                            <a:schemeClr val="dk1"/>
                          </a:solidFill>
                          <a:latin typeface="Times New Roman"/>
                          <a:ea typeface="Times New Roman"/>
                          <a:cs typeface="Times New Roman"/>
                          <a:sym typeface="Times New Roman"/>
                        </a:rPr>
                        <a:t>Parvez Rahi, Mohammad Rashid Hussain, Salem Alqahtani, Mohammad Husain, Ajay Pal Singh, and Inderjeet Singh</a:t>
                      </a:r>
                      <a:endParaRPr b="0" sz="1600">
                        <a:latin typeface="Times New Roman"/>
                        <a:ea typeface="Times New Roman"/>
                        <a:cs typeface="Times New Roman"/>
                        <a:sym typeface="Times New Roman"/>
                      </a:endParaRPr>
                    </a:p>
                  </a:txBody>
                  <a:tcPr marT="45725" marB="45725" marR="91450" marL="91450" anchor="ctr"/>
                </a:tc>
                <a:tc>
                  <a:txBody>
                    <a:bodyPr/>
                    <a:lstStyle/>
                    <a:p>
                      <a:pPr indent="0" lvl="0" marL="0" marR="0" rtl="0" algn="ctr">
                        <a:lnSpc>
                          <a:spcPct val="100000"/>
                        </a:lnSpc>
                        <a:spcBef>
                          <a:spcPts val="0"/>
                        </a:spcBef>
                        <a:spcAft>
                          <a:spcPts val="0"/>
                        </a:spcAft>
                        <a:buClr>
                          <a:srgbClr val="1F1F1F"/>
                        </a:buClr>
                        <a:buSzPts val="1600"/>
                        <a:buFont typeface="Times New Roman"/>
                        <a:buNone/>
                      </a:pPr>
                      <a:r>
                        <a:rPr b="0" i="0" lang="en-IN" sz="1600" u="none" strike="noStrike">
                          <a:solidFill>
                            <a:srgbClr val="1F1F1F"/>
                          </a:solidFill>
                          <a:latin typeface="Times New Roman"/>
                          <a:ea typeface="Times New Roman"/>
                          <a:cs typeface="Times New Roman"/>
                          <a:sym typeface="Times New Roman"/>
                        </a:rPr>
                        <a:t>Random Forest (RF), Synthetic Minority Oversampling Techni-que(SMOTE), GridSearchCV,  Polynomial Feature Engineer-ing, CNN, LightGBM, and TabNet</a:t>
                      </a:r>
                      <a:endParaRPr b="0" i="0" sz="1600" u="none" strike="noStrike">
                        <a:solidFill>
                          <a:srgbClr val="1F1F1F"/>
                        </a:solidFill>
                        <a:latin typeface="Times New Roman"/>
                        <a:ea typeface="Times New Roman"/>
                        <a:cs typeface="Times New Roman"/>
                        <a:sym typeface="Times New Roman"/>
                      </a:endParaRPr>
                    </a:p>
                  </a:txBody>
                  <a:tcPr marT="45725" marB="45725" marR="91450" marL="91450" anchor="ctr"/>
                </a:tc>
                <a:tc>
                  <a:txBody>
                    <a:bodyPr/>
                    <a:lstStyle/>
                    <a:p>
                      <a:pPr indent="0" lvl="0" marL="0" marR="0" rtl="0" algn="ctr">
                        <a:spcBef>
                          <a:spcPts val="0"/>
                        </a:spcBef>
                        <a:spcAft>
                          <a:spcPts val="0"/>
                        </a:spcAft>
                        <a:buNone/>
                      </a:pPr>
                      <a:r>
                        <a:rPr b="0" i="0" lang="en-IN" sz="1600">
                          <a:solidFill>
                            <a:schemeClr val="dk1"/>
                          </a:solidFill>
                          <a:latin typeface="Times New Roman"/>
                          <a:ea typeface="Times New Roman"/>
                          <a:cs typeface="Times New Roman"/>
                          <a:sym typeface="Times New Roman"/>
                        </a:rPr>
                        <a:t>It introduces a highly accurate, non-invasive system that predicts gastrointestinal diseases based on a patient's tabular clinical, lifestyle, and genetic symptom data rather than relying on images</a:t>
                      </a:r>
                      <a:endParaRPr sz="1600">
                        <a:latin typeface="Times New Roman"/>
                        <a:ea typeface="Times New Roman"/>
                        <a:cs typeface="Times New Roman"/>
                        <a:sym typeface="Times New Roman"/>
                      </a:endParaRPr>
                    </a:p>
                  </a:txBody>
                  <a:tcPr marT="45725" marB="45725" marR="91450" marL="91450" anchor="ctr"/>
                </a:tc>
                <a:tc>
                  <a:txBody>
                    <a:bodyPr/>
                    <a:lstStyle/>
                    <a:p>
                      <a:pPr indent="0" lvl="0" marL="0" marR="0" rtl="0" algn="ctr">
                        <a:spcBef>
                          <a:spcPts val="0"/>
                        </a:spcBef>
                        <a:spcAft>
                          <a:spcPts val="0"/>
                        </a:spcAft>
                        <a:buNone/>
                      </a:pPr>
                      <a:r>
                        <a:rPr lang="en-IN" sz="1600">
                          <a:latin typeface="Times New Roman"/>
                          <a:ea typeface="Times New Roman"/>
                          <a:cs typeface="Times New Roman"/>
                          <a:sym typeface="Times New Roman"/>
                        </a:rPr>
                        <a:t>96.61%</a:t>
                      </a:r>
                      <a:endParaRPr sz="1600">
                        <a:latin typeface="Times New Roman"/>
                        <a:ea typeface="Times New Roman"/>
                        <a:cs typeface="Times New Roman"/>
                        <a:sym typeface="Times New Roman"/>
                      </a:endParaRPr>
                    </a:p>
                  </a:txBody>
                  <a:tcPr marT="45725" marB="45725" marR="91450" marL="91450" anchor="ct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0"/>
          <p:cNvSpPr txBox="1"/>
          <p:nvPr>
            <p:ph type="title"/>
          </p:nvPr>
        </p:nvSpPr>
        <p:spPr>
          <a:xfrm>
            <a:off x="1451580" y="804520"/>
            <a:ext cx="9603275" cy="1049235"/>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3600"/>
              <a:buFont typeface="Times New Roman"/>
              <a:buNone/>
            </a:pPr>
            <a:r>
              <a:rPr lang="en-IN" sz="3600">
                <a:latin typeface="Times New Roman"/>
                <a:ea typeface="Times New Roman"/>
                <a:cs typeface="Times New Roman"/>
                <a:sym typeface="Times New Roman"/>
              </a:rPr>
              <a:t>DATASET INFORMATION</a:t>
            </a:r>
            <a:endParaRPr sz="3600">
              <a:latin typeface="Times New Roman"/>
              <a:ea typeface="Times New Roman"/>
              <a:cs typeface="Times New Roman"/>
              <a:sym typeface="Times New Roman"/>
            </a:endParaRPr>
          </a:p>
        </p:txBody>
      </p:sp>
      <p:sp>
        <p:nvSpPr>
          <p:cNvPr id="161" name="Google Shape;161;p10"/>
          <p:cNvSpPr txBox="1"/>
          <p:nvPr>
            <p:ph idx="1" type="body"/>
          </p:nvPr>
        </p:nvSpPr>
        <p:spPr>
          <a:xfrm>
            <a:off x="1451580" y="1853755"/>
            <a:ext cx="9603275" cy="4199725"/>
          </a:xfrm>
          <a:prstGeom prst="rect">
            <a:avLst/>
          </a:prstGeom>
          <a:noFill/>
          <a:ln>
            <a:noFill/>
          </a:ln>
        </p:spPr>
        <p:txBody>
          <a:bodyPr anchorCtr="0" anchor="t" bIns="45700" lIns="91425" spcFirstLastPara="1" rIns="91425" wrap="square" tIns="45700">
            <a:noAutofit/>
          </a:bodyPr>
          <a:lstStyle/>
          <a:p>
            <a:pPr indent="-228604" lvl="0" marL="228604" rtl="0" algn="just">
              <a:lnSpc>
                <a:spcPct val="120000"/>
              </a:lnSpc>
              <a:spcBef>
                <a:spcPts val="0"/>
              </a:spcBef>
              <a:spcAft>
                <a:spcPts val="0"/>
              </a:spcAft>
              <a:buSzPts val="2000"/>
              <a:buChar char="•"/>
            </a:pPr>
            <a:r>
              <a:rPr lang="en-IN">
                <a:latin typeface="Times New Roman"/>
                <a:ea typeface="Times New Roman"/>
                <a:cs typeface="Times New Roman"/>
                <a:sym typeface="Times New Roman"/>
              </a:rPr>
              <a:t>GastroVision Dataset</a:t>
            </a:r>
            <a:endParaRPr/>
          </a:p>
          <a:p>
            <a:pPr indent="-228604" lvl="0" marL="228604" rtl="0" algn="just">
              <a:lnSpc>
                <a:spcPct val="120000"/>
              </a:lnSpc>
              <a:spcBef>
                <a:spcPts val="1001"/>
              </a:spcBef>
              <a:spcAft>
                <a:spcPts val="0"/>
              </a:spcAft>
              <a:buSzPts val="2000"/>
              <a:buChar char="•"/>
            </a:pPr>
            <a:r>
              <a:rPr lang="en-IN">
                <a:latin typeface="Times New Roman"/>
                <a:ea typeface="Times New Roman"/>
                <a:cs typeface="Times New Roman"/>
                <a:sym typeface="Times New Roman"/>
              </a:rPr>
              <a:t>8,000 GI endoscopy images with 27 classes</a:t>
            </a:r>
            <a:endParaRPr/>
          </a:p>
          <a:p>
            <a:pPr indent="-228604" lvl="0" marL="228604" rtl="0" algn="just">
              <a:lnSpc>
                <a:spcPct val="120000"/>
              </a:lnSpc>
              <a:spcBef>
                <a:spcPts val="1001"/>
              </a:spcBef>
              <a:spcAft>
                <a:spcPts val="0"/>
              </a:spcAft>
              <a:buSzPts val="2000"/>
              <a:buChar char="•"/>
            </a:pPr>
            <a:r>
              <a:rPr lang="en-IN">
                <a:latin typeface="Times New Roman"/>
                <a:ea typeface="Times New Roman"/>
                <a:cs typeface="Times New Roman"/>
                <a:sym typeface="Times New Roman"/>
              </a:rPr>
              <a:t>Covers upper and lower GI tract findings</a:t>
            </a:r>
            <a:endParaRPr/>
          </a:p>
          <a:p>
            <a:pPr indent="-228604" lvl="0" marL="228604" rtl="0" algn="just">
              <a:lnSpc>
                <a:spcPct val="120000"/>
              </a:lnSpc>
              <a:spcBef>
                <a:spcPts val="1001"/>
              </a:spcBef>
              <a:spcAft>
                <a:spcPts val="0"/>
              </a:spcAft>
              <a:buSzPts val="2000"/>
              <a:buChar char="•"/>
            </a:pPr>
            <a:r>
              <a:rPr lang="en-IN">
                <a:latin typeface="Times New Roman"/>
                <a:ea typeface="Times New Roman"/>
                <a:cs typeface="Times New Roman"/>
                <a:sym typeface="Times New Roman"/>
              </a:rPr>
              <a:t>Includes normal and pathological conditions</a:t>
            </a:r>
            <a:endParaRPr/>
          </a:p>
          <a:p>
            <a:pPr indent="-228604" lvl="0" marL="228604" rtl="0" algn="just">
              <a:lnSpc>
                <a:spcPct val="120000"/>
              </a:lnSpc>
              <a:spcBef>
                <a:spcPts val="1001"/>
              </a:spcBef>
              <a:spcAft>
                <a:spcPts val="0"/>
              </a:spcAft>
              <a:buSzPts val="2000"/>
              <a:buChar char="•"/>
            </a:pPr>
            <a:r>
              <a:rPr lang="en-IN">
                <a:latin typeface="Times New Roman"/>
                <a:ea typeface="Times New Roman"/>
                <a:cs typeface="Times New Roman"/>
                <a:sym typeface="Times New Roman"/>
              </a:rPr>
              <a:t>Images collected from hospitals in Norway and Sweden</a:t>
            </a:r>
            <a:endParaRPr/>
          </a:p>
          <a:p>
            <a:pPr indent="-228604" lvl="0" marL="228604" rtl="0" algn="just">
              <a:lnSpc>
                <a:spcPct val="120000"/>
              </a:lnSpc>
              <a:spcBef>
                <a:spcPts val="1001"/>
              </a:spcBef>
              <a:spcAft>
                <a:spcPts val="0"/>
              </a:spcAft>
              <a:buSzPts val="2000"/>
              <a:buChar char="•"/>
            </a:pPr>
            <a:r>
              <a:rPr lang="en-IN">
                <a:latin typeface="Times New Roman"/>
                <a:ea typeface="Times New Roman"/>
                <a:cs typeface="Times New Roman"/>
                <a:sym typeface="Times New Roman"/>
              </a:rPr>
              <a:t>Expert-annotated by GI endoscopists</a:t>
            </a:r>
            <a:endParaRPr/>
          </a:p>
          <a:p>
            <a:pPr indent="-228604" lvl="0" marL="228604" rtl="0" algn="just">
              <a:lnSpc>
                <a:spcPct val="120000"/>
              </a:lnSpc>
              <a:spcBef>
                <a:spcPts val="1001"/>
              </a:spcBef>
              <a:spcAft>
                <a:spcPts val="0"/>
              </a:spcAft>
              <a:buSzPts val="2000"/>
              <a:buChar char="•"/>
            </a:pPr>
            <a:r>
              <a:rPr lang="en-IN">
                <a:latin typeface="Times New Roman"/>
                <a:ea typeface="Times New Roman"/>
                <a:cs typeface="Times New Roman"/>
                <a:sym typeface="Times New Roman"/>
              </a:rPr>
              <a:t>Used for automated GI disease classification</a:t>
            </a:r>
            <a:endParaRPr>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1"/>
          <p:cNvSpPr txBox="1"/>
          <p:nvPr>
            <p:ph type="title"/>
          </p:nvPr>
        </p:nvSpPr>
        <p:spPr>
          <a:xfrm>
            <a:off x="1451580" y="804520"/>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lang="en-IN" sz="3600">
                <a:latin typeface="Times New Roman"/>
                <a:ea typeface="Times New Roman"/>
                <a:cs typeface="Times New Roman"/>
                <a:sym typeface="Times New Roman"/>
              </a:rPr>
              <a:t>CONCLUSION</a:t>
            </a:r>
            <a:endParaRPr sz="3600">
              <a:latin typeface="Times New Roman"/>
              <a:ea typeface="Times New Roman"/>
              <a:cs typeface="Times New Roman"/>
              <a:sym typeface="Times New Roman"/>
            </a:endParaRPr>
          </a:p>
        </p:txBody>
      </p:sp>
      <p:sp>
        <p:nvSpPr>
          <p:cNvPr id="167" name="Google Shape;167;p11"/>
          <p:cNvSpPr txBox="1"/>
          <p:nvPr>
            <p:ph idx="1" type="body"/>
          </p:nvPr>
        </p:nvSpPr>
        <p:spPr>
          <a:xfrm>
            <a:off x="1451580" y="2015733"/>
            <a:ext cx="9603275" cy="3450613"/>
          </a:xfrm>
          <a:prstGeom prst="rect">
            <a:avLst/>
          </a:prstGeom>
          <a:noFill/>
          <a:ln>
            <a:noFill/>
          </a:ln>
        </p:spPr>
        <p:txBody>
          <a:bodyPr anchorCtr="0" anchor="t" bIns="45700" lIns="91425" spcFirstLastPara="1" rIns="91425" wrap="square" tIns="45700">
            <a:normAutofit/>
          </a:bodyPr>
          <a:lstStyle/>
          <a:p>
            <a:pPr indent="-228604" lvl="0" marL="228604" rtl="0" algn="just">
              <a:lnSpc>
                <a:spcPct val="120000"/>
              </a:lnSpc>
              <a:spcBef>
                <a:spcPts val="0"/>
              </a:spcBef>
              <a:spcAft>
                <a:spcPts val="0"/>
              </a:spcAft>
              <a:buSzPts val="2000"/>
              <a:buChar char="•"/>
            </a:pPr>
            <a:r>
              <a:rPr lang="en-IN">
                <a:latin typeface="Times New Roman"/>
                <a:ea typeface="Times New Roman"/>
                <a:cs typeface="Times New Roman"/>
                <a:sym typeface="Times New Roman"/>
              </a:rPr>
              <a:t>The proposed hybrid CNN–Transformer model provides an effective approach for gastrointestinal disease classification using capsule endoscopy images. By combining local and global feature extraction, it overcomes the limitations of the existing single-model approach. The use of the Kvasir-Capsule dataset enables reliable model training and evaluation. This approach is expected to improve disease classification and support faster, more accurate clinical diagnosis.</a:t>
            </a:r>
            <a:endParaRPr>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2"/>
          <p:cNvSpPr txBox="1"/>
          <p:nvPr/>
        </p:nvSpPr>
        <p:spPr>
          <a:xfrm>
            <a:off x="2314937" y="2505670"/>
            <a:ext cx="8518967"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9600" u="none" cap="none" strike="noStrike">
                <a:solidFill>
                  <a:schemeClr val="dk1"/>
                </a:solidFill>
                <a:latin typeface="Times New Roman"/>
                <a:ea typeface="Times New Roman"/>
                <a:cs typeface="Times New Roman"/>
                <a:sym typeface="Times New Roman"/>
              </a:rPr>
              <a:t>Thank you..</a:t>
            </a:r>
            <a:endParaRPr sz="96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llery">
  <a:themeElements>
    <a:clrScheme name="Gallery">
      <a:dk1>
        <a:srgbClr val="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2026-07-12T14:48:06Z</dcterms:created>
  <dc:creator>Akireddy Varaprasad</dc:creator>
</cp:coreProperties>
</file>