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133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5E790E9-9F1E-4521-B329-E55174182FB8}" type="datetimeFigureOut">
              <a:rPr lang="en-IN" smtClean="0"/>
              <a:t>20-07-2026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EB67DF-31FD-4C71-9F9B-CABEC4E8047D}" type="slidenum">
              <a:rPr lang="en-IN" smtClean="0"/>
              <a:t>‹#›</a:t>
            </a:fld>
            <a:endParaRPr lang="en-IN"/>
          </a:p>
        </p:txBody>
      </p:sp>
    </p:spTree>
    <p:extLst>
      <p:ext uri="{BB962C8B-B14F-4D97-AF65-F5344CB8AC3E}">
        <p14:creationId xmlns:p14="http://schemas.microsoft.com/office/powerpoint/2010/main" val="536928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7388" y="1143000"/>
            <a:ext cx="5484812"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1EB67DF-31FD-4C71-9F9B-CABEC4E8047D}" type="slidenum">
              <a:rPr lang="en-IN" smtClean="0"/>
              <a:t>4</a:t>
            </a:fld>
            <a:endParaRPr lang="en-IN"/>
          </a:p>
        </p:txBody>
      </p:sp>
    </p:spTree>
    <p:extLst>
      <p:ext uri="{BB962C8B-B14F-4D97-AF65-F5344CB8AC3E}">
        <p14:creationId xmlns:p14="http://schemas.microsoft.com/office/powerpoint/2010/main" val="155042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4" cy="2541431"/>
          </a:xfrm>
        </p:spPr>
        <p:txBody>
          <a:bodyPr bIns="0" anchor="b">
            <a:normAutofit/>
          </a:bodyPr>
          <a:lstStyle>
            <a:lvl1pPr algn="l">
              <a:defRPr sz="6601"/>
            </a:lvl1pPr>
          </a:lstStyle>
          <a:p>
            <a:r>
              <a:rPr lang="en-US"/>
              <a:t>Click to edit Master title style</a:t>
            </a:r>
            <a:endParaRPr lang="en-US" dirty="0"/>
          </a:p>
        </p:txBody>
      </p:sp>
      <p:sp>
        <p:nvSpPr>
          <p:cNvPr id="3" name="Subtitle 2"/>
          <p:cNvSpPr>
            <a:spLocks noGrp="1"/>
          </p:cNvSpPr>
          <p:nvPr>
            <p:ph type="subTitle" idx="1"/>
          </p:nvPr>
        </p:nvSpPr>
        <p:spPr>
          <a:xfrm>
            <a:off x="2417780" y="3531205"/>
            <a:ext cx="8637072" cy="977621"/>
          </a:xfrm>
        </p:spPr>
        <p:txBody>
          <a:bodyPr tIns="91440" bIns="91440">
            <a:normAutofit/>
          </a:bodyPr>
          <a:lstStyle>
            <a:lvl1pPr marL="0" indent="0" algn="l">
              <a:buNone/>
              <a:defRPr sz="1801" b="0" cap="all" baseline="0">
                <a:solidFill>
                  <a:schemeClr val="tx1"/>
                </a:solidFill>
              </a:defRPr>
            </a:lvl1pPr>
            <a:lvl2pPr marL="457206" indent="0" algn="ctr">
              <a:buNone/>
              <a:defRPr sz="1801"/>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20-07-2026</a:t>
            </a:fld>
            <a:endParaRPr lang="en-IN"/>
          </a:p>
        </p:txBody>
      </p:sp>
      <p:sp>
        <p:nvSpPr>
          <p:cNvPr id="5" name="Footer Placeholder 4"/>
          <p:cNvSpPr>
            <a:spLocks noGrp="1"/>
          </p:cNvSpPr>
          <p:nvPr>
            <p:ph type="ftr" sz="quarter" idx="11"/>
          </p:nvPr>
        </p:nvSpPr>
        <p:spPr>
          <a:xfrm>
            <a:off x="2416502" y="329308"/>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02D4316F-2A0F-4D91-8E31-E52A6799ECB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4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33" name="Straight Connector 32"/>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8855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40"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8" y="3806196"/>
            <a:ext cx="8630446" cy="1012929"/>
          </a:xfrm>
        </p:spPr>
        <p:txBody>
          <a:bodyPr tIns="91440">
            <a:normAutofit/>
          </a:bodyPr>
          <a:lstStyle>
            <a:lvl1pPr marL="0" indent="0" algn="l">
              <a:buNone/>
              <a:defRPr sz="1801">
                <a:solidFill>
                  <a:schemeClr val="tx1"/>
                </a:solidFill>
              </a:defRPr>
            </a:lvl1pPr>
            <a:lvl2pPr marL="457206" indent="0">
              <a:buNone/>
              <a:defRPr sz="1801">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405F0F-F369-4E89-ABF2-66A6C7DBB401}"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15" name="Straight Connector 14"/>
          <p:cNvCxnSpPr/>
          <p:nvPr/>
        </p:nvCxnSpPr>
        <p:spPr>
          <a:xfrm>
            <a:off x="1454238"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3314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8" y="804890"/>
            <a:ext cx="9605636"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2" y="2010879"/>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405F0F-F369-4E89-ABF2-66A6C7DBB401}" type="datetimeFigureOut">
              <a:rPr lang="en-IN" smtClean="0"/>
              <a:t>20-07-2026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4316F-2A0F-4D91-8E31-E52A6799ECB9}" type="slidenum">
              <a:rPr lang="en-IN" smtClean="0"/>
              <a:t>‹#›</a:t>
            </a:fld>
            <a:endParaRPr lang="en-IN"/>
          </a:p>
        </p:txBody>
      </p:sp>
      <p:cxnSp>
        <p:nvCxnSpPr>
          <p:cNvPr id="35" name="Straight Connector 34"/>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462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3"/>
            <a:ext cx="9607660"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1" b="0" cap="all" baseline="0">
                <a:solidFill>
                  <a:schemeClr val="accent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70"/>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3" y="2023004"/>
            <a:ext cx="4645152" cy="802237"/>
          </a:xfrm>
        </p:spPr>
        <p:txBody>
          <a:bodyPr anchor="b">
            <a:normAutofit/>
          </a:bodyPr>
          <a:lstStyle>
            <a:lvl1pPr marL="0" indent="0">
              <a:lnSpc>
                <a:spcPct val="100000"/>
              </a:lnSpc>
              <a:buNone/>
              <a:defRPr sz="2201" b="0" cap="all" baseline="0">
                <a:solidFill>
                  <a:schemeClr val="accent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3" y="2821492"/>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405F0F-F369-4E89-ABF2-66A6C7DBB401}" type="datetimeFigureOut">
              <a:rPr lang="en-IN" smtClean="0"/>
              <a:t>20-07-2026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D4316F-2A0F-4D91-8E31-E52A6799ECB9}" type="slidenum">
              <a:rPr lang="en-IN" smtClean="0"/>
              <a:t>‹#›</a:t>
            </a:fld>
            <a:endParaRPr lang="en-IN"/>
          </a:p>
        </p:txBody>
      </p:sp>
      <p:cxnSp>
        <p:nvCxnSpPr>
          <p:cNvPr id="29" name="Straight Connector 28"/>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558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405F0F-F369-4E89-ABF2-66A6C7DBB401}" type="datetimeFigureOut">
              <a:rPr lang="en-IN" smtClean="0"/>
              <a:t>20-07-2026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D4316F-2A0F-4D91-8E31-E52A6799ECB9}" type="slidenum">
              <a:rPr lang="en-IN" smtClean="0"/>
              <a:t>‹#›</a:t>
            </a:fld>
            <a:endParaRPr lang="en-IN"/>
          </a:p>
        </p:txBody>
      </p:sp>
      <p:cxnSp>
        <p:nvCxnSpPr>
          <p:cNvPr id="25" name="Straight Connector 24"/>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046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405F0F-F369-4E89-ABF2-66A6C7DBB401}" type="datetimeFigureOut">
              <a:rPr lang="en-IN" smtClean="0"/>
              <a:t>20-07-2026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D4316F-2A0F-4D91-8E31-E52A6799ECB9}" type="slidenum">
              <a:rPr lang="en-IN" smtClean="0"/>
              <a:t>‹#›</a:t>
            </a:fld>
            <a:endParaRPr lang="en-IN"/>
          </a:p>
        </p:txBody>
      </p:sp>
    </p:spTree>
    <p:extLst>
      <p:ext uri="{BB962C8B-B14F-4D97-AF65-F5344CB8AC3E}">
        <p14:creationId xmlns:p14="http://schemas.microsoft.com/office/powerpoint/2010/main" val="407000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2" y="798974"/>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69"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3" y="3205492"/>
            <a:ext cx="3275013" cy="2248181"/>
          </a:xfrm>
        </p:spPr>
        <p:txBody>
          <a:bodyPr/>
          <a:lstStyle>
            <a:lvl1pPr marL="0" indent="0" algn="l">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8F405F0F-F369-4E89-ABF2-66A6C7DBB401}" type="datetimeFigureOut">
              <a:rPr lang="en-IN" smtClean="0"/>
              <a:t>20-07-2026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4316F-2A0F-4D91-8E31-E52A6799ECB9}" type="slidenum">
              <a:rPr lang="en-IN" smtClean="0"/>
              <a:t>‹#›</a:t>
            </a:fld>
            <a:endParaRPr lang="en-IN"/>
          </a:p>
        </p:txBody>
      </p:sp>
      <p:cxnSp>
        <p:nvCxnSpPr>
          <p:cNvPr id="17" name="Straight Connector 16"/>
          <p:cNvCxnSpPr/>
          <p:nvPr/>
        </p:nvCxnSpPr>
        <p:spPr>
          <a:xfrm>
            <a:off x="1448281"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2507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8" y="482171"/>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9"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2" cy="3866327"/>
          </a:xfrm>
          <a:solidFill>
            <a:schemeClr val="bg1">
              <a:lumMod val="85000"/>
            </a:schemeClr>
          </a:solidFill>
          <a:ln w="9525" cap="sq">
            <a:noFill/>
            <a:miter lim="800000"/>
          </a:ln>
          <a:effectLst/>
        </p:spPr>
        <p:txBody>
          <a:bodyPr anchor="t"/>
          <a:lstStyle>
            <a:lvl1pPr marL="0" indent="0" algn="ctr">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30" y="3145992"/>
            <a:ext cx="5524404" cy="2003742"/>
          </a:xfrm>
        </p:spPr>
        <p:txBody>
          <a:bodyPr>
            <a:normAutofit/>
          </a:bodyPr>
          <a:lstStyle>
            <a:lvl1pPr marL="0" indent="0" algn="l">
              <a:buNone/>
              <a:defRPr sz="1801"/>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a:xfrm>
            <a:off x="1447384" y="5469856"/>
            <a:ext cx="5527351" cy="320123"/>
          </a:xfrm>
        </p:spPr>
        <p:txBody>
          <a:bodyPr/>
          <a:lstStyle>
            <a:lvl1pPr algn="l">
              <a:defRPr/>
            </a:lvl1pPr>
          </a:lstStyle>
          <a:p>
            <a:fld id="{8F405F0F-F369-4E89-ABF2-66A6C7DBB401}" type="datetimeFigureOut">
              <a:rPr lang="en-IN" smtClean="0"/>
              <a:t>20-07-2026</a:t>
            </a:fld>
            <a:endParaRPr lang="en-IN"/>
          </a:p>
        </p:txBody>
      </p:sp>
      <p:sp>
        <p:nvSpPr>
          <p:cNvPr id="6" name="Footer Placeholder 5"/>
          <p:cNvSpPr>
            <a:spLocks noGrp="1"/>
          </p:cNvSpPr>
          <p:nvPr>
            <p:ph type="ftr" sz="quarter" idx="11"/>
          </p:nvPr>
        </p:nvSpPr>
        <p:spPr>
          <a:xfrm>
            <a:off x="1447382" y="318641"/>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02D4316F-2A0F-4D91-8E31-E52A6799ECB9}" type="slidenum">
              <a:rPr lang="en-IN" smtClean="0"/>
              <a:t>‹#›</a:t>
            </a:fld>
            <a:endParaRPr lang="en-IN"/>
          </a:p>
        </p:txBody>
      </p:sp>
      <p:cxnSp>
        <p:nvCxnSpPr>
          <p:cNvPr id="31" name="Straight Connector 30"/>
          <p:cNvCxnSpPr/>
          <p:nvPr/>
        </p:nvCxnSpPr>
        <p:spPr>
          <a:xfrm>
            <a:off x="1447384"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6906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26" name="Straight Connector 25"/>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819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2" y="798974"/>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3" y="798974"/>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15" name="Straight Connector 14"/>
          <p:cNvCxnSpPr/>
          <p:nvPr/>
        </p:nvCxnSpPr>
        <p:spPr>
          <a:xfrm>
            <a:off x="9439111"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618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80" y="804520"/>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80" y="2015733"/>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30371"/>
            <a:ext cx="3500715" cy="309201"/>
          </a:xfrm>
          <a:prstGeom prst="rect">
            <a:avLst/>
          </a:prstGeom>
        </p:spPr>
        <p:txBody>
          <a:bodyPr vert="horz" lIns="91440" tIns="45720" rIns="91440" bIns="45720" rtlCol="0" anchor="ctr"/>
          <a:lstStyle>
            <a:lvl1pPr algn="r">
              <a:defRPr sz="1001">
                <a:solidFill>
                  <a:schemeClr val="tx1">
                    <a:tint val="75000"/>
                  </a:schemeClr>
                </a:solidFill>
              </a:defRPr>
            </a:lvl1pPr>
          </a:lstStyle>
          <a:p>
            <a:fld id="{8F405F0F-F369-4E89-ABF2-66A6C7DBB401}" type="datetimeFigureOut">
              <a:rPr lang="en-IN" smtClean="0"/>
              <a:t>20-07-2026</a:t>
            </a:fld>
            <a:endParaRPr lang="en-IN"/>
          </a:p>
        </p:txBody>
      </p:sp>
      <p:sp>
        <p:nvSpPr>
          <p:cNvPr id="5" name="Footer Placeholder 4"/>
          <p:cNvSpPr>
            <a:spLocks noGrp="1"/>
          </p:cNvSpPr>
          <p:nvPr>
            <p:ph type="ftr" sz="quarter" idx="3"/>
          </p:nvPr>
        </p:nvSpPr>
        <p:spPr>
          <a:xfrm>
            <a:off x="1451579" y="329308"/>
            <a:ext cx="5938836" cy="309201"/>
          </a:xfrm>
          <a:prstGeom prst="rect">
            <a:avLst/>
          </a:prstGeom>
        </p:spPr>
        <p:txBody>
          <a:bodyPr vert="horz" lIns="91440" tIns="45720" rIns="91440" bIns="45720" rtlCol="0" anchor="ctr"/>
          <a:lstStyle>
            <a:lvl1pPr algn="l">
              <a:defRPr sz="1001">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2D4316F-2A0F-4D91-8E31-E52A6799ECB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2344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11"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4" indent="-228604" algn="l" defTabSz="914411" rtl="0" eaLnBrk="1" latinLnBrk="0" hangingPunct="1">
        <a:lnSpc>
          <a:spcPct val="120000"/>
        </a:lnSpc>
        <a:spcBef>
          <a:spcPts val="1001"/>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9"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801" kern="1200" cap="none" baseline="0">
          <a:solidFill>
            <a:schemeClr val="tx1"/>
          </a:solidFill>
          <a:effectLst/>
          <a:latin typeface="+mn-lt"/>
          <a:ea typeface="+mn-ea"/>
          <a:cs typeface="+mn-cs"/>
        </a:defRPr>
      </a:lvl2pPr>
      <a:lvl3pPr marL="1143015"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21"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401" kern="1200" cap="none" baseline="0">
          <a:solidFill>
            <a:schemeClr val="tx1"/>
          </a:solidFill>
          <a:effectLst/>
          <a:latin typeface="+mn-lt"/>
          <a:ea typeface="+mn-ea"/>
          <a:cs typeface="+mn-cs"/>
        </a:defRPr>
      </a:lvl4pPr>
      <a:lvl5pPr marL="2057427"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32"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38"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44"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49"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0759-5A70-07A1-A56E-0F2157218ADC}"/>
              </a:ext>
            </a:extLst>
          </p:cNvPr>
          <p:cNvSpPr>
            <a:spLocks noGrp="1"/>
          </p:cNvSpPr>
          <p:nvPr>
            <p:ph type="ctrTitle"/>
          </p:nvPr>
        </p:nvSpPr>
        <p:spPr>
          <a:xfrm>
            <a:off x="1956124" y="2"/>
            <a:ext cx="9444940" cy="2939970"/>
          </a:xfrm>
        </p:spPr>
        <p:txBody>
          <a:bodyPr>
            <a:noAutofit/>
          </a:bodyPr>
          <a:lstStyle/>
          <a:p>
            <a:r>
              <a:rPr lang="en-IN" sz="4000" b="1" dirty="0"/>
              <a:t>TITLE:</a:t>
            </a:r>
            <a:r>
              <a:rPr lang="en-IN" sz="3600" b="1" dirty="0"/>
              <a:t> </a:t>
            </a:r>
            <a:r>
              <a:rPr lang="en-IN" sz="3600" dirty="0">
                <a:latin typeface="Times New Roman" panose="02020603050405020304" pitchFamily="18" charset="0"/>
                <a:cs typeface="Times New Roman" panose="02020603050405020304" pitchFamily="18" charset="0"/>
              </a:rPr>
              <a:t>AUTOMATED CLASSIFICATION OF   GASTROINTESTINAL TRACT DISEASES USING HYBRID  MODEL</a:t>
            </a:r>
            <a:endParaRPr lang="en-IN" sz="3600" b="1" dirty="0"/>
          </a:p>
        </p:txBody>
      </p:sp>
      <p:sp>
        <p:nvSpPr>
          <p:cNvPr id="3" name="Subtitle 2">
            <a:extLst>
              <a:ext uri="{FF2B5EF4-FFF2-40B4-BE49-F238E27FC236}">
                <a16:creationId xmlns:a16="http://schemas.microsoft.com/office/drawing/2014/main" id="{4FAE3544-2DA5-D16A-9460-96A471E537FA}"/>
              </a:ext>
            </a:extLst>
          </p:cNvPr>
          <p:cNvSpPr>
            <a:spLocks noGrp="1"/>
          </p:cNvSpPr>
          <p:nvPr>
            <p:ph type="subTitle" idx="1"/>
          </p:nvPr>
        </p:nvSpPr>
        <p:spPr>
          <a:xfrm>
            <a:off x="1477925" y="4305783"/>
            <a:ext cx="10377376" cy="2193403"/>
          </a:xfrm>
        </p:spPr>
        <p:txBody>
          <a:bodyPr>
            <a:normAutofit/>
          </a:bodyPr>
          <a:lstStyle/>
          <a:p>
            <a:pPr algn="l"/>
            <a:r>
              <a:rPr lang="en-IN" dirty="0"/>
              <a:t>Under the Guidance of                                                    Presented by – Batch 29</a:t>
            </a:r>
          </a:p>
          <a:p>
            <a:pPr algn="l"/>
            <a:r>
              <a:rPr lang="en-IN" dirty="0"/>
              <a:t>Mrs. D. Vijaya Sri                                                                     23761A1267 – A. Anuradha</a:t>
            </a:r>
          </a:p>
          <a:p>
            <a:pPr algn="l"/>
            <a:r>
              <a:rPr lang="en-IN" dirty="0"/>
              <a:t>Sr. Asst. professor                                                                23761A12C8 – U. Pravallika</a:t>
            </a:r>
          </a:p>
          <a:p>
            <a:pPr algn="l"/>
            <a:r>
              <a:rPr lang="en-IN" dirty="0"/>
              <a:t>                                                                                                23761A1290 – J. Gopi Chandu</a:t>
            </a:r>
          </a:p>
        </p:txBody>
      </p:sp>
    </p:spTree>
    <p:extLst>
      <p:ext uri="{BB962C8B-B14F-4D97-AF65-F5344CB8AC3E}">
        <p14:creationId xmlns:p14="http://schemas.microsoft.com/office/powerpoint/2010/main" val="1490826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0F19D-5CB1-F9D6-0A46-3F0192F4C156}"/>
              </a:ext>
            </a:extLst>
          </p:cNvPr>
          <p:cNvSpPr>
            <a:spLocks noGrp="1"/>
          </p:cNvSpPr>
          <p:nvPr>
            <p:ph type="title"/>
          </p:nvPr>
        </p:nvSpPr>
        <p:spPr>
          <a:xfrm>
            <a:off x="762001" y="729206"/>
            <a:ext cx="10515600" cy="880460"/>
          </a:xfrm>
        </p:spPr>
        <p:txBody>
          <a:bodyPr>
            <a:normAutofit/>
          </a:bodyPr>
          <a:lstStyle/>
          <a:p>
            <a:r>
              <a:rPr lang="en-IN" sz="3600" b="1" dirty="0">
                <a:latin typeface="Times New Roman" panose="02020603050405020304" pitchFamily="18" charset="0"/>
                <a:cs typeface="Times New Roman" panose="02020603050405020304" pitchFamily="18" charset="0"/>
              </a:rPr>
              <a:t>    domain:</a:t>
            </a:r>
          </a:p>
        </p:txBody>
      </p:sp>
      <p:sp>
        <p:nvSpPr>
          <p:cNvPr id="3" name="Content Placeholder 2">
            <a:extLst>
              <a:ext uri="{FF2B5EF4-FFF2-40B4-BE49-F238E27FC236}">
                <a16:creationId xmlns:a16="http://schemas.microsoft.com/office/drawing/2014/main" id="{9D6D330F-601C-7BD0-83AF-0F995D7D2E11}"/>
              </a:ext>
            </a:extLst>
          </p:cNvPr>
          <p:cNvSpPr>
            <a:spLocks noGrp="1"/>
          </p:cNvSpPr>
          <p:nvPr>
            <p:ph idx="1"/>
          </p:nvPr>
        </p:nvSpPr>
        <p:spPr>
          <a:xfrm>
            <a:off x="659758" y="2015733"/>
            <a:ext cx="10395098" cy="3450613"/>
          </a:xfrm>
        </p:spPr>
        <p:txBody>
          <a:bodyPr>
            <a:normAutofit/>
          </a:bodyPr>
          <a:lstStyle/>
          <a:p>
            <a:pPr>
              <a:lnSpc>
                <a:spcPct val="150000"/>
              </a:lnSpc>
            </a:pPr>
            <a:r>
              <a:rPr lang="en-IN" sz="2400" b="1" dirty="0">
                <a:latin typeface="Times New Roman" panose="02020603050405020304" pitchFamily="18" charset="0"/>
                <a:cs typeface="Times New Roman" panose="02020603050405020304" pitchFamily="18" charset="0"/>
              </a:rPr>
              <a:t>Artificial Intelligence (AI) – Deep Learning: </a:t>
            </a:r>
            <a:r>
              <a:rPr lang="en-IN" sz="2400" dirty="0">
                <a:latin typeface="Times New Roman" panose="02020603050405020304" pitchFamily="18" charset="0"/>
                <a:cs typeface="Times New Roman" panose="02020603050405020304" pitchFamily="18" charset="0"/>
              </a:rPr>
              <a:t>Artificial Intelligence (AI) enables computers to perform tasks that normally require human intelligence. Deep Learning, a branch of AI, uses neural networks to automatically learn features from medical images and improve disease classification.</a:t>
            </a:r>
            <a:endParaRPr lang="en-IN" sz="2400" b="1"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4528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5DC0-0A7B-4781-C653-DCCE0BD9D452}"/>
              </a:ext>
            </a:extLst>
          </p:cNvPr>
          <p:cNvSpPr>
            <a:spLocks noGrp="1"/>
          </p:cNvSpPr>
          <p:nvPr>
            <p:ph type="title"/>
          </p:nvPr>
        </p:nvSpPr>
        <p:spPr/>
        <p:txBody>
          <a:bodyPr>
            <a:normAutofit/>
          </a:bodyPr>
          <a:lstStyle/>
          <a:p>
            <a:r>
              <a:rPr lang="en-IN" sz="3600" b="1" dirty="0"/>
              <a:t>  </a:t>
            </a:r>
            <a:r>
              <a:rPr lang="en-IN" sz="36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5D30AA9-635B-635B-2C3B-35BD0301D773}"/>
              </a:ext>
            </a:extLst>
          </p:cNvPr>
          <p:cNvSpPr>
            <a:spLocks noGrp="1"/>
          </p:cNvSpPr>
          <p:nvPr>
            <p:ph idx="1"/>
          </p:nvPr>
        </p:nvSpPr>
        <p:spPr>
          <a:xfrm>
            <a:off x="838202" y="1979271"/>
            <a:ext cx="10515600" cy="4363657"/>
          </a:xfrm>
        </p:spPr>
        <p:txBody>
          <a:bodyPr>
            <a:normAutofit/>
          </a:bodyPr>
          <a:lstStyle/>
          <a:p>
            <a:pPr algn="just">
              <a:lnSpc>
                <a:spcPct val="100000"/>
              </a:lnSpc>
            </a:pPr>
            <a:r>
              <a:rPr lang="en-US" sz="2400" dirty="0">
                <a:latin typeface="Times New Roman" panose="02020603050405020304" pitchFamily="18" charset="0"/>
                <a:cs typeface="Times New Roman" panose="02020603050405020304" pitchFamily="18" charset="0"/>
              </a:rPr>
              <a:t>Gastrointestinal diseases can cause serious health problems if they are not identified at the right time. In recent years, many deep learning methods have been developed to classify these diseases from endoscopic images, but most of them use a single type of model for feature extraction. As a result, some important image information may not be captured effectively. This project extends the existing work by combining a CNN-based model with a transformer-based model to make better use of the information present in endoscopic images. The proposed approach is expected to learn both detailed and overall image features, which can help improve disease classification.</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4160403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04AF-1427-76C0-E88B-0E4785FCB928}"/>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 EXISTING SYSTEM:</a:t>
            </a:r>
          </a:p>
        </p:txBody>
      </p:sp>
      <p:sp>
        <p:nvSpPr>
          <p:cNvPr id="3" name="Content Placeholder 2">
            <a:extLst>
              <a:ext uri="{FF2B5EF4-FFF2-40B4-BE49-F238E27FC236}">
                <a16:creationId xmlns:a16="http://schemas.microsoft.com/office/drawing/2014/main" id="{BBEA7B0C-8CFD-A7CC-16EE-A170523450CA}"/>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Uses a pre-trained DINOv2 model with a lightweight classifier.</a:t>
            </a:r>
          </a:p>
          <a:p>
            <a:pPr algn="just"/>
            <a:r>
              <a:rPr lang="en-IN" sz="2400" dirty="0">
                <a:latin typeface="Times New Roman" panose="02020603050405020304" pitchFamily="18" charset="0"/>
                <a:cs typeface="Times New Roman" panose="02020603050405020304" pitchFamily="18" charset="0"/>
              </a:rPr>
              <a:t>Uses the Capsule Vision 2024 dataset with 50,000+ </a:t>
            </a:r>
            <a:r>
              <a:rPr lang="en-IN" sz="2400" dirty="0" err="1">
                <a:latin typeface="Times New Roman" panose="02020603050405020304" pitchFamily="18" charset="0"/>
                <a:cs typeface="Times New Roman" panose="02020603050405020304" pitchFamily="18" charset="0"/>
              </a:rPr>
              <a:t>labeled</a:t>
            </a:r>
            <a:r>
              <a:rPr lang="en-IN" sz="2400" dirty="0">
                <a:latin typeface="Times New Roman" panose="02020603050405020304" pitchFamily="18" charset="0"/>
                <a:cs typeface="Times New Roman" panose="02020603050405020304" pitchFamily="18" charset="0"/>
              </a:rPr>
              <a:t> capsule endoscopy images.</a:t>
            </a:r>
          </a:p>
          <a:p>
            <a:pPr algn="just"/>
            <a:r>
              <a:rPr lang="en-IN" sz="2400" dirty="0">
                <a:latin typeface="Times New Roman" panose="02020603050405020304" pitchFamily="18" charset="0"/>
                <a:cs typeface="Times New Roman" panose="02020603050405020304" pitchFamily="18" charset="0"/>
              </a:rPr>
              <a:t>Classifies 10 gastrointestinal disease classes.</a:t>
            </a:r>
          </a:p>
          <a:p>
            <a:pPr algn="just"/>
            <a:r>
              <a:rPr lang="en-IN" sz="2400" dirty="0">
                <a:latin typeface="Times New Roman" panose="02020603050405020304" pitchFamily="18" charset="0"/>
                <a:cs typeface="Times New Roman" panose="02020603050405020304" pitchFamily="18" charset="0"/>
              </a:rPr>
              <a:t>Relies on a single model and struggles with visually similar disease classes.</a:t>
            </a:r>
          </a:p>
        </p:txBody>
      </p:sp>
    </p:spTree>
    <p:extLst>
      <p:ext uri="{BB962C8B-B14F-4D97-AF65-F5344CB8AC3E}">
        <p14:creationId xmlns:p14="http://schemas.microsoft.com/office/powerpoint/2010/main" val="257186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B777-89E1-CDE7-78D2-09F338FEF339}"/>
              </a:ext>
            </a:extLst>
          </p:cNvPr>
          <p:cNvSpPr>
            <a:spLocks noGrp="1"/>
          </p:cNvSpPr>
          <p:nvPr>
            <p:ph type="title"/>
          </p:nvPr>
        </p:nvSpPr>
        <p:spPr>
          <a:xfrm>
            <a:off x="838202" y="706057"/>
            <a:ext cx="10515600" cy="915184"/>
          </a:xfrm>
        </p:spPr>
        <p:txBody>
          <a:bodyPr>
            <a:normAutofit/>
          </a:bodyPr>
          <a:lstStyle/>
          <a:p>
            <a:r>
              <a:rPr lang="en-IN" sz="3600" b="1" dirty="0">
                <a:latin typeface="Times New Roman" panose="02020603050405020304" pitchFamily="18" charset="0"/>
                <a:cs typeface="Times New Roman" panose="02020603050405020304" pitchFamily="18" charset="0"/>
              </a:rPr>
              <a:t>DRAWBACKS OF EXISTING SYSTEM:</a:t>
            </a:r>
          </a:p>
        </p:txBody>
      </p:sp>
      <p:sp>
        <p:nvSpPr>
          <p:cNvPr id="3" name="Content Placeholder 2">
            <a:extLst>
              <a:ext uri="{FF2B5EF4-FFF2-40B4-BE49-F238E27FC236}">
                <a16:creationId xmlns:a16="http://schemas.microsoft.com/office/drawing/2014/main" id="{F5AA3154-B949-FBDF-5107-1E7615A24990}"/>
              </a:ext>
            </a:extLst>
          </p:cNvPr>
          <p:cNvSpPr>
            <a:spLocks noGrp="1"/>
          </p:cNvSpPr>
          <p:nvPr>
            <p:ph idx="1"/>
          </p:nvPr>
        </p:nvSpPr>
        <p:spPr>
          <a:xfrm>
            <a:off x="636611" y="2015733"/>
            <a:ext cx="10418245" cy="3450613"/>
          </a:xfrm>
        </p:spPr>
        <p:txBody>
          <a:bodyPr>
            <a:normAutofit/>
          </a:bodyPr>
          <a:lstStyle/>
          <a:p>
            <a:pPr algn="just">
              <a:lnSpc>
                <a:spcPct val="150000"/>
              </a:lnSpc>
            </a:pPr>
            <a:r>
              <a:rPr lang="en-IN" sz="2400" dirty="0">
                <a:latin typeface="Times New Roman" panose="02020603050405020304" pitchFamily="18" charset="0"/>
                <a:cs typeface="Times New Roman" panose="02020603050405020304" pitchFamily="18" charset="0"/>
              </a:rPr>
              <a:t>Uses only a single DINOv2 architecture for feature extraction. </a:t>
            </a:r>
          </a:p>
          <a:p>
            <a:pPr algn="just">
              <a:lnSpc>
                <a:spcPct val="150000"/>
              </a:lnSpc>
            </a:pPr>
            <a:r>
              <a:rPr lang="en-IN" sz="2400" dirty="0">
                <a:latin typeface="Times New Roman" panose="02020603050405020304" pitchFamily="18" charset="0"/>
                <a:cs typeface="Times New Roman" panose="02020603050405020304" pitchFamily="18" charset="0"/>
              </a:rPr>
              <a:t>Local image details may not be captured effectively</a:t>
            </a:r>
          </a:p>
          <a:p>
            <a:pPr algn="just">
              <a:lnSpc>
                <a:spcPct val="150000"/>
              </a:lnSpc>
            </a:pPr>
            <a:r>
              <a:rPr lang="en-IN" sz="2400" dirty="0">
                <a:latin typeface="Times New Roman" panose="02020603050405020304" pitchFamily="18" charset="0"/>
                <a:cs typeface="Times New Roman" panose="02020603050405020304" pitchFamily="18" charset="0"/>
              </a:rPr>
              <a:t>Struggles to distinguish visually similar disease classes. </a:t>
            </a:r>
          </a:p>
          <a:p>
            <a:pPr algn="just">
              <a:lnSpc>
                <a:spcPct val="150000"/>
              </a:lnSpc>
            </a:pPr>
            <a:r>
              <a:rPr lang="en-IN" sz="2400" dirty="0">
                <a:latin typeface="Times New Roman" panose="02020603050405020304" pitchFamily="18" charset="0"/>
                <a:cs typeface="Times New Roman" panose="02020603050405020304" pitchFamily="18" charset="0"/>
              </a:rPr>
              <a:t>Limited feature representation due to a single-model approach.</a:t>
            </a:r>
          </a:p>
        </p:txBody>
      </p:sp>
    </p:spTree>
    <p:extLst>
      <p:ext uri="{BB962C8B-B14F-4D97-AF65-F5344CB8AC3E}">
        <p14:creationId xmlns:p14="http://schemas.microsoft.com/office/powerpoint/2010/main" val="1681032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31116-A958-6A82-4318-7286BD52335B}"/>
              </a:ext>
            </a:extLst>
          </p:cNvPr>
          <p:cNvSpPr>
            <a:spLocks noGrp="1"/>
          </p:cNvSpPr>
          <p:nvPr>
            <p:ph type="title"/>
          </p:nvPr>
        </p:nvSpPr>
        <p:spPr>
          <a:xfrm>
            <a:off x="798654" y="804890"/>
            <a:ext cx="10256199" cy="803993"/>
          </a:xfrm>
        </p:spPr>
        <p:txBody>
          <a:bodyPr>
            <a:normAutofit/>
          </a:bodyPr>
          <a:lstStyle/>
          <a:p>
            <a:r>
              <a:rPr lang="en-IN" sz="3600" b="1" dirty="0" err="1">
                <a:latin typeface="Times New Roman" panose="02020603050405020304" pitchFamily="18" charset="0"/>
                <a:cs typeface="Times New Roman" panose="02020603050405020304" pitchFamily="18" charset="0"/>
              </a:rPr>
              <a:t>PRoPOSED</a:t>
            </a:r>
            <a:r>
              <a:rPr lang="en-IN" sz="3600" b="1" dirty="0">
                <a:latin typeface="Times New Roman" panose="02020603050405020304" pitchFamily="18" charset="0"/>
                <a:cs typeface="Times New Roman" panose="02020603050405020304" pitchFamily="18" charset="0"/>
              </a:rPr>
              <a:t> SYSTEM:</a:t>
            </a:r>
          </a:p>
        </p:txBody>
      </p:sp>
      <p:sp>
        <p:nvSpPr>
          <p:cNvPr id="3" name="Content Placeholder 2">
            <a:extLst>
              <a:ext uri="{FF2B5EF4-FFF2-40B4-BE49-F238E27FC236}">
                <a16:creationId xmlns:a16="http://schemas.microsoft.com/office/drawing/2014/main" id="{9ED5FA29-DD31-69D3-2267-2025E3935CAC}"/>
              </a:ext>
            </a:extLst>
          </p:cNvPr>
          <p:cNvSpPr>
            <a:spLocks noGrp="1"/>
          </p:cNvSpPr>
          <p:nvPr>
            <p:ph sz="half" idx="1"/>
          </p:nvPr>
        </p:nvSpPr>
        <p:spPr>
          <a:xfrm>
            <a:off x="555587" y="2010877"/>
            <a:ext cx="6875362" cy="4042233"/>
          </a:xfrm>
        </p:spPr>
        <p:txBody>
          <a:bodyPr>
            <a:normAutofit fontScale="92500" lnSpcReduction="20000"/>
          </a:bodyPr>
          <a:lstStyle/>
          <a:p>
            <a:pPr algn="just"/>
            <a:r>
              <a:rPr lang="en-IN" sz="2400" dirty="0">
                <a:latin typeface="Times New Roman" panose="02020603050405020304" pitchFamily="18" charset="0"/>
                <a:cs typeface="Times New Roman" panose="02020603050405020304" pitchFamily="18" charset="0"/>
              </a:rPr>
              <a:t>Develops a hybrid CNN–Transformer model for gastrointestinal disease classification.</a:t>
            </a:r>
          </a:p>
          <a:p>
            <a:pPr algn="just"/>
            <a:r>
              <a:rPr lang="en-IN" sz="2400" dirty="0">
                <a:latin typeface="Times New Roman" panose="02020603050405020304" pitchFamily="18" charset="0"/>
                <a:cs typeface="Times New Roman" panose="02020603050405020304" pitchFamily="18" charset="0"/>
              </a:rPr>
              <a:t>CNN extracts local features such as textures and lesion details.</a:t>
            </a:r>
          </a:p>
          <a:p>
            <a:pPr algn="just"/>
            <a:r>
              <a:rPr lang="en-IN" sz="2400" dirty="0">
                <a:latin typeface="Times New Roman" panose="02020603050405020304" pitchFamily="18" charset="0"/>
                <a:cs typeface="Times New Roman" panose="02020603050405020304" pitchFamily="18" charset="0"/>
              </a:rPr>
              <a:t>Transformer captures global contextual information from the image.</a:t>
            </a:r>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Combines features from both models using feature fusion.(</a:t>
            </a:r>
            <a:r>
              <a:rPr lang="en-IN" sz="2400" dirty="0" err="1">
                <a:latin typeface="Times New Roman" panose="02020603050405020304" pitchFamily="18" charset="0"/>
                <a:cs typeface="Times New Roman" panose="02020603050405020304" pitchFamily="18" charset="0"/>
              </a:rPr>
              <a:t>ConvNeXt+MaxViT</a:t>
            </a:r>
            <a:r>
              <a:rPr lang="en-IN"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Uses the Kvasir dataset for model training and evaluation. . </a:t>
            </a: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2F2C654B-F6F2-E6F2-ABC7-E20EB930208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88780" y="2017714"/>
            <a:ext cx="4437317" cy="4042231"/>
          </a:xfrm>
          <a:prstGeom prst="rect">
            <a:avLst/>
          </a:prstGeom>
        </p:spPr>
      </p:pic>
    </p:spTree>
    <p:extLst>
      <p:ext uri="{BB962C8B-B14F-4D97-AF65-F5344CB8AC3E}">
        <p14:creationId xmlns:p14="http://schemas.microsoft.com/office/powerpoint/2010/main" val="2728927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71110-0CED-48DC-67CF-D4598BCD4BFA}"/>
              </a:ext>
            </a:extLst>
          </p:cNvPr>
          <p:cNvSpPr>
            <a:spLocks noGrp="1"/>
          </p:cNvSpPr>
          <p:nvPr>
            <p:ph type="title"/>
          </p:nvPr>
        </p:nvSpPr>
        <p:spPr>
          <a:xfrm>
            <a:off x="694482" y="804521"/>
            <a:ext cx="10360373" cy="1049236"/>
          </a:xfrm>
        </p:spPr>
        <p:txBody>
          <a:bodyPr>
            <a:normAutofit/>
          </a:bodyPr>
          <a:lstStyle/>
          <a:p>
            <a:r>
              <a:rPr lang="en-IN" sz="3600" b="1" dirty="0">
                <a:latin typeface="Times New Roman" panose="02020603050405020304" pitchFamily="18" charset="0"/>
                <a:cs typeface="Times New Roman" panose="02020603050405020304" pitchFamily="18" charset="0"/>
              </a:rPr>
              <a:t>ADVANTAGES OF </a:t>
            </a:r>
            <a:r>
              <a:rPr lang="en-IN" sz="3600" b="1" dirty="0" err="1">
                <a:latin typeface="Times New Roman" panose="02020603050405020304" pitchFamily="18" charset="0"/>
                <a:cs typeface="Times New Roman" panose="02020603050405020304" pitchFamily="18" charset="0"/>
              </a:rPr>
              <a:t>PRoPOSED</a:t>
            </a:r>
            <a:r>
              <a:rPr lang="en-IN" sz="3600" b="1" dirty="0">
                <a:latin typeface="Times New Roman" panose="02020603050405020304" pitchFamily="18" charset="0"/>
                <a:cs typeface="Times New Roman" panose="02020603050405020304" pitchFamily="18" charset="0"/>
              </a:rPr>
              <a:t> SYSTEM:</a:t>
            </a:r>
          </a:p>
        </p:txBody>
      </p:sp>
      <p:sp>
        <p:nvSpPr>
          <p:cNvPr id="3" name="Content Placeholder 2">
            <a:extLst>
              <a:ext uri="{FF2B5EF4-FFF2-40B4-BE49-F238E27FC236}">
                <a16:creationId xmlns:a16="http://schemas.microsoft.com/office/drawing/2014/main" id="{5C3001F5-0FCD-4C1B-717B-F958E9D49971}"/>
              </a:ext>
            </a:extLst>
          </p:cNvPr>
          <p:cNvSpPr>
            <a:spLocks noGrp="1"/>
          </p:cNvSpPr>
          <p:nvPr>
            <p:ph idx="1"/>
          </p:nvPr>
        </p:nvSpPr>
        <p:spPr>
          <a:xfrm>
            <a:off x="532436" y="2015733"/>
            <a:ext cx="10522420" cy="3450613"/>
          </a:xfrm>
        </p:spPr>
        <p:txBody>
          <a:bodyPr>
            <a:normAutofit/>
          </a:bodyPr>
          <a:lstStyle/>
          <a:p>
            <a:r>
              <a:rPr lang="en-IN" sz="2400" dirty="0">
                <a:latin typeface="Times New Roman" panose="02020603050405020304" pitchFamily="18" charset="0"/>
                <a:cs typeface="Times New Roman" panose="02020603050405020304" pitchFamily="18" charset="0"/>
              </a:rPr>
              <a:t>Uses both CNN and Transformer instead of relying on a single DINOv2 model. </a:t>
            </a:r>
          </a:p>
          <a:p>
            <a:r>
              <a:rPr lang="en-IN" sz="2400" dirty="0">
                <a:latin typeface="Times New Roman" panose="02020603050405020304" pitchFamily="18" charset="0"/>
                <a:cs typeface="Times New Roman" panose="02020603050405020304" pitchFamily="18" charset="0"/>
              </a:rPr>
              <a:t>Captures local image features and global contextual information simultaneously. </a:t>
            </a:r>
          </a:p>
          <a:p>
            <a:r>
              <a:rPr lang="en-IN" sz="2400" dirty="0">
                <a:latin typeface="Times New Roman" panose="02020603050405020304" pitchFamily="18" charset="0"/>
                <a:cs typeface="Times New Roman" panose="02020603050405020304" pitchFamily="18" charset="0"/>
              </a:rPr>
              <a:t>Improves the classification of visually similar gastrointestinal diseases. Provides a richer feature representation through feature fusion.</a:t>
            </a:r>
          </a:p>
          <a:p>
            <a:r>
              <a:rPr lang="en-IN" sz="2400" dirty="0">
                <a:latin typeface="Times New Roman" panose="02020603050405020304" pitchFamily="18" charset="0"/>
                <a:cs typeface="Times New Roman" panose="02020603050405020304" pitchFamily="18" charset="0"/>
              </a:rPr>
              <a:t>Uses the Kvasir-Capsule dataset, which is publicly available and suitable for capsule endoscopy research</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621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398F-3032-8787-FF1B-CC617C3AE21F}"/>
              </a:ext>
            </a:extLst>
          </p:cNvPr>
          <p:cNvSpPr>
            <a:spLocks noGrp="1"/>
          </p:cNvSpPr>
          <p:nvPr>
            <p:ph type="title" idx="4294967295"/>
          </p:nvPr>
        </p:nvSpPr>
        <p:spPr>
          <a:xfrm>
            <a:off x="310771" y="164783"/>
            <a:ext cx="9604375" cy="1049337"/>
          </a:xfrm>
        </p:spPr>
        <p:txBody>
          <a:bodyPr>
            <a:normAutofit/>
          </a:bodyPr>
          <a:lstStyle/>
          <a:p>
            <a:r>
              <a:rPr lang="en-US" dirty="0"/>
              <a:t>Literature survey</a:t>
            </a:r>
            <a:endParaRPr lang="en-IN" dirty="0"/>
          </a:p>
        </p:txBody>
      </p:sp>
      <p:graphicFrame>
        <p:nvGraphicFramePr>
          <p:cNvPr id="4" name="Content Placeholder 3">
            <a:extLst>
              <a:ext uri="{FF2B5EF4-FFF2-40B4-BE49-F238E27FC236}">
                <a16:creationId xmlns:a16="http://schemas.microsoft.com/office/drawing/2014/main" id="{14433307-8596-7608-589F-4F4CE8152043}"/>
              </a:ext>
            </a:extLst>
          </p:cNvPr>
          <p:cNvGraphicFramePr>
            <a:graphicFrameLocks noGrp="1"/>
          </p:cNvGraphicFramePr>
          <p:nvPr>
            <p:ph idx="4294967295"/>
            <p:extLst>
              <p:ext uri="{D42A27DB-BD31-4B8C-83A1-F6EECF244321}">
                <p14:modId xmlns:p14="http://schemas.microsoft.com/office/powerpoint/2010/main" val="2313266173"/>
              </p:ext>
            </p:extLst>
          </p:nvPr>
        </p:nvGraphicFramePr>
        <p:xfrm>
          <a:off x="395923" y="689452"/>
          <a:ext cx="11485312" cy="5176132"/>
        </p:xfrm>
        <a:graphic>
          <a:graphicData uri="http://schemas.openxmlformats.org/drawingml/2006/table">
            <a:tbl>
              <a:tblPr firstRow="1" bandRow="1">
                <a:tableStyleId>{5C22544A-7EE6-4342-B048-85BDC9FD1C3A}</a:tableStyleId>
              </a:tblPr>
              <a:tblGrid>
                <a:gridCol w="1917509">
                  <a:extLst>
                    <a:ext uri="{9D8B030D-6E8A-4147-A177-3AD203B41FA5}">
                      <a16:colId xmlns:a16="http://schemas.microsoft.com/office/drawing/2014/main" val="326303387"/>
                    </a:ext>
                  </a:extLst>
                </a:gridCol>
                <a:gridCol w="978409">
                  <a:extLst>
                    <a:ext uri="{9D8B030D-6E8A-4147-A177-3AD203B41FA5}">
                      <a16:colId xmlns:a16="http://schemas.microsoft.com/office/drawing/2014/main" val="3632733575"/>
                    </a:ext>
                  </a:extLst>
                </a:gridCol>
                <a:gridCol w="1609344">
                  <a:extLst>
                    <a:ext uri="{9D8B030D-6E8A-4147-A177-3AD203B41FA5}">
                      <a16:colId xmlns:a16="http://schemas.microsoft.com/office/drawing/2014/main" val="3171047884"/>
                    </a:ext>
                  </a:extLst>
                </a:gridCol>
                <a:gridCol w="2414016">
                  <a:extLst>
                    <a:ext uri="{9D8B030D-6E8A-4147-A177-3AD203B41FA5}">
                      <a16:colId xmlns:a16="http://schemas.microsoft.com/office/drawing/2014/main" val="1790441633"/>
                    </a:ext>
                  </a:extLst>
                </a:gridCol>
                <a:gridCol w="2916937">
                  <a:extLst>
                    <a:ext uri="{9D8B030D-6E8A-4147-A177-3AD203B41FA5}">
                      <a16:colId xmlns:a16="http://schemas.microsoft.com/office/drawing/2014/main" val="4045360695"/>
                    </a:ext>
                  </a:extLst>
                </a:gridCol>
                <a:gridCol w="1649097">
                  <a:extLst>
                    <a:ext uri="{9D8B030D-6E8A-4147-A177-3AD203B41FA5}">
                      <a16:colId xmlns:a16="http://schemas.microsoft.com/office/drawing/2014/main" val="3509273707"/>
                    </a:ext>
                  </a:extLst>
                </a:gridCol>
              </a:tblGrid>
              <a:tr h="604128">
                <a:tc>
                  <a:txBody>
                    <a:bodyPr/>
                    <a:lstStyle/>
                    <a:p>
                      <a:r>
                        <a:rPr lang="en-US" sz="1800" dirty="0">
                          <a:latin typeface="Times New Roman" panose="02020603050405020304" pitchFamily="18" charset="0"/>
                          <a:cs typeface="Times New Roman" panose="02020603050405020304" pitchFamily="18" charset="0"/>
                        </a:rPr>
                        <a:t>TITLE NAME</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YEAR</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MODELS USED</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pPr algn="l"/>
                      <a:r>
                        <a:rPr lang="en-US" sz="1800" dirty="0">
                          <a:latin typeface="Times New Roman" panose="02020603050405020304" pitchFamily="18" charset="0"/>
                          <a:cs typeface="Times New Roman" panose="02020603050405020304" pitchFamily="18" charset="0"/>
                        </a:rPr>
                        <a:t>KEY CONTRIBUTION</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ACCURACY</a:t>
                      </a:r>
                      <a:endParaRPr lang="en-IN" sz="1800" dirty="0">
                        <a:latin typeface="Times New Roman" panose="02020603050405020304" pitchFamily="18" charset="0"/>
                        <a:cs typeface="Times New Roman" panose="02020603050405020304" pitchFamily="18" charset="0"/>
                      </a:endParaRPr>
                    </a:p>
                  </a:txBody>
                  <a:tcPr marT="45721" marB="45721"/>
                </a:tc>
                <a:extLst>
                  <a:ext uri="{0D108BD9-81ED-4DB2-BD59-A6C34878D82A}">
                    <a16:rowId xmlns:a16="http://schemas.microsoft.com/office/drawing/2014/main" val="602732761"/>
                  </a:ext>
                </a:extLst>
              </a:tr>
              <a:tr h="184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Enhanced DINOv2-Based Framework for Multi-Class Gastrointestinal Abnormality Classification in Capsule Endoscopy</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US" sz="1600" b="0" dirty="0">
                          <a:latin typeface="Times New Roman" panose="02020603050405020304" pitchFamily="18" charset="0"/>
                          <a:cs typeface="Times New Roman" panose="02020603050405020304" pitchFamily="18" charset="0"/>
                        </a:rPr>
                        <a:t>2025</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Manav Anand,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Pradneya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Prabhudesai</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Pranav Kumar, Geeta Sikka, and Arjun Singh Rawat</a:t>
                      </a:r>
                      <a:br>
                        <a:rPr lang="en-IN" sz="1600" b="0" dirty="0">
                          <a:latin typeface="Times New Roman" panose="02020603050405020304" pitchFamily="18" charset="0"/>
                          <a:cs typeface="Times New Roman" panose="02020603050405020304" pitchFamily="18" charset="0"/>
                        </a:rPr>
                      </a:b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DINOv2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ViT</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-B/14 encoder, lightweight classifier head (dense layers with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ReLU</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and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Softmax</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and Adam optimizer</a:t>
                      </a:r>
                      <a:endParaRPr lang="en-IN"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It uses a frozen pre-trained Vision Transformer (DINOv2) with a lightweight classification head to highly accurately and efficiently categorize ten distinct gastrointestinal abnormalities from video capsule endoscopy images without the need for extensive fine-tuning</a:t>
                      </a:r>
                      <a:br>
                        <a:rPr lang="en-IN" sz="1600" b="0" dirty="0">
                          <a:latin typeface="Times New Roman" panose="02020603050405020304" pitchFamily="18" charset="0"/>
                          <a:cs typeface="Times New Roman" panose="02020603050405020304" pitchFamily="18" charset="0"/>
                        </a:rPr>
                      </a:b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US" sz="1600" b="0" dirty="0">
                          <a:latin typeface="Times New Roman" panose="02020603050405020304" pitchFamily="18" charset="0"/>
                          <a:cs typeface="Times New Roman" panose="02020603050405020304" pitchFamily="18" charset="0"/>
                        </a:rPr>
                        <a:t>93.31%</a:t>
                      </a:r>
                      <a:endParaRPr lang="en-IN" sz="1600" b="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1471610887"/>
                  </a:ext>
                </a:extLst>
              </a:tr>
              <a:tr h="17983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i="0" u="none" strike="noStrike" dirty="0">
                          <a:solidFill>
                            <a:srgbClr val="1F1F1F"/>
                          </a:solidFill>
                          <a:effectLst/>
                          <a:latin typeface="Times New Roman" panose="02020603050405020304" pitchFamily="18" charset="0"/>
                          <a:cs typeface="Times New Roman" panose="02020603050405020304" pitchFamily="18" charset="0"/>
                        </a:rPr>
                        <a:t>A Novel Random Forest-SMOTE Framework With Polynomial Feature Engineering for Early Detection of Gastrointestinal Disorders</a:t>
                      </a:r>
                    </a:p>
                  </a:txBody>
                  <a:tcPr marT="45721" marB="45721" anchor="ctr"/>
                </a:tc>
                <a:tc>
                  <a:txBody>
                    <a:bodyPr/>
                    <a:lstStyle/>
                    <a:p>
                      <a:pPr algn="l"/>
                      <a:r>
                        <a:rPr lang="en-US" sz="1600" dirty="0">
                          <a:latin typeface="Times New Roman" panose="02020603050405020304" pitchFamily="18" charset="0"/>
                          <a:cs typeface="Times New Roman" panose="02020603050405020304" pitchFamily="18" charset="0"/>
                        </a:rPr>
                        <a:t>2025</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Parvez Rahi, Mohammad Rashid Hussain, Salem Alqahtani, Mohammad Husain, Ajay Pal Singh, and Inderjeet Singh</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a:solidFill>
                            <a:srgbClr val="1F1F1F"/>
                          </a:solidFill>
                          <a:effectLst/>
                          <a:latin typeface="Times New Roman" panose="02020603050405020304" pitchFamily="18" charset="0"/>
                          <a:cs typeface="Times New Roman" panose="02020603050405020304" pitchFamily="18" charset="0"/>
                        </a:rPr>
                        <a:t>Random Forest (RF), Synthetic Minority Oversampling Techni-</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que</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(SMOTE), </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GridSearchCV</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  Polynomial Feature Engineer-</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ing</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 CNN, </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LightGBM</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 and </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TabNet</a:t>
                      </a:r>
                      <a:endParaRPr lang="en-IN"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It introduces a highly accurate, non-invasive system that predicts gastrointestinal diseases based on a patient's tabular clinical, lifestyle, and genetic symptom data rather than relying on images</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US" sz="1600" dirty="0">
                          <a:latin typeface="Times New Roman" panose="02020603050405020304" pitchFamily="18" charset="0"/>
                          <a:cs typeface="Times New Roman" panose="02020603050405020304" pitchFamily="18" charset="0"/>
                        </a:rPr>
                        <a:t>96.61%</a:t>
                      </a:r>
                      <a:endParaRPr lang="en-IN" sz="160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509738353"/>
                  </a:ext>
                </a:extLst>
              </a:tr>
            </a:tbl>
          </a:graphicData>
        </a:graphic>
      </p:graphicFrame>
    </p:spTree>
    <p:extLst>
      <p:ext uri="{BB962C8B-B14F-4D97-AF65-F5344CB8AC3E}">
        <p14:creationId xmlns:p14="http://schemas.microsoft.com/office/powerpoint/2010/main" val="1227032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4D5C5-09D6-84AF-6CD4-D0E70EE9CD8F}"/>
              </a:ext>
            </a:extLst>
          </p:cNvPr>
          <p:cNvSpPr>
            <a:spLocks noGrp="1"/>
          </p:cNvSpPr>
          <p:nvPr>
            <p:ph type="title" idx="4294967295"/>
          </p:nvPr>
        </p:nvSpPr>
        <p:spPr>
          <a:xfrm>
            <a:off x="146304" y="90870"/>
            <a:ext cx="9602788" cy="1049337"/>
          </a:xfrm>
        </p:spPr>
        <p:txBody>
          <a:bodyPr/>
          <a:lstStyle/>
          <a:p>
            <a:r>
              <a:rPr lang="en-US" dirty="0"/>
              <a:t>Literature survey</a:t>
            </a:r>
            <a:endParaRPr lang="en-IN" dirty="0"/>
          </a:p>
        </p:txBody>
      </p:sp>
      <p:graphicFrame>
        <p:nvGraphicFramePr>
          <p:cNvPr id="3" name="Table 2">
            <a:extLst>
              <a:ext uri="{FF2B5EF4-FFF2-40B4-BE49-F238E27FC236}">
                <a16:creationId xmlns:a16="http://schemas.microsoft.com/office/drawing/2014/main" id="{54C2B84E-92B1-50CF-B65D-5B96590F5609}"/>
              </a:ext>
            </a:extLst>
          </p:cNvPr>
          <p:cNvGraphicFramePr>
            <a:graphicFrameLocks noGrp="1"/>
          </p:cNvGraphicFramePr>
          <p:nvPr>
            <p:extLst>
              <p:ext uri="{D42A27DB-BD31-4B8C-83A1-F6EECF244321}">
                <p14:modId xmlns:p14="http://schemas.microsoft.com/office/powerpoint/2010/main" val="3724116265"/>
              </p:ext>
            </p:extLst>
          </p:nvPr>
        </p:nvGraphicFramePr>
        <p:xfrm>
          <a:off x="267210" y="615537"/>
          <a:ext cx="11638281" cy="5166142"/>
        </p:xfrm>
        <a:graphic>
          <a:graphicData uri="http://schemas.openxmlformats.org/drawingml/2006/table">
            <a:tbl>
              <a:tblPr firstRow="1" bandRow="1">
                <a:tableStyleId>{5C22544A-7EE6-4342-B048-85BDC9FD1C3A}</a:tableStyleId>
              </a:tblPr>
              <a:tblGrid>
                <a:gridCol w="1744473">
                  <a:extLst>
                    <a:ext uri="{9D8B030D-6E8A-4147-A177-3AD203B41FA5}">
                      <a16:colId xmlns:a16="http://schemas.microsoft.com/office/drawing/2014/main" val="2541166275"/>
                    </a:ext>
                  </a:extLst>
                </a:gridCol>
                <a:gridCol w="923545">
                  <a:extLst>
                    <a:ext uri="{9D8B030D-6E8A-4147-A177-3AD203B41FA5}">
                      <a16:colId xmlns:a16="http://schemas.microsoft.com/office/drawing/2014/main" val="1392755968"/>
                    </a:ext>
                  </a:extLst>
                </a:gridCol>
                <a:gridCol w="1920240">
                  <a:extLst>
                    <a:ext uri="{9D8B030D-6E8A-4147-A177-3AD203B41FA5}">
                      <a16:colId xmlns:a16="http://schemas.microsoft.com/office/drawing/2014/main" val="2139498242"/>
                    </a:ext>
                  </a:extLst>
                </a:gridCol>
                <a:gridCol w="2221993">
                  <a:extLst>
                    <a:ext uri="{9D8B030D-6E8A-4147-A177-3AD203B41FA5}">
                      <a16:colId xmlns:a16="http://schemas.microsoft.com/office/drawing/2014/main" val="2346683668"/>
                    </a:ext>
                  </a:extLst>
                </a:gridCol>
                <a:gridCol w="3227833">
                  <a:extLst>
                    <a:ext uri="{9D8B030D-6E8A-4147-A177-3AD203B41FA5}">
                      <a16:colId xmlns:a16="http://schemas.microsoft.com/office/drawing/2014/main" val="1712036020"/>
                    </a:ext>
                  </a:extLst>
                </a:gridCol>
                <a:gridCol w="1600197">
                  <a:extLst>
                    <a:ext uri="{9D8B030D-6E8A-4147-A177-3AD203B41FA5}">
                      <a16:colId xmlns:a16="http://schemas.microsoft.com/office/drawing/2014/main" val="2461226694"/>
                    </a:ext>
                  </a:extLst>
                </a:gridCol>
              </a:tblGrid>
              <a:tr h="594138">
                <a:tc>
                  <a:txBody>
                    <a:bodyPr/>
                    <a:lstStyle/>
                    <a:p>
                      <a:r>
                        <a:rPr lang="en-US" sz="1800" dirty="0">
                          <a:latin typeface="Times New Roman" panose="02020603050405020304" pitchFamily="18" charset="0"/>
                          <a:cs typeface="Times New Roman" panose="02020603050405020304" pitchFamily="18" charset="0"/>
                        </a:rPr>
                        <a:t>TITLE NAME</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YEAR</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MODELS USED</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pPr algn="l"/>
                      <a:r>
                        <a:rPr lang="en-US" sz="1800" dirty="0">
                          <a:latin typeface="Times New Roman" panose="02020603050405020304" pitchFamily="18" charset="0"/>
                          <a:cs typeface="Times New Roman" panose="02020603050405020304" pitchFamily="18" charset="0"/>
                        </a:rPr>
                        <a:t>KEY CONTRIBUTION</a:t>
                      </a:r>
                      <a:endParaRPr lang="en-IN" sz="1800" dirty="0">
                        <a:latin typeface="Times New Roman" panose="02020603050405020304" pitchFamily="18" charset="0"/>
                        <a:cs typeface="Times New Roman" panose="02020603050405020304" pitchFamily="18" charset="0"/>
                      </a:endParaRPr>
                    </a:p>
                  </a:txBody>
                  <a:tcPr marT="45721" marB="45721"/>
                </a:tc>
                <a:tc>
                  <a:txBody>
                    <a:bodyPr/>
                    <a:lstStyle/>
                    <a:p>
                      <a:r>
                        <a:rPr lang="en-US" sz="1800" dirty="0">
                          <a:latin typeface="Times New Roman" panose="02020603050405020304" pitchFamily="18" charset="0"/>
                          <a:cs typeface="Times New Roman" panose="02020603050405020304" pitchFamily="18" charset="0"/>
                        </a:rPr>
                        <a:t>ACCURACY</a:t>
                      </a:r>
                      <a:endParaRPr lang="en-IN" sz="1800" dirty="0">
                        <a:latin typeface="Times New Roman" panose="02020603050405020304" pitchFamily="18" charset="0"/>
                        <a:cs typeface="Times New Roman" panose="02020603050405020304" pitchFamily="18" charset="0"/>
                      </a:endParaRPr>
                    </a:p>
                  </a:txBody>
                  <a:tcPr marT="45721" marB="45721"/>
                </a:tc>
                <a:extLst>
                  <a:ext uri="{0D108BD9-81ED-4DB2-BD59-A6C34878D82A}">
                    <a16:rowId xmlns:a16="http://schemas.microsoft.com/office/drawing/2014/main" val="3515401043"/>
                  </a:ext>
                </a:extLst>
              </a:tr>
              <a:tr h="2286002">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Transfer Learning in Endoscopic Imaging: A Machine Vision Approach to GIT Disease Identification</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US" sz="1600" dirty="0">
                          <a:latin typeface="Times New Roman" panose="02020603050405020304" pitchFamily="18" charset="0"/>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Jayavrinda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Vrindavanam</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Pradeep Kumar, Gaurav Kamath, and Abhilash S Bharadwaj</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EfficientNetV2S, MobileNet-V3 Large, ResNet-50, DenseNet201, and a baseline Convolutional Neural Network (CNN)</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It evaluates lightweight, pre-trained transfer learning architectures to identify eight GI diseases, proving that models like EfficientNetV2S can achieve high accuracy without being trained from scratch</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US" sz="1600" dirty="0">
                          <a:latin typeface="Times New Roman" panose="02020603050405020304" pitchFamily="18" charset="0"/>
                          <a:cs typeface="Times New Roman" panose="02020603050405020304" pitchFamily="18" charset="0"/>
                        </a:rPr>
                        <a:t>95%</a:t>
                      </a:r>
                      <a:endParaRPr lang="en-IN" sz="160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766895706"/>
                  </a:ext>
                </a:extLst>
              </a:tr>
              <a:tr h="1739445">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Modified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Salp</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Swarm Algorithm With Deep Learning Based Gastrointestinal Tract Disease Classification on Endoscopic Images</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US"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Marwa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Obayya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Fahd N. Al-</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Wesabi</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Mashael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Maashi</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Abdullah Mohamed, Manar Ahmed Hamza,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Suhanda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Drar</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Ishfaq Yaseen, and Mohamed Ibrahim Alsaid</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Modified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Salp</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Swarm Algorithm (MSSA), improved Capsule Network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CapsNet</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Deep Belief Network with Extreme Learning Machine (DBN-ELM), and Backpropagation</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It creates an automated pipeline that uses a self-tuning metaheuristic algorithm (MSSA) to optimize a capsule network for highly precise feature extraction and classification of GI tract diseases</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l"/>
                      <a:r>
                        <a:rPr lang="en-US" sz="1600" dirty="0">
                          <a:latin typeface="Times New Roman" panose="02020603050405020304" pitchFamily="18" charset="0"/>
                          <a:cs typeface="Times New Roman" panose="02020603050405020304" pitchFamily="18" charset="0"/>
                        </a:rPr>
                        <a:t>98.03%</a:t>
                      </a:r>
                      <a:endParaRPr lang="en-IN" sz="160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3253523074"/>
                  </a:ext>
                </a:extLst>
              </a:tr>
            </a:tbl>
          </a:graphicData>
        </a:graphic>
      </p:graphicFrame>
    </p:spTree>
    <p:extLst>
      <p:ext uri="{BB962C8B-B14F-4D97-AF65-F5344CB8AC3E}">
        <p14:creationId xmlns:p14="http://schemas.microsoft.com/office/powerpoint/2010/main" val="1674177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9C1B-4FC7-BA38-0699-406BB39DC643}"/>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22864F-B798-985B-21A2-98E4CBBF15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The proposed hybrid CNN–Transformer model provides an effective approach for gastrointestinal disease classification using capsule endoscopy images. By combining local and global feature extraction, it overcomes the limitations of the existing single-model approach. The use of the Kvasir-Capsule dataset enables reliable model training and evaluation. This approach is expected to improve disease classification and support faster, more accurate clinical diagnosis.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88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28BD9B-ED78-EA16-4774-EAC14716ACD1}"/>
              </a:ext>
            </a:extLst>
          </p:cNvPr>
          <p:cNvSpPr txBox="1"/>
          <p:nvPr/>
        </p:nvSpPr>
        <p:spPr>
          <a:xfrm>
            <a:off x="2314937" y="2505670"/>
            <a:ext cx="8518967" cy="1569660"/>
          </a:xfrm>
          <a:prstGeom prst="rect">
            <a:avLst/>
          </a:prstGeom>
          <a:noFill/>
        </p:spPr>
        <p:txBody>
          <a:bodyPr wrap="square" rtlCol="0">
            <a:spAutoFit/>
          </a:bodyPr>
          <a:lstStyle/>
          <a:p>
            <a:r>
              <a:rPr lang="en-US" sz="9600" dirty="0">
                <a:latin typeface="Times New Roman" panose="02020603050405020304" pitchFamily="18" charset="0"/>
                <a:cs typeface="Times New Roman" panose="02020603050405020304" pitchFamily="18" charset="0"/>
              </a:rPr>
              <a:t>Thank you..</a:t>
            </a:r>
            <a:endParaRPr lang="en-IN"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03403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1790</TotalTime>
  <Words>874</Words>
  <Application>Microsoft Office PowerPoint</Application>
  <PresentationFormat>Widescreen</PresentationFormat>
  <Paragraphs>72</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Gill Sans MT</vt:lpstr>
      <vt:lpstr>Times New Roman</vt:lpstr>
      <vt:lpstr>Gallery</vt:lpstr>
      <vt:lpstr>TITLE: AUTOMATED CLASSIFICATION OF   GASTROINTESTINAL TRACT DISEASES USING HYBRID  MODEL</vt:lpstr>
      <vt:lpstr>    domain:</vt:lpstr>
      <vt:lpstr>  ABSTRACT:</vt:lpstr>
      <vt:lpstr> EXISTING SYSTEM:</vt:lpstr>
      <vt:lpstr>DRAWBACKS OF EXISTING SYSTEM:</vt:lpstr>
      <vt:lpstr>PRoPOSED SYSTEM:</vt:lpstr>
      <vt:lpstr>ADVANTAGES OF PRoPOSED SYSTEM:</vt:lpstr>
      <vt:lpstr>Literature survey</vt:lpstr>
      <vt:lpstr>Literature survey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Akireddy Varaprasad</dc:creator>
  <cp:lastModifiedBy>Akireddy Varaprasad</cp:lastModifiedBy>
  <cp:revision>21</cp:revision>
  <dcterms:created xsi:type="dcterms:W3CDTF">2026-07-12T14:48:06Z</dcterms:created>
  <dcterms:modified xsi:type="dcterms:W3CDTF">2026-07-20T13:54:39Z</dcterms:modified>
</cp:coreProperties>
</file>